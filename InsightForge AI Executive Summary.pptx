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14747408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2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7392" userDrawn="1">
          <p15:clr>
            <a:srgbClr val="A4A3A4"/>
          </p15:clr>
        </p15:guide>
        <p15:guide id="7" pos="288" userDrawn="1">
          <p15:clr>
            <a:srgbClr val="A4A3A4"/>
          </p15:clr>
        </p15:guide>
        <p15:guide id="8" pos="216" userDrawn="1">
          <p15:clr>
            <a:srgbClr val="A4A3A4"/>
          </p15:clr>
        </p15:guide>
        <p15:guide id="9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4E0B"/>
    <a:srgbClr val="004EFF"/>
    <a:srgbClr val="E5EDFF"/>
    <a:srgbClr val="C0D2FF"/>
    <a:srgbClr val="83A8FF"/>
    <a:srgbClr val="407AFF"/>
    <a:srgbClr val="000000"/>
    <a:srgbClr val="424242"/>
    <a:srgbClr val="FF40FF"/>
    <a:srgbClr val="FFB3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3792" autoAdjust="0"/>
  </p:normalViewPr>
  <p:slideViewPr>
    <p:cSldViewPr snapToGrid="0" snapToObjects="1">
      <p:cViewPr varScale="1">
        <p:scale>
          <a:sx n="74" d="100"/>
          <a:sy n="74" d="100"/>
        </p:scale>
        <p:origin x="376" y="56"/>
      </p:cViewPr>
      <p:guideLst>
        <p:guide orient="horz" pos="4128"/>
        <p:guide pos="3840"/>
        <p:guide pos="7392"/>
        <p:guide pos="288"/>
        <p:guide pos="2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306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6561233-45DC-0946-2455-02C93F71AD3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A0130-1F16-3354-5317-EAAD29FFB5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D917C0-D42B-47D1-A861-215602EF8B73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8E4F27-4BF2-3909-3638-05880831A7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71824-2436-611A-E077-B0450E3664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FE844-F6AC-4291-8AAC-EA33232342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0829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4D9FB6-F063-5E4C-8E15-DE2BAD5FDB90}" type="datetimeFigureOut">
              <a:rPr lang="en-US" smtClean="0"/>
              <a:t>18-Aug-26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941F17-4160-ED44-996C-2E44614DC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279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0621" y="89262"/>
            <a:ext cx="10490758" cy="667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553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-In Logo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69EBB55-289A-DA4A-A0D3-EAD7AEF576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0621" y="89262"/>
            <a:ext cx="10490758" cy="667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/>
          <a:lstStyle>
            <a:lvl1pPr algn="l">
              <a:lnSpc>
                <a:spcPct val="8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4167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55FCFE5F-EACE-DF4E-98EB-EB028DF66F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334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whit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507E633-4606-0F5C-1C47-2E2296BF60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4465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arrow win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3048" y="0"/>
            <a:ext cx="12192000" cy="6858000"/>
          </a:xfrm>
          <a:solidFill>
            <a:schemeClr val="accent6"/>
          </a:solidFill>
        </p:spPr>
        <p:txBody>
          <a:bodyPr tIns="1188720" rIns="914400"/>
          <a:lstStyle>
            <a:lvl1pPr marL="0" indent="0" algn="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and send to back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CD8347-12EC-7004-68FD-F0EB1360FD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2627" y="457200"/>
            <a:ext cx="5637229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52627" y="4027501"/>
            <a:ext cx="563722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3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87C4AD12-4ACC-C840-8312-C7E5355E4F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65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title oran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7CE129-0A95-7543-B57A-C882E04A346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accent6"/>
          </a:solidFill>
        </p:spPr>
        <p:txBody>
          <a:bodyPr tIns="11887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11277600" cy="3413547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4027501"/>
            <a:ext cx="11277599" cy="936385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51F0EE0-3D9B-E861-B59E-EC60640064C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975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ate blue bkgr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820872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light blue bkgr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5E7F613-476C-024A-86BD-E0B81985C92A}"/>
              </a:ext>
            </a:extLst>
          </p:cNvPr>
          <p:cNvGrpSpPr/>
          <p:nvPr userDrawn="1"/>
        </p:nvGrpSpPr>
        <p:grpSpPr>
          <a:xfrm>
            <a:off x="1466513" y="1697519"/>
            <a:ext cx="4045461" cy="3447288"/>
            <a:chOff x="4060628" y="1718294"/>
            <a:chExt cx="4045461" cy="3443084"/>
          </a:xfrm>
          <a:solidFill>
            <a:schemeClr val="bg2"/>
          </a:solidFill>
        </p:grpSpPr>
        <p:sp>
          <p:nvSpPr>
            <p:cNvPr id="6" name="Triangle 5">
              <a:extLst>
                <a:ext uri="{FF2B5EF4-FFF2-40B4-BE49-F238E27FC236}">
                  <a16:creationId xmlns:a16="http://schemas.microsoft.com/office/drawing/2014/main" id="{76811C46-10E6-0040-9FB9-B4A9F7A806AC}"/>
                </a:ext>
              </a:extLst>
            </p:cNvPr>
            <p:cNvSpPr/>
            <p:nvPr/>
          </p:nvSpPr>
          <p:spPr>
            <a:xfrm rot="5400000">
              <a:off x="2914378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riangle 6">
              <a:extLst>
                <a:ext uri="{FF2B5EF4-FFF2-40B4-BE49-F238E27FC236}">
                  <a16:creationId xmlns:a16="http://schemas.microsoft.com/office/drawing/2014/main" id="{A79E34A4-86AB-F648-9081-3953BAB39BF1}"/>
                </a:ext>
              </a:extLst>
            </p:cNvPr>
            <p:cNvSpPr/>
            <p:nvPr/>
          </p:nvSpPr>
          <p:spPr>
            <a:xfrm rot="5400000">
              <a:off x="4361816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riangle 7">
              <a:extLst>
                <a:ext uri="{FF2B5EF4-FFF2-40B4-BE49-F238E27FC236}">
                  <a16:creationId xmlns:a16="http://schemas.microsoft.com/office/drawing/2014/main" id="{E64D4B64-C054-2C4D-8E11-6C03338EEA96}"/>
                </a:ext>
              </a:extLst>
            </p:cNvPr>
            <p:cNvSpPr/>
            <p:nvPr/>
          </p:nvSpPr>
          <p:spPr>
            <a:xfrm rot="5400000">
              <a:off x="5809255" y="2864544"/>
              <a:ext cx="3443084" cy="115058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1022AB0-A6DF-42F4-2FD1-C8A66FD65C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2934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slat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6">
            <a:extLst>
              <a:ext uri="{FF2B5EF4-FFF2-40B4-BE49-F238E27FC236}">
                <a16:creationId xmlns:a16="http://schemas.microsoft.com/office/drawing/2014/main" id="{931308C3-C86F-8439-79F6-BF2D0C1E6F6F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06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light blu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Triangle 6">
            <a:extLst>
              <a:ext uri="{FF2B5EF4-FFF2-40B4-BE49-F238E27FC236}">
                <a16:creationId xmlns:a16="http://schemas.microsoft.com/office/drawing/2014/main" id="{4766D99B-C9CC-1DAD-1E54-88F872622439}"/>
              </a:ext>
            </a:extLst>
          </p:cNvPr>
          <p:cNvSpPr>
            <a:spLocks noChangeAspect="1"/>
          </p:cNvSpPr>
          <p:nvPr userDrawn="1"/>
        </p:nvSpPr>
        <p:spPr>
          <a:xfrm>
            <a:off x="1041123" y="1864380"/>
            <a:ext cx="4572001" cy="3152731"/>
          </a:xfrm>
          <a:prstGeom prst="triangl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90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93EB44E-E9F3-8842-B537-69D4B697C4A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</p:spPr>
        <p:txBody>
          <a:bodyPr tIns="10972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Picture</a:t>
            </a:r>
            <a:br>
              <a:rPr lang="en-US" dirty="0"/>
            </a:br>
            <a:r>
              <a:rPr lang="en-US" dirty="0"/>
              <a:t>then send to back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79096" y="1705356"/>
            <a:ext cx="505570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4E7516A-EF6D-1A45-8147-27BA6599CE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4595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riangle window pho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8FB34F-AFB3-FB22-6CF1-6C96D239CF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12188952" cy="6858000"/>
          </a:xfr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  <a:lvl2pPr>
              <a:defRPr>
                <a:solidFill>
                  <a:schemeClr val="accent3"/>
                </a:solidFill>
              </a:defRPr>
            </a:lvl2pPr>
            <a:lvl3pPr>
              <a:defRPr>
                <a:solidFill>
                  <a:schemeClr val="accent3"/>
                </a:solidFill>
              </a:defRPr>
            </a:lvl3pPr>
            <a:lvl4pPr>
              <a:defRPr>
                <a:solidFill>
                  <a:schemeClr val="accent3"/>
                </a:solidFill>
              </a:defRPr>
            </a:lvl4pPr>
            <a:lvl5pPr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2DD5020-0712-DF29-4789-07AE704465D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88952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7625" y="696688"/>
            <a:ext cx="3912124" cy="3447288"/>
          </a:xfrm>
        </p:spPr>
        <p:txBody>
          <a:bodyPr anchor="ctr" anchorCtr="0">
            <a:noAutofit/>
          </a:bodyPr>
          <a:lstStyle>
            <a:lvl1pPr algn="l">
              <a:lnSpc>
                <a:spcPct val="8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F3ADCCC-FA43-7DCA-36DD-741C471925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56018" y="6132957"/>
            <a:ext cx="987552" cy="630936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141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420992"/>
            <a:ext cx="11249320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14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558199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1" y="1636226"/>
            <a:ext cx="11249320" cy="43443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1CF4F-FD7D-FD19-6372-B37CB175086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1992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layou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1"/>
            <a:ext cx="11277600" cy="672567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420992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420813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446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543492"/>
            <a:ext cx="11277600" cy="567626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3AD5E6-66E6-724A-BC5F-73B87795F2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5482" y="1636226"/>
            <a:ext cx="5077716" cy="4543044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461963" indent="-2349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68738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857250" indent="-1698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A311A-F8BF-4B10-8541-D51CBF36A96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C814BA-DC7B-4EC2-9419-EFE4D4EFB443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DF97235-8ACD-EA2A-2D57-3EF3975E30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19016" y="1636226"/>
            <a:ext cx="5104613" cy="457209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2000">
                <a:solidFill>
                  <a:schemeClr val="tx1"/>
                </a:solidFill>
                <a:latin typeface="+mn-lt"/>
              </a:defRPr>
            </a:lvl1pPr>
            <a:lvl2pPr marL="515938" indent="-2254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>
                <a:solidFill>
                  <a:schemeClr val="tx1"/>
                </a:solidFill>
              </a:defRPr>
            </a:lvl4pPr>
            <a:lvl5pPr marL="1257300" indent="-15716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C9EA03-FA8F-AD79-F54A-F23726C03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5481" y="1111117"/>
            <a:ext cx="11249320" cy="245636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  <a:lvl2pPr marL="2905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2pPr>
            <a:lvl3pPr marL="58261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3pPr>
            <a:lvl4pPr marL="855663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4pPr>
            <a:lvl5pPr marL="1100138" indent="0">
              <a:buFontTx/>
              <a:buNone/>
              <a:defRPr sz="1800">
                <a:solidFill>
                  <a:schemeClr val="accent3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3004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620FF5-63E7-D7A1-E95E-667A3A5A4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915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slate gra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C8AEF62A-DB20-DFA5-60EF-17E3D029179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923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midn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accent3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50E4EC5-C9CD-0784-3B8B-14E383CDC8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bg1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bg1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775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light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8EADA6C-4309-5F43-BB9C-F8E480357C5F}"/>
              </a:ext>
            </a:extLst>
          </p:cNvPr>
          <p:cNvSpPr/>
          <p:nvPr userDrawn="1"/>
        </p:nvSpPr>
        <p:spPr>
          <a:xfrm>
            <a:off x="0" y="0"/>
            <a:ext cx="4433105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2314550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984831"/>
            <a:ext cx="5527444" cy="502947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87AF6875-806F-55D2-B677-EBF1DABD07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3325305"/>
            <a:ext cx="3679825" cy="2314575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300"/>
              </a:spcAft>
              <a:buFontTx/>
              <a:buNone/>
              <a:defRPr sz="2200">
                <a:solidFill>
                  <a:schemeClr val="tx2"/>
                </a:solidFill>
                <a:latin typeface="+mn-lt"/>
              </a:defRPr>
            </a:lvl1pPr>
            <a:lvl2pPr marL="227013" indent="-227013">
              <a:lnSpc>
                <a:spcPct val="10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sz="2000">
                <a:solidFill>
                  <a:schemeClr val="tx2"/>
                </a:solidFill>
              </a:defRPr>
            </a:lvl2pPr>
            <a:lvl3pPr marL="461963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3pPr>
            <a:lvl4pPr marL="744538" indent="-225425">
              <a:lnSpc>
                <a:spcPct val="100000"/>
              </a:lnSpc>
              <a:spcAft>
                <a:spcPts val="300"/>
              </a:spcAft>
              <a:tabLst/>
              <a:defRPr>
                <a:solidFill>
                  <a:schemeClr val="tx2"/>
                </a:solidFill>
              </a:defRPr>
            </a:lvl4pPr>
            <a:lvl5pPr marL="971550" indent="-169863">
              <a:lnSpc>
                <a:spcPct val="10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07122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r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77353" y="984831"/>
            <a:ext cx="6136849" cy="891103"/>
          </a:xfrm>
        </p:spPr>
        <p:txBody>
          <a:bodyPr anchor="t" anchorCtr="0">
            <a:normAutofit/>
          </a:bodyPr>
          <a:lstStyle>
            <a:lvl1pPr algn="l">
              <a:lnSpc>
                <a:spcPct val="8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1B10F47-1891-E844-AA61-A0FE1C2C91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977353" y="1883303"/>
            <a:ext cx="6136849" cy="413099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tabLst/>
              <a:defRPr sz="2000">
                <a:solidFill>
                  <a:schemeClr val="tx1"/>
                </a:solidFill>
                <a:latin typeface="+mn-lt"/>
              </a:defRPr>
            </a:lvl1pPr>
            <a:lvl2pPr marL="460375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600">
                <a:solidFill>
                  <a:schemeClr val="tx1"/>
                </a:solidFill>
                <a:latin typeface="+mj-lt"/>
              </a:defRPr>
            </a:lvl3pPr>
            <a:lvl4pPr marL="857250" indent="-1730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400">
                <a:solidFill>
                  <a:schemeClr val="tx1"/>
                </a:solidFill>
                <a:latin typeface="+mj-lt"/>
              </a:defRPr>
            </a:lvl4pPr>
            <a:lvl5pPr marL="1084263" indent="-150813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2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9E5FAE-F0AB-4773-BB2C-98261E32F572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94B692-DFFE-4127-B155-C2352630574E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B95AAFB-5AB3-8043-3405-030A209051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434840" cy="6858000"/>
          </a:xfrm>
          <a:solidFill>
            <a:schemeClr val="bg1">
              <a:lumMod val="95000"/>
            </a:schemeClr>
          </a:solidFill>
        </p:spPr>
        <p:txBody>
          <a:bodyPr tIns="1828800"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photo here</a:t>
            </a:r>
            <a:br>
              <a:rPr lang="en-US" dirty="0"/>
            </a:br>
            <a:r>
              <a:rPr lang="en-US" dirty="0"/>
              <a:t>4.85”w x 7.5” h </a:t>
            </a:r>
          </a:p>
        </p:txBody>
      </p:sp>
    </p:spTree>
    <p:extLst>
      <p:ext uri="{BB962C8B-B14F-4D97-AF65-F5344CB8AC3E}">
        <p14:creationId xmlns:p14="http://schemas.microsoft.com/office/powerpoint/2010/main" val="28849717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3B1206E-A64A-F045-95E1-24068C9F08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33888" y="0"/>
            <a:ext cx="7758112" cy="6858000"/>
          </a:xfrm>
          <a:solidFill>
            <a:schemeClr val="accent6"/>
          </a:solidFill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 photo</a:t>
            </a:r>
            <a:br>
              <a:rPr lang="en-US" dirty="0"/>
            </a:br>
            <a:r>
              <a:rPr lang="en-US" dirty="0"/>
              <a:t>8.48”w x 7.5”h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400FEE-AF2A-4A4C-A689-68AC86084282}"/>
              </a:ext>
            </a:extLst>
          </p:cNvPr>
          <p:cNvSpPr/>
          <p:nvPr userDrawn="1"/>
        </p:nvSpPr>
        <p:spPr>
          <a:xfrm>
            <a:off x="-1" y="0"/>
            <a:ext cx="44331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84831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6621137-81BE-E247-928E-3211656239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3234979"/>
            <a:ext cx="3679825" cy="315922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Tx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228600" indent="-22225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  <a:latin typeface="+mj-lt"/>
              </a:defRPr>
            </a:lvl2pPr>
            <a:lvl3pPr marL="519113" indent="-27463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3pPr>
            <a:lvl4pPr marL="803275" indent="-2381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4pPr>
            <a:lvl5pPr marL="1085850" indent="-276225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58AB0188-0104-FB47-ADB6-72A9A5869A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56018" y="6132957"/>
            <a:ext cx="987552" cy="630936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021025-6C5D-4AD1-B98F-3B9F05B818B5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27DF11-5732-451F-BDC5-76D509152895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bg1"/>
                </a:solidFill>
              </a:rPr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18016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sta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022A485-3031-104C-93B7-435966E4994D}"/>
              </a:ext>
            </a:extLst>
          </p:cNvPr>
          <p:cNvSpPr/>
          <p:nvPr userDrawn="1"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" y="3302000"/>
            <a:ext cx="5638800" cy="1598774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622D0-EB8A-9645-97E8-A571F63A1F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7200"/>
            <a:ext cx="3679371" cy="42110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sz="1400" b="1" i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B3583DCB-C2A9-8D44-82F4-C2F87B09BE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D5564F4-F564-D243-90A4-29A81E8B16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283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029C3C3B-98EF-4B44-BB0A-8940FAB64F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83365" y="1613721"/>
            <a:ext cx="3549650" cy="636534"/>
          </a:xfrm>
        </p:spPr>
        <p:txBody>
          <a:bodyPr/>
          <a:lstStyle>
            <a:lvl1pPr marL="0" indent="0">
              <a:buNone/>
              <a:defRPr sz="4400">
                <a:solidFill>
                  <a:schemeClr val="accent3"/>
                </a:solidFill>
                <a:latin typeface="+mj-lt"/>
              </a:defRPr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73B81C94-B4A5-5B45-9AF6-02EAAAE1B2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57200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C134E51F-B9D7-714C-A962-DAC3EA7E9B3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10008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B8FBFB3F-D200-8E45-A44B-EBD239092E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173092" y="2311900"/>
            <a:ext cx="3549650" cy="447525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500" b="0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  <a:lvl2pPr marL="228600" indent="-222250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2pPr>
            <a:lvl3pPr marL="519113" indent="-274638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3pPr>
            <a:lvl4pPr marL="803275" indent="-2381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4pPr>
            <a:lvl5pPr marL="1085850" indent="-276225">
              <a:spcBef>
                <a:spcPts val="0"/>
              </a:spcBef>
              <a:spcAft>
                <a:spcPts val="0"/>
              </a:spcAft>
              <a:tabLst/>
              <a:defRPr sz="15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B9533FB-101C-564C-A9B2-8BBC8342D8C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57200" y="5001689"/>
            <a:ext cx="5638800" cy="124008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1500" b="1">
                <a:solidFill>
                  <a:schemeClr val="tx1"/>
                </a:solidFill>
                <a:latin typeface="+mj-lt"/>
              </a:defRPr>
            </a:lvl1pPr>
            <a:lvl2pPr marL="230188" indent="-230188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tabLst/>
              <a:defRPr sz="1500">
                <a:solidFill>
                  <a:schemeClr val="tx1"/>
                </a:solidFill>
                <a:latin typeface="+mj-lt"/>
              </a:defRPr>
            </a:lvl2pPr>
            <a:lvl3pPr marL="460375" indent="-2238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3pPr>
            <a:lvl4pPr marL="690563" indent="-23018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4pPr>
            <a:lvl5pPr marL="914400" indent="-211138">
              <a:spcBef>
                <a:spcPts val="0"/>
              </a:spcBef>
              <a:spcAft>
                <a:spcPts val="400"/>
              </a:spcAft>
              <a:tabLst/>
              <a:defRPr sz="15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4665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study detail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396F7-F256-7EC8-5CFA-5E28D456D666}"/>
              </a:ext>
            </a:extLst>
          </p:cNvPr>
          <p:cNvSpPr/>
          <p:nvPr userDrawn="1"/>
        </p:nvSpPr>
        <p:spPr>
          <a:xfrm>
            <a:off x="0" y="0"/>
            <a:ext cx="12192000" cy="120411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1BE63-AB7C-B671-C72A-EFE88271CA5D}"/>
              </a:ext>
            </a:extLst>
          </p:cNvPr>
          <p:cNvSpPr txBox="1"/>
          <p:nvPr userDrawn="1"/>
        </p:nvSpPr>
        <p:spPr>
          <a:xfrm>
            <a:off x="8955344" y="645799"/>
            <a:ext cx="29452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4BE4AA2-7A93-2244-97DF-BEAFE86FE2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7023BF8-94F9-4D4F-AE8F-3AB0B07713D0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4628D0-DB29-484F-AE87-9BA55BF787A1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0C95D7-21A9-CC2A-7CC1-81A26F21BCF3}"/>
              </a:ext>
            </a:extLst>
          </p:cNvPr>
          <p:cNvSpPr txBox="1"/>
          <p:nvPr userDrawn="1"/>
        </p:nvSpPr>
        <p:spPr>
          <a:xfrm>
            <a:off x="8766928" y="976213"/>
            <a:ext cx="3322063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+mj-lt"/>
              </a:rPr>
              <a:t>CASE STUDY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9F8A7F0-36A8-F7F8-93EA-B7D45AAAE0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315990"/>
            <a:ext cx="11524268" cy="558199"/>
          </a:xfrm>
        </p:spPr>
        <p:txBody>
          <a:bodyPr/>
          <a:lstStyle>
            <a:lvl1pPr marL="0" indent="0">
              <a:buNone/>
              <a:defRPr sz="3600"/>
            </a:lvl1pPr>
            <a:lvl2pPr marL="290513" indent="0">
              <a:buNone/>
              <a:defRPr/>
            </a:lvl2pPr>
            <a:lvl3pPr marL="582613" indent="0">
              <a:buNone/>
              <a:defRPr/>
            </a:lvl3pPr>
            <a:lvl4pPr marL="855663" indent="0">
              <a:buNone/>
              <a:defRPr/>
            </a:lvl4pPr>
            <a:lvl5pPr marL="110013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41B144-3A4C-B95E-E40F-3D52D398137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855549"/>
            <a:ext cx="8308975" cy="2277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85C16B2F-0E6E-4C9F-FDC9-5049DDE918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1570034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D25BC01-6A2C-BC8A-CE0F-9CCBDA97A1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388" y="1924655"/>
            <a:ext cx="2196206" cy="1055065"/>
          </a:xfrm>
        </p:spPr>
        <p:txBody>
          <a:bodyPr/>
          <a:lstStyle>
            <a:lvl1pPr marL="0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1pPr>
            <a:lvl2pPr marL="2905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2pPr>
            <a:lvl3pPr marL="58261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3pPr>
            <a:lvl4pPr marL="855663" indent="0">
              <a:buFontTx/>
              <a:buNone/>
              <a:defRPr lang="en-US" sz="1800" kern="1200" dirty="0" smtClean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4pPr>
            <a:lvl5pPr marL="1100138" indent="0">
              <a:buFontTx/>
              <a:buNone/>
              <a:defRPr lang="en-US" sz="1800" kern="1200" dirty="0">
                <a:solidFill>
                  <a:srgbClr val="000000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Client industry intro description goes here on up to four lines of text content</a:t>
            </a:r>
          </a:p>
        </p:txBody>
      </p:sp>
      <p:sp>
        <p:nvSpPr>
          <p:cNvPr id="33" name="Text Placeholder 26">
            <a:extLst>
              <a:ext uri="{FF2B5EF4-FFF2-40B4-BE49-F238E27FC236}">
                <a16:creationId xmlns:a16="http://schemas.microsoft.com/office/drawing/2014/main" id="{702C7A7B-5BE8-27C7-C967-54B2501D1DD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3151528"/>
            <a:ext cx="220115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Client challenges</a:t>
            </a: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C924DEDB-3EDF-E33C-EF76-4E02B7B6B8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1" y="3502135"/>
            <a:ext cx="2201157" cy="2598720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FDA3A212-8F30-D033-AB41-B749853954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54221" y="1570034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Scope</a:t>
            </a:r>
          </a:p>
        </p:txBody>
      </p:sp>
      <p:sp>
        <p:nvSpPr>
          <p:cNvPr id="44" name="Text Placeholder 36">
            <a:extLst>
              <a:ext uri="{FF2B5EF4-FFF2-40B4-BE49-F238E27FC236}">
                <a16:creationId xmlns:a16="http://schemas.microsoft.com/office/drawing/2014/main" id="{A14E640B-FB32-E6A5-7E82-DDDAEC3817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054221" y="1924656"/>
            <a:ext cx="5603600" cy="2363868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2841CF6B-CB34-C014-F54E-BC4F141F3B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54221" y="4427256"/>
            <a:ext cx="2414504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EXL solution</a:t>
            </a:r>
          </a:p>
        </p:txBody>
      </p:sp>
      <p:sp>
        <p:nvSpPr>
          <p:cNvPr id="47" name="Text Placeholder 36">
            <a:extLst>
              <a:ext uri="{FF2B5EF4-FFF2-40B4-BE49-F238E27FC236}">
                <a16:creationId xmlns:a16="http://schemas.microsoft.com/office/drawing/2014/main" id="{78ADAF88-FA61-AF79-0470-D140F7AA2F7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054221" y="4790839"/>
            <a:ext cx="5603600" cy="1310016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accent3"/>
              </a:buCl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6F7A8F4-AED5-94AE-36B9-7758B5EC0DB7}"/>
              </a:ext>
            </a:extLst>
          </p:cNvPr>
          <p:cNvCxnSpPr>
            <a:cxnSpLocks/>
          </p:cNvCxnSpPr>
          <p:nvPr userDrawn="1"/>
        </p:nvCxnSpPr>
        <p:spPr>
          <a:xfrm>
            <a:off x="8804633" y="1569450"/>
            <a:ext cx="0" cy="456350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DE3059AE-6A6C-9CE8-454D-9F278F9EC3A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25145" y="1570034"/>
            <a:ext cx="2677207" cy="282410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Results</a:t>
            </a:r>
          </a:p>
        </p:txBody>
      </p:sp>
      <p:sp>
        <p:nvSpPr>
          <p:cNvPr id="51" name="Text Placeholder 36">
            <a:extLst>
              <a:ext uri="{FF2B5EF4-FFF2-40B4-BE49-F238E27FC236}">
                <a16:creationId xmlns:a16="http://schemas.microsoft.com/office/drawing/2014/main" id="{BD35A55A-C259-3ABC-DCF1-FF10E661689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25146" y="1924655"/>
            <a:ext cx="2677206" cy="3975653"/>
          </a:xfrm>
        </p:spPr>
        <p:txBody>
          <a:bodyPr/>
          <a:lstStyle>
            <a:lvl1pPr marL="112713" indent="-112713"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1596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highl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132957"/>
            <a:ext cx="990600" cy="63500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E9CC39-2615-554C-ADE2-A30C0288899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433888" y="1184239"/>
            <a:ext cx="7300912" cy="4456113"/>
          </a:xfrm>
          <a:noFill/>
        </p:spPr>
        <p:txBody>
          <a:bodyPr anchor="ctr" anchorCtr="0"/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Insert infographics within this area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CA16BD-E4B6-9444-B185-131F327A87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184239"/>
            <a:ext cx="3679371" cy="16491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479803-0328-0048-8006-F62792C416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7200" y="6265985"/>
            <a:ext cx="3679825" cy="311028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None/>
              <a:defRPr sz="800">
                <a:latin typeface="+mj-lt"/>
              </a:defRPr>
            </a:lvl1pPr>
            <a:lvl2pPr marL="290513" indent="0">
              <a:spcBef>
                <a:spcPts val="0"/>
              </a:spcBef>
              <a:buNone/>
              <a:defRPr sz="1050"/>
            </a:lvl2pPr>
            <a:lvl3pPr marL="582613" indent="0">
              <a:spcBef>
                <a:spcPts val="0"/>
              </a:spcBef>
              <a:buNone/>
              <a:defRPr sz="1050"/>
            </a:lvl3pPr>
            <a:lvl4pPr marL="855663" indent="0">
              <a:spcBef>
                <a:spcPts val="0"/>
              </a:spcBef>
              <a:buNone/>
              <a:defRPr sz="1050"/>
            </a:lvl4pPr>
            <a:lvl5pPr marL="1100138" indent="0">
              <a:spcBef>
                <a:spcPts val="0"/>
              </a:spcBef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6CEDD1B3-BEED-F34A-B2B4-FB9C258BD23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57200" y="2933317"/>
            <a:ext cx="3667742" cy="182298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400"/>
              </a:spcAft>
              <a:buFontTx/>
              <a:buNone/>
              <a:tabLst/>
              <a:defRPr sz="2200">
                <a:solidFill>
                  <a:schemeClr val="tx1"/>
                </a:solidFill>
                <a:latin typeface="+mn-lt"/>
              </a:defRPr>
            </a:lvl1pPr>
            <a:lvl2pPr marL="460375" indent="-223838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  <a:latin typeface="+mj-lt"/>
              </a:defRPr>
            </a:lvl2pPr>
            <a:lvl3pPr marL="690563" indent="-223838">
              <a:spcBef>
                <a:spcPts val="0"/>
              </a:spcBef>
              <a:spcAft>
                <a:spcPts val="400"/>
              </a:spcAft>
              <a:tabLst/>
              <a:defRPr sz="2000">
                <a:solidFill>
                  <a:schemeClr val="tx1"/>
                </a:solidFill>
                <a:latin typeface="+mj-lt"/>
              </a:defRPr>
            </a:lvl3pPr>
            <a:lvl4pPr marL="914400" indent="-23018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4pPr>
            <a:lvl5pPr marL="1144588" indent="-211138">
              <a:spcBef>
                <a:spcPts val="0"/>
              </a:spcBef>
              <a:spcAft>
                <a:spcPts val="400"/>
              </a:spcAft>
              <a:tabLst/>
              <a:defRPr sz="18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405EF5-67A3-467C-B557-30C099F3F7D8}"/>
              </a:ext>
            </a:extLst>
          </p:cNvPr>
          <p:cNvSpPr txBox="1"/>
          <p:nvPr userDrawn="1"/>
        </p:nvSpPr>
        <p:spPr>
          <a:xfrm>
            <a:off x="8058098" y="6405091"/>
            <a:ext cx="24466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©2024 ExlService Holdings, Inc. All rights reserved.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E476FB-F1EB-4325-8567-72CD95BF0CAA}"/>
              </a:ext>
            </a:extLst>
          </p:cNvPr>
          <p:cNvSpPr txBox="1"/>
          <p:nvPr userDrawn="1"/>
        </p:nvSpPr>
        <p:spPr>
          <a:xfrm>
            <a:off x="10388823" y="6412461"/>
            <a:ext cx="5794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5EF08C3-6068-49A5-A83C-FDA0DDA2EDAF}" type="slidenum">
              <a:rPr lang="en-US" sz="800" smtClean="0">
                <a:solidFill>
                  <a:schemeClr val="tx2"/>
                </a:solidFill>
              </a:rPr>
              <a:t>‹#›</a:t>
            </a:fld>
            <a:endParaRPr lang="en-US" sz="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6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3797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6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5147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41A1EF-1130-0847-A890-759BB7F11D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2941639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1B4C41C-FB42-AD48-A6C4-FD4FE1D148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2667988-617F-004D-B13E-69F23C6018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FE5633E-57AE-5F4C-8DC4-A6A36A5A6C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4597790"/>
            <a:ext cx="3807869" cy="28114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CD5681D-08CD-CE43-A482-97B6B98B3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4949483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A24ABB26-7301-E846-A462-7610E217F0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7200" y="5224444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1903EF78-E55B-BE4C-9CF2-0175C0D0E8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92607" y="2941639"/>
            <a:ext cx="3807869" cy="281142"/>
          </a:xfrm>
        </p:spPr>
        <p:txBody>
          <a:bodyPr/>
          <a:lstStyle>
            <a:lvl1pPr marL="0" indent="0"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EC6E547-EACF-304E-A8A1-B89AA80720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92607" y="3293332"/>
            <a:ext cx="3807869" cy="236380"/>
          </a:xfrm>
        </p:spPr>
        <p:txBody>
          <a:bodyPr/>
          <a:lstStyle>
            <a:lvl1pPr marL="0" indent="0">
              <a:buNone/>
              <a:defRPr sz="1500" b="1"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032E99CF-0040-9145-B590-C27DD73EAEA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2607" y="3568293"/>
            <a:ext cx="3807869" cy="870124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F4786A-0F68-1A46-8E73-D7568095F32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92607" y="4597790"/>
            <a:ext cx="3807869" cy="1496778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500">
                <a:solidFill>
                  <a:schemeClr val="tx1"/>
                </a:solidFill>
                <a:latin typeface="+mj-lt"/>
              </a:defRPr>
            </a:lvl1pPr>
            <a:lvl2pPr marL="290513" indent="0">
              <a:buNone/>
              <a:defRPr>
                <a:latin typeface="+mj-lt"/>
              </a:defRPr>
            </a:lvl2pPr>
            <a:lvl3pPr marL="582613" indent="0">
              <a:buNone/>
              <a:defRPr>
                <a:latin typeface="+mj-lt"/>
              </a:defRPr>
            </a:lvl3pPr>
            <a:lvl4pPr marL="855663" indent="0">
              <a:buNone/>
              <a:defRPr>
                <a:latin typeface="+mj-lt"/>
              </a:defRPr>
            </a:lvl4pPr>
            <a:lvl5pPr marL="1100138" indent="0">
              <a:buNone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31D6697-EB49-1144-B5F3-9918FB7982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84" y="1133447"/>
            <a:ext cx="1797645" cy="115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2669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757647"/>
            <a:ext cx="11277600" cy="936386"/>
          </a:xfrm>
        </p:spPr>
        <p:txBody>
          <a:bodyPr anchor="t" anchorCtr="0">
            <a:no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1854927"/>
            <a:ext cx="5638801" cy="4124768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spcAft>
                <a:spcPts val="900"/>
              </a:spcAft>
              <a:buClr>
                <a:schemeClr val="tx2"/>
              </a:buClr>
              <a:buFont typeface="Arial" panose="020B0604020202020204" pitchFamily="34" charset="0"/>
              <a:buNone/>
              <a:defRPr sz="1600" b="0" i="0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CC097AF-8898-DE4D-B869-55313A58DB8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59193" y="6405915"/>
            <a:ext cx="990600" cy="635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0FA60-7D60-CF4C-887E-269F048B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639860"/>
            <a:ext cx="6376317" cy="182358"/>
          </a:xfrm>
        </p:spPr>
        <p:txBody>
          <a:bodyPr>
            <a:noAutofit/>
          </a:bodyPr>
          <a:lstStyle>
            <a:lvl1pPr algn="r">
              <a:defRPr sz="800"/>
            </a:lvl1pPr>
          </a:lstStyle>
          <a:p>
            <a:r>
              <a:rPr lang="en-US" dirty="0"/>
              <a:t>©2021 Exl Service Holdings, Inc. All rights reserved.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8EC811-A5C4-444C-8FEE-8025B8013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77638" y="6639860"/>
            <a:ext cx="481556" cy="182358"/>
          </a:xfrm>
        </p:spPr>
        <p:txBody>
          <a:bodyPr>
            <a:noAutofit/>
          </a:bodyPr>
          <a:lstStyle>
            <a:lvl1pPr algn="l">
              <a:defRPr sz="800"/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671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12334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3905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6963"/>
            <a:ext cx="3124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CCCACD6-8279-7A43-AFDE-A51255A0F160}" type="datetime1">
              <a:rPr lang="en-US" smtClean="0"/>
              <a:t>18-Aug-26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176963"/>
            <a:ext cx="41148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©2024 ExlService Holdings, Inc.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6176963"/>
            <a:ext cx="2743200" cy="3651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A08CA8-4222-D24F-ACDB-33341C247B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403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1" r:id="rId3"/>
    <p:sldLayoutId id="2147483675" r:id="rId4"/>
    <p:sldLayoutId id="2147483677" r:id="rId5"/>
    <p:sldLayoutId id="2147483727" r:id="rId6"/>
    <p:sldLayoutId id="2147483678" r:id="rId7"/>
    <p:sldLayoutId id="2147483681" r:id="rId8"/>
    <p:sldLayoutId id="2147483728" r:id="rId9"/>
    <p:sldLayoutId id="2147483685" r:id="rId10"/>
    <p:sldLayoutId id="2147483729" r:id="rId11"/>
    <p:sldLayoutId id="2147483717" r:id="rId12"/>
    <p:sldLayoutId id="2147483731" r:id="rId13"/>
    <p:sldLayoutId id="2147483719" r:id="rId14"/>
    <p:sldLayoutId id="2147483733" r:id="rId15"/>
    <p:sldLayoutId id="2147483734" r:id="rId16"/>
    <p:sldLayoutId id="2147483735" r:id="rId17"/>
    <p:sldLayoutId id="2147483689" r:id="rId18"/>
    <p:sldLayoutId id="2147483736" r:id="rId19"/>
    <p:sldLayoutId id="2147483737" r:id="rId20"/>
    <p:sldLayoutId id="2147483738" r:id="rId21"/>
    <p:sldLayoutId id="2147483739" r:id="rId22"/>
    <p:sldLayoutId id="2147483701" r:id="rId23"/>
    <p:sldLayoutId id="2147483699" r:id="rId24"/>
    <p:sldLayoutId id="2147483741" r:id="rId25"/>
    <p:sldLayoutId id="2147483705" r:id="rId26"/>
    <p:sldLayoutId id="2147483708" r:id="rId27"/>
    <p:sldLayoutId id="2147483709" r:id="rId28"/>
    <p:sldLayoutId id="2147483710" r:id="rId29"/>
    <p:sldLayoutId id="2147483742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2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j-lt"/>
          <a:ea typeface="+mn-ea"/>
          <a:cs typeface="+mn-cs"/>
        </a:defRPr>
      </a:lvl1pPr>
      <a:lvl2pPr marL="5159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400" kern="1200">
          <a:solidFill>
            <a:schemeClr val="tx2"/>
          </a:solidFill>
          <a:latin typeface="+mj-lt"/>
          <a:ea typeface="+mn-ea"/>
          <a:cs typeface="+mn-cs"/>
        </a:defRPr>
      </a:lvl2pPr>
      <a:lvl3pPr marL="808038" indent="-225425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2000" kern="1200">
          <a:solidFill>
            <a:schemeClr val="tx2"/>
          </a:solidFill>
          <a:latin typeface="+mj-lt"/>
          <a:ea typeface="+mn-ea"/>
          <a:cs typeface="+mn-cs"/>
        </a:defRPr>
      </a:lvl3pPr>
      <a:lvl4pPr marL="1090613" indent="-2349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4pPr>
      <a:lvl5pPr marL="1373188" indent="-273050" algn="l" defTabSz="914400" rtl="0" eaLnBrk="1" latinLnBrk="0" hangingPunct="1">
        <a:lnSpc>
          <a:spcPct val="90000"/>
        </a:lnSpc>
        <a:spcBef>
          <a:spcPts val="500"/>
        </a:spcBef>
        <a:buFont typeface="System Font Regular"/>
        <a:buChar char="–"/>
        <a:tabLst/>
        <a:defRPr sz="18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88" userDrawn="1">
          <p15:clr>
            <a:srgbClr val="F26B43"/>
          </p15:clr>
        </p15:guide>
        <p15:guide id="4" pos="7392" userDrawn="1">
          <p15:clr>
            <a:srgbClr val="F26B43"/>
          </p15:clr>
        </p15:guide>
        <p15:guide id="5" orient="horz" pos="4128" userDrawn="1">
          <p15:clr>
            <a:srgbClr val="F26B43"/>
          </p15:clr>
        </p15:guide>
        <p15:guide id="6" orient="horz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BFE8-6D58-5590-A1E7-A2795581D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17B1F9E-08E9-7B40-0BA7-4C99689B9AFB}"/>
              </a:ext>
            </a:extLst>
          </p:cNvPr>
          <p:cNvSpPr/>
          <p:nvPr/>
        </p:nvSpPr>
        <p:spPr>
          <a:xfrm>
            <a:off x="396240" y="708024"/>
            <a:ext cx="11490960" cy="5621655"/>
          </a:xfrm>
          <a:prstGeom prst="roundRect">
            <a:avLst>
              <a:gd name="adj" fmla="val 2714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A20902-D558-3616-7D89-C7810B01F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34925"/>
            <a:ext cx="11277600" cy="673100"/>
          </a:xfrm>
        </p:spPr>
        <p:txBody>
          <a:bodyPr anchor="ctr">
            <a:normAutofit/>
          </a:bodyPr>
          <a:lstStyle/>
          <a:p>
            <a:pPr>
              <a:buClr>
                <a:schemeClr val="tx2"/>
              </a:buClr>
            </a:pPr>
            <a:r>
              <a:rPr lang="en-US" sz="3200" dirty="0"/>
              <a:t>AI Operations Intelligence Agent (</a:t>
            </a:r>
            <a:r>
              <a:rPr lang="en-US" sz="3200" dirty="0" err="1"/>
              <a:t>InsightForge</a:t>
            </a:r>
            <a:r>
              <a:rPr lang="en-US" sz="3200" dirty="0"/>
              <a:t>-AI)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568F24-1340-890B-283C-18D9094E11AA}"/>
              </a:ext>
            </a:extLst>
          </p:cNvPr>
          <p:cNvSpPr/>
          <p:nvPr/>
        </p:nvSpPr>
        <p:spPr>
          <a:xfrm>
            <a:off x="457200" y="1412241"/>
            <a:ext cx="205450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FE90E587-E904-18F9-76DC-B7FEDB0143D7}"/>
              </a:ext>
            </a:extLst>
          </p:cNvPr>
          <p:cNvSpPr/>
          <p:nvPr/>
        </p:nvSpPr>
        <p:spPr>
          <a:xfrm>
            <a:off x="457200" y="1307465"/>
            <a:ext cx="2158678" cy="26416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Industry Context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40DAD7-71FF-D89E-C436-22B727959023}"/>
              </a:ext>
            </a:extLst>
          </p:cNvPr>
          <p:cNvSpPr/>
          <p:nvPr/>
        </p:nvSpPr>
        <p:spPr>
          <a:xfrm>
            <a:off x="5171441" y="1412240"/>
            <a:ext cx="6664956" cy="208387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Pentagon 12">
            <a:extLst>
              <a:ext uri="{FF2B5EF4-FFF2-40B4-BE49-F238E27FC236}">
                <a16:creationId xmlns:a16="http://schemas.microsoft.com/office/drawing/2014/main" id="{2FE74FDC-8658-AAF2-AF77-E20A1D6844FE}"/>
              </a:ext>
            </a:extLst>
          </p:cNvPr>
          <p:cNvSpPr/>
          <p:nvPr/>
        </p:nvSpPr>
        <p:spPr>
          <a:xfrm>
            <a:off x="5171441" y="1297305"/>
            <a:ext cx="6664956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Functional Overview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7D2455-202B-5BC9-D097-90CE3CD4E61D}"/>
              </a:ext>
            </a:extLst>
          </p:cNvPr>
          <p:cNvSpPr/>
          <p:nvPr/>
        </p:nvSpPr>
        <p:spPr>
          <a:xfrm>
            <a:off x="45720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Pentagon 14">
            <a:extLst>
              <a:ext uri="{FF2B5EF4-FFF2-40B4-BE49-F238E27FC236}">
                <a16:creationId xmlns:a16="http://schemas.microsoft.com/office/drawing/2014/main" id="{BFC4D114-2BF9-7924-89C0-1CC7A9C148CE}"/>
              </a:ext>
            </a:extLst>
          </p:cNvPr>
          <p:cNvSpPr/>
          <p:nvPr/>
        </p:nvSpPr>
        <p:spPr>
          <a:xfrm>
            <a:off x="45720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Technological Highlights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71A88-D920-B434-5E26-372F07F2B9BC}"/>
              </a:ext>
            </a:extLst>
          </p:cNvPr>
          <p:cNvSpPr/>
          <p:nvPr/>
        </p:nvSpPr>
        <p:spPr>
          <a:xfrm>
            <a:off x="6187440" y="3781425"/>
            <a:ext cx="5638800" cy="248930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3DC75C66-12C8-AFD3-EDE1-0F23F1D280D0}"/>
              </a:ext>
            </a:extLst>
          </p:cNvPr>
          <p:cNvSpPr/>
          <p:nvPr/>
        </p:nvSpPr>
        <p:spPr>
          <a:xfrm>
            <a:off x="6187440" y="3623945"/>
            <a:ext cx="563880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Business Impact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9F0FD8-FB77-46DF-CFA2-83ED823E713E}"/>
              </a:ext>
            </a:extLst>
          </p:cNvPr>
          <p:cNvSpPr txBox="1"/>
          <p:nvPr/>
        </p:nvSpPr>
        <p:spPr>
          <a:xfrm>
            <a:off x="457200" y="1584960"/>
            <a:ext cx="20545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Utilities (Energy &amp; Customer Operations)</a:t>
            </a:r>
            <a:endParaRPr lang="en-US" sz="1200" dirty="0">
              <a:solidFill>
                <a:srgbClr val="000000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KPI deviations are visible, but root-cause identification is often delayed and manual.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Delayed insights drive customer dissatisfaction, revenue leakage, and operational inefficiencies.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1A7B6D-0398-0FE8-CDD1-599D469B52B2}"/>
              </a:ext>
            </a:extLst>
          </p:cNvPr>
          <p:cNvSpPr/>
          <p:nvPr/>
        </p:nvSpPr>
        <p:spPr>
          <a:xfrm>
            <a:off x="2814320" y="1412240"/>
            <a:ext cx="2306320" cy="2086809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Pentagon 9">
            <a:extLst>
              <a:ext uri="{FF2B5EF4-FFF2-40B4-BE49-F238E27FC236}">
                <a16:creationId xmlns:a16="http://schemas.microsoft.com/office/drawing/2014/main" id="{6D2A01FF-BF42-9E31-AAC9-F28CD4D6A924}"/>
              </a:ext>
            </a:extLst>
          </p:cNvPr>
          <p:cNvSpPr/>
          <p:nvPr/>
        </p:nvSpPr>
        <p:spPr>
          <a:xfrm>
            <a:off x="2814320" y="1307465"/>
            <a:ext cx="2306320" cy="274320"/>
          </a:xfrm>
          <a:prstGeom prst="homePlate">
            <a:avLst/>
          </a:prstGeom>
          <a:solidFill>
            <a:srgbClr val="FB4E0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Client’s business problems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90F0C8-F93E-B121-BC3F-E8A586A3B1F6}"/>
              </a:ext>
            </a:extLst>
          </p:cNvPr>
          <p:cNvSpPr txBox="1"/>
          <p:nvPr/>
        </p:nvSpPr>
        <p:spPr>
          <a:xfrm>
            <a:off x="2824480" y="1624975"/>
            <a:ext cx="22219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Teams know </a:t>
            </a:r>
            <a:r>
              <a:rPr lang="en-US" sz="1200" b="1" dirty="0"/>
              <a:t>what changed</a:t>
            </a:r>
            <a:r>
              <a:rPr lang="en-US" sz="1200" dirty="0"/>
              <a:t>, but not </a:t>
            </a:r>
            <a:r>
              <a:rPr lang="en-US" sz="1200" b="1" dirty="0"/>
              <a:t>why, who is impacted, or what action to take</a:t>
            </a:r>
            <a:r>
              <a:rPr lang="en-US" sz="1200" dirty="0"/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Manual RCA across multiple systems leads to slow, reactive, and inconsistent decision-making.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2916F6-A4BF-2416-AF79-0554EA5D6206}"/>
              </a:ext>
            </a:extLst>
          </p:cNvPr>
          <p:cNvSpPr txBox="1"/>
          <p:nvPr/>
        </p:nvSpPr>
        <p:spPr>
          <a:xfrm>
            <a:off x="5182989" y="1624975"/>
            <a:ext cx="66541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The Solution: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AI layer that transforms KPI deviations into </a:t>
            </a:r>
            <a:r>
              <a:rPr lang="en-US" sz="1200" b="1" dirty="0"/>
              <a:t>Root Cause, Impact &amp; Actions</a:t>
            </a:r>
            <a:r>
              <a:rPr lang="en-US" sz="1200" dirty="0"/>
              <a:t>.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Integrates with existing dashboards, not a replacement.</a:t>
            </a:r>
          </a:p>
          <a:p>
            <a:r>
              <a:rPr lang="en-US" sz="1200" b="1" dirty="0"/>
              <a:t>How It Works: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Detect KPI anomaly → AI investigates → Identifies root cause.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Quantifies impact and delivers role-based recommendations &amp; alerts.</a:t>
            </a:r>
          </a:p>
          <a:p>
            <a:r>
              <a:rPr lang="en-US" sz="1200" b="1" dirty="0"/>
              <a:t>Sales / Growth Relevance for EXL: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Reusable AI Operations Intelligence framework across multiple KPIs.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/>
              <a:t>Creates opportunities in Analytics, AI, Cloud, and Managed Services.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0D16CA-572C-744B-8AAF-DBDEF574D554}"/>
              </a:ext>
            </a:extLst>
          </p:cNvPr>
          <p:cNvSpPr txBox="1"/>
          <p:nvPr/>
        </p:nvSpPr>
        <p:spPr>
          <a:xfrm>
            <a:off x="477521" y="4305806"/>
            <a:ext cx="5638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Claude AI + Python Analytics + </a:t>
            </a:r>
            <a:r>
              <a:rPr lang="en-US" sz="1200" dirty="0" err="1"/>
              <a:t>Streamlit</a:t>
            </a:r>
            <a:r>
              <a:rPr lang="en-US" sz="1200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Cloud Run, </a:t>
            </a:r>
            <a:r>
              <a:rPr lang="en-US" sz="1200" dirty="0" err="1"/>
              <a:t>BigQuery</a:t>
            </a:r>
            <a:r>
              <a:rPr lang="en-US" sz="1200" dirty="0"/>
              <a:t>, Tool-Calling Framework.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Role-based recommendations, confidence scoring, and explainable AI.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/>
              <a:t>Reuses existing KPI logic and reporting infrastructure.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5C384A-1D7A-A3D4-2B36-CF15B9DFAD37}"/>
              </a:ext>
            </a:extLst>
          </p:cNvPr>
          <p:cNvSpPr txBox="1"/>
          <p:nvPr/>
        </p:nvSpPr>
        <p:spPr>
          <a:xfrm>
            <a:off x="6197598" y="3964503"/>
            <a:ext cx="56387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Customer / Stakeholder Value</a:t>
            </a:r>
            <a:endParaRPr lang="en-US" sz="1200" dirty="0"/>
          </a:p>
          <a:p>
            <a:pPr lvl="0"/>
            <a:r>
              <a:rPr lang="en-US" sz="1200" dirty="0"/>
              <a:t>Faster identification of customer-impacting issues.</a:t>
            </a:r>
          </a:p>
          <a:p>
            <a:pPr lvl="0"/>
            <a:r>
              <a:rPr lang="en-US" sz="1200" dirty="0"/>
              <a:t>Consistent evidence-based decision making.</a:t>
            </a:r>
          </a:p>
          <a:p>
            <a:pPr lvl="0"/>
            <a:r>
              <a:rPr lang="en-US" sz="1200" dirty="0"/>
              <a:t>Improved operational prioritization.</a:t>
            </a:r>
          </a:p>
          <a:p>
            <a:r>
              <a:rPr lang="en-US" sz="1200" b="1" dirty="0"/>
              <a:t>Potential Impact</a:t>
            </a:r>
            <a:endParaRPr lang="en-US" sz="1200" dirty="0"/>
          </a:p>
          <a:p>
            <a:pPr lvl="0"/>
            <a:r>
              <a:rPr lang="en-US" sz="1200" dirty="0"/>
              <a:t>Investigation time reduced from </a:t>
            </a:r>
            <a:r>
              <a:rPr lang="en-US" sz="1200" b="1" dirty="0"/>
              <a:t>4 hours to 5 minutes (98% faster)</a:t>
            </a:r>
            <a:r>
              <a:rPr lang="en-US" sz="1200" dirty="0"/>
              <a:t>.</a:t>
            </a:r>
          </a:p>
          <a:p>
            <a:pPr lvl="0"/>
            <a:r>
              <a:rPr lang="en-US" sz="1200" dirty="0"/>
              <a:t>Enables proactive intervention before customer and revenue impact escalates.</a:t>
            </a:r>
          </a:p>
          <a:p>
            <a:pPr lvl="0"/>
            <a:r>
              <a:rPr lang="en-US" sz="1200" dirty="0"/>
              <a:t>Supports scalable expansion across multiple operational KPIs.</a:t>
            </a:r>
          </a:p>
          <a:p>
            <a:r>
              <a:rPr lang="en-US" sz="1200" b="1" dirty="0"/>
              <a:t>Cost Structure</a:t>
            </a:r>
            <a:endParaRPr lang="en-US" sz="1200" dirty="0"/>
          </a:p>
          <a:p>
            <a:pPr lvl="0"/>
            <a:r>
              <a:rPr lang="en-US" sz="1200" dirty="0"/>
              <a:t>Leverages existing reporting ecosystem and cloud infrastructure.</a:t>
            </a:r>
          </a:p>
          <a:p>
            <a:pPr lvl="0"/>
            <a:r>
              <a:rPr lang="en-US" sz="1200" dirty="0"/>
              <a:t>Phased rollout: PoC → Pilot → Enterprise Scale.</a:t>
            </a:r>
          </a:p>
        </p:txBody>
      </p:sp>
    </p:spTree>
    <p:extLst>
      <p:ext uri="{BB962C8B-B14F-4D97-AF65-F5344CB8AC3E}">
        <p14:creationId xmlns:p14="http://schemas.microsoft.com/office/powerpoint/2010/main" val="2900283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XL 2023">
      <a:dk1>
        <a:srgbClr val="000000"/>
      </a:dk1>
      <a:lt1>
        <a:srgbClr val="FFFFFF"/>
      </a:lt1>
      <a:dk2>
        <a:srgbClr val="FB4D0A"/>
      </a:dk2>
      <a:lt2>
        <a:srgbClr val="FFFFFF"/>
      </a:lt2>
      <a:accent1>
        <a:srgbClr val="2E3643"/>
      </a:accent1>
      <a:accent2>
        <a:srgbClr val="6D727B"/>
      </a:accent2>
      <a:accent3>
        <a:srgbClr val="005071"/>
      </a:accent3>
      <a:accent4>
        <a:srgbClr val="4D849B"/>
      </a:accent4>
      <a:accent5>
        <a:srgbClr val="DCF3FA"/>
      </a:accent5>
      <a:accent6>
        <a:srgbClr val="E6F6F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3" id="{75DB2D68-EB8A-4D47-9097-25EC9E13C876}" vid="{0310C97A-7711-40A4-A3F2-58B78CFBEC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</Template>
  <TotalTime>1657</TotalTime>
  <Words>272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System Font Regular</vt:lpstr>
      <vt:lpstr>Office Theme</vt:lpstr>
      <vt:lpstr>AI Operations Intelligence Agent (InsightForge-AI)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Innovation Sprint</dc:title>
  <dc:creator>Grace Singh</dc:creator>
  <cp:lastModifiedBy>Kartik Chaudhari</cp:lastModifiedBy>
  <cp:revision>32</cp:revision>
  <dcterms:created xsi:type="dcterms:W3CDTF">2024-06-06T10:38:18Z</dcterms:created>
  <dcterms:modified xsi:type="dcterms:W3CDTF">2026-08-18T13:51:29Z</dcterms:modified>
</cp:coreProperties>
</file>