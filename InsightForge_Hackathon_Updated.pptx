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handoutMasterIdLst>
    <p:handoutMasterId r:id="rId18"/>
  </p:handoutMasterIdLst>
  <p:sldIdLst>
    <p:sldId id="270" r:id="rId2"/>
    <p:sldId id="256" r:id="rId3"/>
    <p:sldId id="272" r:id="rId4"/>
    <p:sldId id="273" r:id="rId5"/>
    <p:sldId id="283" r:id="rId6"/>
    <p:sldId id="257" r:id="rId7"/>
    <p:sldId id="278" r:id="rId8"/>
    <p:sldId id="287" r:id="rId9"/>
    <p:sldId id="275" r:id="rId10"/>
    <p:sldId id="282" r:id="rId11"/>
    <p:sldId id="284" r:id="rId12"/>
    <p:sldId id="277" r:id="rId13"/>
    <p:sldId id="285" r:id="rId14"/>
    <p:sldId id="286" r:id="rId15"/>
    <p:sldId id="281"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F34252-74CA-464D-3690-B2B4073E2D2D}" v="15" dt="2026-08-21T17:01:21.2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handoutMaster" Target="handoutMasters/handout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microsoft.com/office/2016/11/relationships/changesInfo" Target="changesInfos/changesInfo1.xml"/><Relationship Id="rId2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ish Dua" userId="S::manish267153@exlservice.com::b38c8bcd-ad8c-4e2e-8f26-aa2664b7e4b1" providerId="AD" clId="Web-{CEE9016B-BC9B-A12E-464C-738BE1BFFF74}"/>
    <pc:docChg chg="modSld">
      <pc:chgData name="Manish Dua" userId="S::manish267153@exlservice.com::b38c8bcd-ad8c-4e2e-8f26-aa2664b7e4b1" providerId="AD" clId="Web-{CEE9016B-BC9B-A12E-464C-738BE1BFFF74}" dt="2026-08-19T09:06:19.181" v="25" actId="20577"/>
      <pc:docMkLst>
        <pc:docMk/>
      </pc:docMkLst>
      <pc:sldChg chg="modSp">
        <pc:chgData name="Manish Dua" userId="S::manish267153@exlservice.com::b38c8bcd-ad8c-4e2e-8f26-aa2664b7e4b1" providerId="AD" clId="Web-{CEE9016B-BC9B-A12E-464C-738BE1BFFF74}" dt="2026-08-19T09:06:19.181" v="25" actId="20577"/>
        <pc:sldMkLst>
          <pc:docMk/>
          <pc:sldMk cId="0" sldId="275"/>
        </pc:sldMkLst>
        <pc:spChg chg="mod">
          <ac:chgData name="Manish Dua" userId="S::manish267153@exlservice.com::b38c8bcd-ad8c-4e2e-8f26-aa2664b7e4b1" providerId="AD" clId="Web-{CEE9016B-BC9B-A12E-464C-738BE1BFFF74}" dt="2026-08-19T09:06:19.181" v="25" actId="20577"/>
          <ac:spMkLst>
            <pc:docMk/>
            <pc:sldMk cId="0" sldId="275"/>
            <ac:spMk id="33" creationId="{00000000-0000-0000-0000-000000000000}"/>
          </ac:spMkLst>
        </pc:spChg>
      </pc:sldChg>
    </pc:docChg>
  </pc:docChgLst>
  <pc:docChgLst>
    <pc:chgData name="Manish Dua" userId="S::manish267153@exlservice.com::b38c8bcd-ad8c-4e2e-8f26-aa2664b7e4b1" providerId="AD" clId="Web-{46F34252-74CA-464D-3690-B2B4073E2D2D}"/>
    <pc:docChg chg="modSld">
      <pc:chgData name="Manish Dua" userId="S::manish267153@exlservice.com::b38c8bcd-ad8c-4e2e-8f26-aa2664b7e4b1" providerId="AD" clId="Web-{46F34252-74CA-464D-3690-B2B4073E2D2D}" dt="2026-08-21T17:01:21.227" v="14" actId="1076"/>
      <pc:docMkLst>
        <pc:docMk/>
      </pc:docMkLst>
      <pc:sldChg chg="addSp delSp modSp">
        <pc:chgData name="Manish Dua" userId="S::manish267153@exlservice.com::b38c8bcd-ad8c-4e2e-8f26-aa2664b7e4b1" providerId="AD" clId="Web-{46F34252-74CA-464D-3690-B2B4073E2D2D}" dt="2026-08-21T17:01:21.227" v="14" actId="1076"/>
        <pc:sldMkLst>
          <pc:docMk/>
          <pc:sldMk cId="0" sldId="287"/>
        </pc:sldMkLst>
        <pc:spChg chg="mod">
          <ac:chgData name="Manish Dua" userId="S::manish267153@exlservice.com::b38c8bcd-ad8c-4e2e-8f26-aa2664b7e4b1" providerId="AD" clId="Web-{46F34252-74CA-464D-3690-B2B4073E2D2D}" dt="2026-08-21T17:00:59.742" v="9" actId="1076"/>
          <ac:spMkLst>
            <pc:docMk/>
            <pc:sldMk cId="0" sldId="287"/>
            <ac:spMk id="9" creationId="{00000000-0000-0000-0000-000000000000}"/>
          </ac:spMkLst>
        </pc:spChg>
        <pc:picChg chg="add mod modCrop">
          <ac:chgData name="Manish Dua" userId="S::manish267153@exlservice.com::b38c8bcd-ad8c-4e2e-8f26-aa2664b7e4b1" providerId="AD" clId="Web-{46F34252-74CA-464D-3690-B2B4073E2D2D}" dt="2026-08-21T17:01:21.227" v="14" actId="1076"/>
          <ac:picMkLst>
            <pc:docMk/>
            <pc:sldMk cId="0" sldId="287"/>
            <ac:picMk id="3" creationId="{C1CDA87B-6484-1E43-8B16-497B593CF116}"/>
          </ac:picMkLst>
        </pc:picChg>
        <pc:picChg chg="del">
          <ac:chgData name="Manish Dua" userId="S::manish267153@exlservice.com::b38c8bcd-ad8c-4e2e-8f26-aa2664b7e4b1" providerId="AD" clId="Web-{46F34252-74CA-464D-3690-B2B4073E2D2D}" dt="2026-08-21T16:59:01.960" v="0"/>
          <ac:picMkLst>
            <pc:docMk/>
            <pc:sldMk cId="0" sldId="287"/>
            <ac:picMk id="10" creationId="{F9D70CE0-23DC-1F16-77B7-A6BAA18156EE}"/>
          </ac:picMkLst>
        </pc:picChg>
      </pc:sldChg>
    </pc:docChg>
  </pc:docChgLst>
  <pc:docChgLst>
    <pc:chgData name="Mukesh Yadav" userId="a32d16f7-7996-40c5-b81f-e89296020489" providerId="ADAL" clId="{2B8D73FB-A7B3-4D41-91BE-0EACE18508F2}"/>
    <pc:docChg chg="custSel modSld">
      <pc:chgData name="Mukesh Yadav" userId="a32d16f7-7996-40c5-b81f-e89296020489" providerId="ADAL" clId="{2B8D73FB-A7B3-4D41-91BE-0EACE18508F2}" dt="2026-08-19T08:08:51.044" v="18" actId="14100"/>
      <pc:docMkLst>
        <pc:docMk/>
      </pc:docMkLst>
      <pc:sldChg chg="addSp delSp modSp mod">
        <pc:chgData name="Mukesh Yadav" userId="a32d16f7-7996-40c5-b81f-e89296020489" providerId="ADAL" clId="{2B8D73FB-A7B3-4D41-91BE-0EACE18508F2}" dt="2026-08-19T08:08:51.044" v="18" actId="14100"/>
        <pc:sldMkLst>
          <pc:docMk/>
          <pc:sldMk cId="0" sldId="287"/>
        </pc:sldMkLst>
        <pc:spChg chg="mod">
          <ac:chgData name="Mukesh Yadav" userId="a32d16f7-7996-40c5-b81f-e89296020489" providerId="ADAL" clId="{2B8D73FB-A7B3-4D41-91BE-0EACE18508F2}" dt="2026-08-19T08:02:29.814" v="1" actId="1076"/>
          <ac:spMkLst>
            <pc:docMk/>
            <pc:sldMk cId="0" sldId="287"/>
            <ac:spMk id="19"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_101_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Old manual pattern</c:v>
                </c:pt>
              </c:strCache>
            </c:strRef>
          </c:tx>
          <c:spPr>
            <a:ln w="25400">
              <a:solidFill>
                <a:srgbClr val="E11D48"/>
              </a:solidFill>
            </a:ln>
          </c:spPr>
          <c:cat>
            <c:strRef>
              <c:f>Sheet1!$A$2:$A$7</c:f>
              <c:strCache>
                <c:ptCount val="6"/>
                <c:pt idx="0">
                  <c:v>W1</c:v>
                </c:pt>
                <c:pt idx="1">
                  <c:v>W2</c:v>
                </c:pt>
                <c:pt idx="2">
                  <c:v>W3</c:v>
                </c:pt>
                <c:pt idx="3">
                  <c:v>W4</c:v>
                </c:pt>
                <c:pt idx="4">
                  <c:v>W5</c:v>
                </c:pt>
                <c:pt idx="5">
                  <c:v>W6</c:v>
                </c:pt>
              </c:strCache>
            </c:strRef>
          </c:cat>
          <c:val>
            <c:numRef>
              <c:f>Sheet1!$B$2:$B$7</c:f>
              <c:numCache>
                <c:formatCode>General</c:formatCode>
                <c:ptCount val="6"/>
                <c:pt idx="0">
                  <c:v>1200</c:v>
                </c:pt>
                <c:pt idx="1">
                  <c:v>1280</c:v>
                </c:pt>
                <c:pt idx="2">
                  <c:v>1390</c:v>
                </c:pt>
                <c:pt idx="3">
                  <c:v>1500</c:v>
                </c:pt>
                <c:pt idx="4">
                  <c:v>1600</c:v>
                </c:pt>
                <c:pt idx="5">
                  <c:v>1650</c:v>
                </c:pt>
              </c:numCache>
            </c:numRef>
          </c:val>
          <c:smooth val="0"/>
          <c:extLst>
            <c:ext xmlns:c16="http://schemas.microsoft.com/office/drawing/2014/chart" uri="{C3380CC4-5D6E-409C-BE32-E72D297353CC}">
              <c16:uniqueId val="{00000000-B7F1-4AF4-8EE4-BC05EBE1CD55}"/>
            </c:ext>
          </c:extLst>
        </c:ser>
        <c:ser>
          <c:idx val="1"/>
          <c:order val="1"/>
          <c:tx>
            <c:strRef>
              <c:f>Sheet1!$C$1</c:f>
              <c:strCache>
                <c:ptCount val="1"/>
                <c:pt idx="0">
                  <c:v>After AI adoption</c:v>
                </c:pt>
              </c:strCache>
            </c:strRef>
          </c:tx>
          <c:spPr>
            <a:ln w="25400">
              <a:solidFill>
                <a:srgbClr val="16A34A"/>
              </a:solidFill>
            </a:ln>
          </c:spPr>
          <c:cat>
            <c:strRef>
              <c:f>Sheet1!$A$2:$A$7</c:f>
              <c:strCache>
                <c:ptCount val="6"/>
                <c:pt idx="0">
                  <c:v>W1</c:v>
                </c:pt>
                <c:pt idx="1">
                  <c:v>W2</c:v>
                </c:pt>
                <c:pt idx="2">
                  <c:v>W3</c:v>
                </c:pt>
                <c:pt idx="3">
                  <c:v>W4</c:v>
                </c:pt>
                <c:pt idx="4">
                  <c:v>W5</c:v>
                </c:pt>
                <c:pt idx="5">
                  <c:v>W6</c:v>
                </c:pt>
              </c:strCache>
            </c:strRef>
          </c:cat>
          <c:val>
            <c:numRef>
              <c:f>Sheet1!$C$2:$C$7</c:f>
              <c:numCache>
                <c:formatCode>General</c:formatCode>
                <c:ptCount val="6"/>
                <c:pt idx="0">
                  <c:v>1650</c:v>
                </c:pt>
                <c:pt idx="1">
                  <c:v>1500</c:v>
                </c:pt>
                <c:pt idx="2">
                  <c:v>1375</c:v>
                </c:pt>
                <c:pt idx="3">
                  <c:v>1260</c:v>
                </c:pt>
                <c:pt idx="4">
                  <c:v>1130</c:v>
                </c:pt>
                <c:pt idx="5">
                  <c:v>1000</c:v>
                </c:pt>
              </c:numCache>
            </c:numRef>
          </c:val>
          <c:smooth val="0"/>
          <c:extLst>
            <c:ext xmlns:c16="http://schemas.microsoft.com/office/drawing/2014/chart" uri="{C3380CC4-5D6E-409C-BE32-E72D297353CC}">
              <c16:uniqueId val="{00000001-B7F1-4AF4-8EE4-BC05EBE1CD55}"/>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txPr>
          <a:bodyPr/>
          <a:lstStyle/>
          <a:p>
            <a:pPr>
              <a:defRPr sz="700"/>
            </a:pPr>
            <a:endParaRPr lang="en-US"/>
          </a:p>
        </c:txPr>
        <c:crossAx val="2140495176"/>
        <c:crosses val="autoZero"/>
        <c:auto val="1"/>
        <c:lblAlgn val="ctr"/>
        <c:lblOffset val="100"/>
        <c:noMultiLvlLbl val="0"/>
      </c:catAx>
      <c:valAx>
        <c:axId val="2140495176"/>
        <c:scaling>
          <c:orientation val="minMax"/>
        </c:scaling>
        <c:delete val="0"/>
        <c:axPos val="l"/>
        <c:majorGridlines>
          <c:spPr>
            <a:ln>
              <a:solidFill>
                <a:srgbClr val="E6EBF0"/>
              </a:solidFill>
            </a:ln>
          </c:spPr>
        </c:majorGridlines>
        <c:numFmt formatCode="General" sourceLinked="1"/>
        <c:majorTickMark val="out"/>
        <c:minorTickMark val="none"/>
        <c:tickLblPos val="nextTo"/>
        <c:txPr>
          <a:bodyPr/>
          <a:lstStyle/>
          <a:p>
            <a:pPr>
              <a:defRPr sz="700"/>
            </a:pPr>
            <a:endParaRPr lang="en-US"/>
          </a:p>
        </c:txPr>
        <c:crossAx val="2118791784"/>
        <c:crosses val="autoZero"/>
        <c:crossBetween val="between"/>
      </c:valAx>
    </c:plotArea>
    <c:legend>
      <c:legendPos val="b"/>
      <c:layout>
        <c:manualLayout>
          <c:xMode val="edge"/>
          <c:yMode val="edge"/>
          <c:x val="4.5637343084923357E-2"/>
          <c:y val="0.61275066827934588"/>
          <c:w val="0.90248287082092271"/>
          <c:h val="0.34852470346692144"/>
        </c:manualLayout>
      </c:layout>
      <c:overlay val="0"/>
    </c:legend>
    <c:plotVisOnly val="1"/>
    <c:dispBlanksAs val="gap"/>
    <c:showDLblsOverMax val="0"/>
  </c:chart>
  <c:txPr>
    <a:bodyPr/>
    <a:lstStyle/>
    <a:p>
      <a:pPr>
        <a:defRPr sz="1800"/>
      </a:pPr>
      <a:endParaRPr lang="en-US"/>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2_2#1">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3AF5E6A-897E-4ACE-8A9E-CD22D40ADFA5}" type="doc">
      <dgm:prSet loTypeId="urn:microsoft.com/office/officeart/2005/8/layout/list1" loCatId="list" qsTypeId="urn:microsoft.com/office/officeart/2005/8/quickstyle/simple1#1" qsCatId="simple" csTypeId="urn:microsoft.com/office/officeart/2005/8/colors/accent2_2#1" csCatId="accent2" phldr="1"/>
      <dgm:spPr/>
      <dgm:t>
        <a:bodyPr/>
        <a:lstStyle/>
        <a:p>
          <a:endParaRPr lang="en-US"/>
        </a:p>
      </dgm:t>
    </dgm:pt>
    <dgm:pt modelId="{76A2A8B6-2C83-47BB-95AE-9AA6EADFD7F8}">
      <dgm:prSet custT="1"/>
      <dgm:spPr/>
      <dgm:t>
        <a:bodyPr/>
        <a:lstStyle/>
        <a:p>
          <a:r>
            <a:rPr lang="en-US" sz="1200" b="1"/>
            <a:t>Customer Impact</a:t>
          </a:r>
          <a:endParaRPr lang="en-US" sz="1200"/>
        </a:p>
      </dgm:t>
    </dgm:pt>
    <dgm:pt modelId="{E8C4CE6F-7F10-4B55-8B23-1EB321059FD3}" type="parTrans" cxnId="{B35015F2-62D3-49F1-93DE-466882E886B5}">
      <dgm:prSet/>
      <dgm:spPr/>
      <dgm:t>
        <a:bodyPr/>
        <a:lstStyle/>
        <a:p>
          <a:endParaRPr lang="en-US"/>
        </a:p>
      </dgm:t>
    </dgm:pt>
    <dgm:pt modelId="{385AFA9C-7141-44F0-B140-5C327E2BF164}" type="sibTrans" cxnId="{B35015F2-62D3-49F1-93DE-466882E886B5}">
      <dgm:prSet/>
      <dgm:spPr/>
      <dgm:t>
        <a:bodyPr/>
        <a:lstStyle/>
        <a:p>
          <a:endParaRPr lang="en-US"/>
        </a:p>
      </dgm:t>
    </dgm:pt>
    <dgm:pt modelId="{7B018414-E768-4778-9B88-8E820ACB109C}">
      <dgm:prSet/>
      <dgm:spPr/>
      <dgm:t>
        <a:bodyPr/>
        <a:lstStyle/>
        <a:p>
          <a:r>
            <a:rPr lang="en-US" b="1"/>
            <a:t>OVO Complaint Handling Case (2024)</a:t>
          </a:r>
          <a:endParaRPr lang="en-US"/>
        </a:p>
      </dgm:t>
    </dgm:pt>
    <dgm:pt modelId="{BD1132D8-2B39-42DA-BEA8-B106C0DA955D}" type="parTrans" cxnId="{0BFBDAEA-3C6D-405B-9436-1ED417A612A3}">
      <dgm:prSet/>
      <dgm:spPr/>
      <dgm:t>
        <a:bodyPr/>
        <a:lstStyle/>
        <a:p>
          <a:endParaRPr lang="en-US"/>
        </a:p>
      </dgm:t>
    </dgm:pt>
    <dgm:pt modelId="{34B735FE-9C03-4EAB-896A-6508262EF755}" type="sibTrans" cxnId="{0BFBDAEA-3C6D-405B-9436-1ED417A612A3}">
      <dgm:prSet/>
      <dgm:spPr/>
      <dgm:t>
        <a:bodyPr/>
        <a:lstStyle/>
        <a:p>
          <a:endParaRPr lang="en-US"/>
        </a:p>
      </dgm:t>
    </dgm:pt>
    <dgm:pt modelId="{8B919A8D-0155-4960-97B6-7B41194D4C6D}">
      <dgm:prSet/>
      <dgm:spPr/>
      <dgm:t>
        <a:bodyPr/>
        <a:lstStyle/>
        <a:p>
          <a:r>
            <a:rPr lang="en-US" sz="1000" b="1" kern="1200"/>
            <a:t>1,395 customers impacted</a:t>
          </a:r>
          <a:r>
            <a:rPr lang="en-US" sz="1000" kern="1200"/>
            <a:t> by complaint-handling failures.</a:t>
          </a:r>
        </a:p>
      </dgm:t>
    </dgm:pt>
    <dgm:pt modelId="{773C4187-B1D6-4531-A75C-9074A50DCBCD}" type="parTrans" cxnId="{6B3F26A0-607B-449B-96DA-A2BFA88C6118}">
      <dgm:prSet/>
      <dgm:spPr/>
      <dgm:t>
        <a:bodyPr/>
        <a:lstStyle/>
        <a:p>
          <a:endParaRPr lang="en-US"/>
        </a:p>
      </dgm:t>
    </dgm:pt>
    <dgm:pt modelId="{01BDE3CB-3E81-4EB1-A289-308953C5D4E9}" type="sibTrans" cxnId="{6B3F26A0-607B-449B-96DA-A2BFA88C6118}">
      <dgm:prSet/>
      <dgm:spPr/>
      <dgm:t>
        <a:bodyPr/>
        <a:lstStyle/>
        <a:p>
          <a:endParaRPr lang="en-US"/>
        </a:p>
      </dgm:t>
    </dgm:pt>
    <dgm:pt modelId="{E93C7E12-0F2C-4158-9316-545B15DDFF8C}">
      <dgm:prSet/>
      <dgm:spPr/>
      <dgm:t>
        <a:bodyPr/>
        <a:lstStyle/>
        <a:p>
          <a:r>
            <a:rPr lang="en-US" sz="1000" b="1" kern="1200"/>
            <a:t>706 vulnerable customers affected.</a:t>
          </a:r>
          <a:endParaRPr lang="en-US" sz="1000" kern="1200"/>
        </a:p>
      </dgm:t>
    </dgm:pt>
    <dgm:pt modelId="{4AE50C88-220F-4884-BE6E-B1C4E5840AEF}" type="parTrans" cxnId="{59446B5F-833C-450A-AD02-54A94444EBA6}">
      <dgm:prSet/>
      <dgm:spPr/>
      <dgm:t>
        <a:bodyPr/>
        <a:lstStyle/>
        <a:p>
          <a:endParaRPr lang="en-US"/>
        </a:p>
      </dgm:t>
    </dgm:pt>
    <dgm:pt modelId="{F923019D-20B9-4902-A752-B6EEFE47524A}" type="sibTrans" cxnId="{59446B5F-833C-450A-AD02-54A94444EBA6}">
      <dgm:prSet/>
      <dgm:spPr/>
      <dgm:t>
        <a:bodyPr/>
        <a:lstStyle/>
        <a:p>
          <a:endParaRPr lang="en-US"/>
        </a:p>
      </dgm:t>
    </dgm:pt>
    <dgm:pt modelId="{0EAC2FAD-A0EE-4E07-B214-A17D4209B41D}">
      <dgm:prSet/>
      <dgm:spPr/>
      <dgm:t>
        <a:bodyPr/>
        <a:lstStyle/>
        <a:p>
          <a:r>
            <a:rPr lang="en-US" sz="1000" kern="1200"/>
            <a:t>Some complaints remained unresolved for </a:t>
          </a:r>
          <a:r>
            <a:rPr lang="en-US" sz="1000" b="1" kern="1200"/>
            <a:t>up to 18 months</a:t>
          </a:r>
          <a:r>
            <a:rPr lang="en-US" sz="1000" kern="1200"/>
            <a:t>.</a:t>
          </a:r>
        </a:p>
      </dgm:t>
    </dgm:pt>
    <dgm:pt modelId="{2CFDE694-E0A5-44ED-B54B-840827F484A9}" type="parTrans" cxnId="{4E5E78CC-0FFD-47C5-8E05-2A081451BAA9}">
      <dgm:prSet/>
      <dgm:spPr/>
      <dgm:t>
        <a:bodyPr/>
        <a:lstStyle/>
        <a:p>
          <a:endParaRPr lang="en-US"/>
        </a:p>
      </dgm:t>
    </dgm:pt>
    <dgm:pt modelId="{57C3960C-7AF9-448D-A2DF-09BE276B6EFD}" type="sibTrans" cxnId="{4E5E78CC-0FFD-47C5-8E05-2A081451BAA9}">
      <dgm:prSet/>
      <dgm:spPr/>
      <dgm:t>
        <a:bodyPr/>
        <a:lstStyle/>
        <a:p>
          <a:endParaRPr lang="en-US"/>
        </a:p>
      </dgm:t>
    </dgm:pt>
    <dgm:pt modelId="{981FB9F5-042D-4AD9-8DDE-391628E74F08}">
      <dgm:prSet/>
      <dgm:spPr/>
      <dgm:t>
        <a:bodyPr/>
        <a:lstStyle/>
        <a:p>
          <a:r>
            <a:rPr lang="en-US" sz="1000" kern="1200"/>
            <a:t>Demonstrates how delayed issue identification can directly impact vulnerable customers.</a:t>
          </a:r>
        </a:p>
      </dgm:t>
    </dgm:pt>
    <dgm:pt modelId="{ECC4743E-1017-47FA-A93C-A073720F3F27}" type="parTrans" cxnId="{74855E50-E741-48C8-949A-D9361EEC0B2D}">
      <dgm:prSet/>
      <dgm:spPr/>
      <dgm:t>
        <a:bodyPr/>
        <a:lstStyle/>
        <a:p>
          <a:endParaRPr lang="en-US"/>
        </a:p>
      </dgm:t>
    </dgm:pt>
    <dgm:pt modelId="{BFC2B07F-3432-4F00-B117-6C4B831F346F}" type="sibTrans" cxnId="{74855E50-E741-48C8-949A-D9361EEC0B2D}">
      <dgm:prSet/>
      <dgm:spPr/>
      <dgm:t>
        <a:bodyPr/>
        <a:lstStyle/>
        <a:p>
          <a:endParaRPr lang="en-US"/>
        </a:p>
      </dgm:t>
    </dgm:pt>
    <dgm:pt modelId="{A4D97700-BCAE-4A3A-B5A3-981720FB91BC}">
      <dgm:prSet/>
      <dgm:spPr/>
      <dgm:t>
        <a:bodyPr/>
        <a:lstStyle/>
        <a:p>
          <a:r>
            <a:rPr lang="en-US" b="1"/>
            <a:t>Consumer Satisfaction</a:t>
          </a:r>
          <a:endParaRPr lang="en-US"/>
        </a:p>
      </dgm:t>
    </dgm:pt>
    <dgm:pt modelId="{9ABA7C6F-9F4D-4013-8B21-A07FF85AE7D3}" type="parTrans" cxnId="{FE3C5A35-BA72-4A4B-827D-40840B0464A8}">
      <dgm:prSet/>
      <dgm:spPr/>
      <dgm:t>
        <a:bodyPr/>
        <a:lstStyle/>
        <a:p>
          <a:endParaRPr lang="en-US"/>
        </a:p>
      </dgm:t>
    </dgm:pt>
    <dgm:pt modelId="{7E738AAB-AB89-4E1C-980E-F5D35B9E1E53}" type="sibTrans" cxnId="{FE3C5A35-BA72-4A4B-827D-40840B0464A8}">
      <dgm:prSet/>
      <dgm:spPr/>
      <dgm:t>
        <a:bodyPr/>
        <a:lstStyle/>
        <a:p>
          <a:endParaRPr lang="en-US"/>
        </a:p>
      </dgm:t>
    </dgm:pt>
    <dgm:pt modelId="{9AF15801-3AE2-4DEA-97FE-0ADF418C2BC0}">
      <dgm:prSet/>
      <dgm:spPr/>
      <dgm:t>
        <a:bodyPr/>
        <a:lstStyle/>
        <a:p>
          <a:pPr marL="57150" lvl="1" indent="0" algn="l" defTabSz="444500">
            <a:lnSpc>
              <a:spcPct val="90000"/>
            </a:lnSpc>
            <a:spcBef>
              <a:spcPct val="0"/>
            </a:spcBef>
            <a:spcAft>
              <a:spcPct val="15000"/>
            </a:spcAft>
          </a:pPr>
          <a:r>
            <a:rPr lang="en-US" sz="1000" kern="1200"/>
            <a:t>Only </a:t>
          </a:r>
          <a:r>
            <a:rPr lang="en-US" sz="1000" b="1" kern="1200"/>
            <a:t>44% of customers</a:t>
          </a:r>
          <a:r>
            <a:rPr lang="en-US" sz="1000" kern="1200"/>
            <a:t> were satisfied with how their complaint was handled.</a:t>
          </a:r>
        </a:p>
      </dgm:t>
    </dgm:pt>
    <dgm:pt modelId="{6C55AA38-4BE4-40CC-ADBB-343654D7A165}" type="parTrans" cxnId="{CE3F87F7-9F2F-4736-8C85-B8179CED686D}">
      <dgm:prSet/>
      <dgm:spPr/>
      <dgm:t>
        <a:bodyPr/>
        <a:lstStyle/>
        <a:p>
          <a:endParaRPr lang="en-US"/>
        </a:p>
      </dgm:t>
    </dgm:pt>
    <dgm:pt modelId="{D4360C9D-A3CC-4885-83CF-E45E519EDD52}" type="sibTrans" cxnId="{CE3F87F7-9F2F-4736-8C85-B8179CED686D}">
      <dgm:prSet/>
      <dgm:spPr/>
      <dgm:t>
        <a:bodyPr/>
        <a:lstStyle/>
        <a:p>
          <a:endParaRPr lang="en-US"/>
        </a:p>
      </dgm:t>
    </dgm:pt>
    <dgm:pt modelId="{4AEAB63C-29BC-4F1A-B994-F2082F1E2B91}">
      <dgm:prSet custT="1"/>
      <dgm:spPr/>
      <dgm:t>
        <a:bodyPr/>
        <a:lstStyle/>
        <a:p>
          <a:pPr marL="57150" lvl="1" indent="0" algn="l" defTabSz="444500">
            <a:lnSpc>
              <a:spcPct val="90000"/>
            </a:lnSpc>
            <a:spcBef>
              <a:spcPct val="0"/>
            </a:spcBef>
            <a:spcAft>
              <a:spcPct val="15000"/>
            </a:spcAft>
          </a:pPr>
          <a:r>
            <a:rPr lang="en-US" sz="1000" kern="1200"/>
            <a:t>More than half of complainants reported </a:t>
          </a:r>
          <a:r>
            <a:rPr lang="en-US" sz="1000" kern="1200">
              <a:solidFill>
                <a:prstClr val="black">
                  <a:hueOff val="0"/>
                  <a:satOff val="0"/>
                  <a:lumOff val="0"/>
                  <a:alphaOff val="0"/>
                </a:prstClr>
              </a:solidFill>
              <a:latin typeface="Aptos"/>
              <a:ea typeface="+mn-ea"/>
              <a:cs typeface="+mn-cs"/>
            </a:rPr>
            <a:t>dissatisfaction</a:t>
          </a:r>
          <a:r>
            <a:rPr lang="en-US" sz="1000" kern="1200"/>
            <a:t> with complaint resolution.</a:t>
          </a:r>
        </a:p>
      </dgm:t>
    </dgm:pt>
    <dgm:pt modelId="{AD555156-862A-43EF-9EF9-8F1E26F04E5D}" type="parTrans" cxnId="{C6262445-5CE3-496C-A422-B69CCBEC5390}">
      <dgm:prSet/>
      <dgm:spPr/>
      <dgm:t>
        <a:bodyPr/>
        <a:lstStyle/>
        <a:p>
          <a:endParaRPr lang="en-US"/>
        </a:p>
      </dgm:t>
    </dgm:pt>
    <dgm:pt modelId="{D765B34E-3A5A-4817-9CEA-761A528FD71E}" type="sibTrans" cxnId="{C6262445-5CE3-496C-A422-B69CCBEC5390}">
      <dgm:prSet/>
      <dgm:spPr/>
      <dgm:t>
        <a:bodyPr/>
        <a:lstStyle/>
        <a:p>
          <a:endParaRPr lang="en-US"/>
        </a:p>
      </dgm:t>
    </dgm:pt>
    <dgm:pt modelId="{71963D07-5733-4E27-A451-9B1969DA20C0}">
      <dgm:prSet/>
      <dgm:spPr/>
      <dgm:t>
        <a:bodyPr/>
        <a:lstStyle/>
        <a:p>
          <a:r>
            <a:rPr lang="en-US" b="1"/>
            <a:t>Unresolved Customer Issues</a:t>
          </a:r>
          <a:endParaRPr lang="en-US"/>
        </a:p>
      </dgm:t>
    </dgm:pt>
    <dgm:pt modelId="{C8F12BE5-1EC5-456D-A0A8-6C23C489E1AB}" type="parTrans" cxnId="{ED3B480F-B4A4-48D7-A7BF-43A5C95B00C4}">
      <dgm:prSet/>
      <dgm:spPr/>
      <dgm:t>
        <a:bodyPr/>
        <a:lstStyle/>
        <a:p>
          <a:endParaRPr lang="en-US"/>
        </a:p>
      </dgm:t>
    </dgm:pt>
    <dgm:pt modelId="{0A48B4E5-F67A-4C10-9309-EE2D3D738FC7}" type="sibTrans" cxnId="{ED3B480F-B4A4-48D7-A7BF-43A5C95B00C4}">
      <dgm:prSet/>
      <dgm:spPr/>
      <dgm:t>
        <a:bodyPr/>
        <a:lstStyle/>
        <a:p>
          <a:endParaRPr lang="en-US"/>
        </a:p>
      </dgm:t>
    </dgm:pt>
    <dgm:pt modelId="{40BA9664-454A-4AAA-9855-FCBC601089DC}">
      <dgm:prSet/>
      <dgm:spPr/>
      <dgm:t>
        <a:bodyPr/>
        <a:lstStyle/>
        <a:p>
          <a:r>
            <a:rPr lang="en-US" sz="1000" b="1"/>
            <a:t>34% of customers</a:t>
          </a:r>
          <a:r>
            <a:rPr lang="en-US" sz="1000"/>
            <a:t> reporting smart-meter issues stated that their problem was still unresolved or under investigation.</a:t>
          </a:r>
        </a:p>
      </dgm:t>
    </dgm:pt>
    <dgm:pt modelId="{2000B57E-DAE5-497A-9C9A-F6F84B4B855E}" type="parTrans" cxnId="{A5E8676B-497C-4DE8-B5D1-ECE5D70F99AB}">
      <dgm:prSet/>
      <dgm:spPr/>
      <dgm:t>
        <a:bodyPr/>
        <a:lstStyle/>
        <a:p>
          <a:endParaRPr lang="en-US"/>
        </a:p>
      </dgm:t>
    </dgm:pt>
    <dgm:pt modelId="{33DDF62B-6EEE-4C02-91BD-BC474CB04DA8}" type="sibTrans" cxnId="{A5E8676B-497C-4DE8-B5D1-ECE5D70F99AB}">
      <dgm:prSet/>
      <dgm:spPr/>
      <dgm:t>
        <a:bodyPr/>
        <a:lstStyle/>
        <a:p>
          <a:endParaRPr lang="en-US"/>
        </a:p>
      </dgm:t>
    </dgm:pt>
    <dgm:pt modelId="{A57ECDC5-9FE6-4CEB-9F40-B9F7692D3E2D}">
      <dgm:prSet/>
      <dgm:spPr/>
      <dgm:t>
        <a:bodyPr/>
        <a:lstStyle/>
        <a:p>
          <a:r>
            <a:rPr lang="en-US" b="1"/>
            <a:t>Source:</a:t>
          </a:r>
          <a:r>
            <a:rPr lang="en-US"/>
            <a:t> Ofgem Survey (2024)</a:t>
          </a:r>
        </a:p>
      </dgm:t>
    </dgm:pt>
    <dgm:pt modelId="{95DBC3D5-3228-4E1B-A782-F918B0C199E2}" type="parTrans" cxnId="{46119F85-0C95-4924-8D27-18F3E23BF921}">
      <dgm:prSet/>
      <dgm:spPr/>
      <dgm:t>
        <a:bodyPr/>
        <a:lstStyle/>
        <a:p>
          <a:endParaRPr lang="en-US"/>
        </a:p>
      </dgm:t>
    </dgm:pt>
    <dgm:pt modelId="{E106E37B-DABA-4326-A381-E438D00DD4C4}" type="sibTrans" cxnId="{46119F85-0C95-4924-8D27-18F3E23BF921}">
      <dgm:prSet/>
      <dgm:spPr/>
      <dgm:t>
        <a:bodyPr/>
        <a:lstStyle/>
        <a:p>
          <a:endParaRPr lang="en-US"/>
        </a:p>
      </dgm:t>
    </dgm:pt>
    <dgm:pt modelId="{C2A422C8-3C1D-45D5-9929-BACC25FD3245}">
      <dgm:prSet custT="1"/>
      <dgm:spPr/>
      <dgm:t>
        <a:bodyPr/>
        <a:lstStyle/>
        <a:p>
          <a:pPr>
            <a:buFont typeface="Wingdings" panose="05000000000000000000" pitchFamily="2" charset="2"/>
            <a:buChar char="q"/>
          </a:pPr>
          <a:r>
            <a:rPr lang="en-US" sz="800" b="1" kern="1200">
              <a:solidFill>
                <a:srgbClr val="00263E"/>
              </a:solidFill>
              <a:latin typeface="Aptos"/>
              <a:ea typeface="+mn-ea"/>
              <a:cs typeface="+mn-cs"/>
            </a:rPr>
            <a:t>Source: Ofgem (2024)</a:t>
          </a:r>
          <a:endParaRPr lang="en-US" sz="1000" kern="1200"/>
        </a:p>
      </dgm:t>
    </dgm:pt>
    <dgm:pt modelId="{843B0A13-6D08-4640-BA03-150A04B986B9}" type="parTrans" cxnId="{D92ADB08-6EEC-4FE6-99B0-C15998ED37A7}">
      <dgm:prSet/>
      <dgm:spPr/>
      <dgm:t>
        <a:bodyPr/>
        <a:lstStyle/>
        <a:p>
          <a:endParaRPr lang="en-US"/>
        </a:p>
      </dgm:t>
    </dgm:pt>
    <dgm:pt modelId="{71D4CEB2-8BEB-49BB-96DF-DFAEAC75BA89}" type="sibTrans" cxnId="{D92ADB08-6EEC-4FE6-99B0-C15998ED37A7}">
      <dgm:prSet/>
      <dgm:spPr/>
      <dgm:t>
        <a:bodyPr/>
        <a:lstStyle/>
        <a:p>
          <a:endParaRPr lang="en-US"/>
        </a:p>
      </dgm:t>
    </dgm:pt>
    <dgm:pt modelId="{4D306C7F-D2B3-413E-9DE9-52E563991AD1}">
      <dgm:prSet custT="1"/>
      <dgm:spPr/>
      <dgm:t>
        <a:bodyPr/>
        <a:lstStyle/>
        <a:p>
          <a:pPr marL="57150" lvl="1" indent="-57150" algn="l" defTabSz="355600">
            <a:lnSpc>
              <a:spcPct val="90000"/>
            </a:lnSpc>
            <a:spcBef>
              <a:spcPct val="0"/>
            </a:spcBef>
            <a:spcAft>
              <a:spcPct val="15000"/>
            </a:spcAft>
            <a:buFont typeface="Wingdings" panose="05000000000000000000" pitchFamily="2" charset="2"/>
            <a:buChar char="q"/>
          </a:pPr>
          <a:r>
            <a:rPr lang="en-US" sz="800" b="1" kern="1200">
              <a:solidFill>
                <a:srgbClr val="00263E"/>
              </a:solidFill>
              <a:latin typeface="Aptos"/>
              <a:ea typeface="+mn-ea"/>
              <a:cs typeface="+mn-cs"/>
            </a:rPr>
            <a:t>Source: Ofgem Energy Consumer Satisfaction Survey (2025)</a:t>
          </a:r>
        </a:p>
      </dgm:t>
    </dgm:pt>
    <dgm:pt modelId="{ECBB0CD7-5279-4A99-ADB5-3B8478CC16A7}" type="parTrans" cxnId="{79599D3E-C4DC-45A0-9E50-8F3A14B733EB}">
      <dgm:prSet/>
      <dgm:spPr/>
      <dgm:t>
        <a:bodyPr/>
        <a:lstStyle/>
        <a:p>
          <a:endParaRPr lang="en-US"/>
        </a:p>
      </dgm:t>
    </dgm:pt>
    <dgm:pt modelId="{CDD59307-DC99-423E-8C74-FF8202A7ADEF}" type="sibTrans" cxnId="{79599D3E-C4DC-45A0-9E50-8F3A14B733EB}">
      <dgm:prSet/>
      <dgm:spPr/>
      <dgm:t>
        <a:bodyPr/>
        <a:lstStyle/>
        <a:p>
          <a:endParaRPr lang="en-US"/>
        </a:p>
      </dgm:t>
    </dgm:pt>
    <dgm:pt modelId="{B721F5DA-E051-4FAF-B083-606D3DF855C5}">
      <dgm:prSet custT="1"/>
      <dgm:spPr/>
      <dgm:t>
        <a:bodyPr/>
        <a:lstStyle/>
        <a:p>
          <a:pPr>
            <a:buFont typeface="Wingdings" panose="05000000000000000000" pitchFamily="2" charset="2"/>
            <a:buChar char="q"/>
          </a:pPr>
          <a:r>
            <a:rPr lang="en-US" sz="800" b="1">
              <a:solidFill>
                <a:srgbClr val="00263E"/>
              </a:solidFill>
              <a:latin typeface="Aptos"/>
              <a:ea typeface="+mn-ea"/>
              <a:cs typeface="+mn-cs"/>
            </a:rPr>
            <a:t>Source: Ofgem (2024)</a:t>
          </a:r>
          <a:endParaRPr lang="en-US" sz="800"/>
        </a:p>
      </dgm:t>
    </dgm:pt>
    <dgm:pt modelId="{493ACDD9-78C0-402A-8093-06A8825C074D}" type="parTrans" cxnId="{292ED7B4-B638-45D9-9A4A-2D6B3A4A4C3D}">
      <dgm:prSet/>
      <dgm:spPr/>
      <dgm:t>
        <a:bodyPr/>
        <a:lstStyle/>
        <a:p>
          <a:endParaRPr lang="en-US"/>
        </a:p>
      </dgm:t>
    </dgm:pt>
    <dgm:pt modelId="{5CA2123F-528E-4421-889B-3043D5C76D94}" type="sibTrans" cxnId="{292ED7B4-B638-45D9-9A4A-2D6B3A4A4C3D}">
      <dgm:prSet/>
      <dgm:spPr/>
      <dgm:t>
        <a:bodyPr/>
        <a:lstStyle/>
        <a:p>
          <a:endParaRPr lang="en-US"/>
        </a:p>
      </dgm:t>
    </dgm:pt>
    <dgm:pt modelId="{A10AB25C-AA63-4D67-B249-7F4B90DF0D91}" type="pres">
      <dgm:prSet presAssocID="{F3AF5E6A-897E-4ACE-8A9E-CD22D40ADFA5}" presName="linear" presStyleCnt="0">
        <dgm:presLayoutVars>
          <dgm:dir/>
          <dgm:animLvl val="lvl"/>
          <dgm:resizeHandles val="exact"/>
        </dgm:presLayoutVars>
      </dgm:prSet>
      <dgm:spPr/>
    </dgm:pt>
    <dgm:pt modelId="{5CDCEAA8-380B-407F-A7E5-610DBB17B4CE}" type="pres">
      <dgm:prSet presAssocID="{76A2A8B6-2C83-47BB-95AE-9AA6EADFD7F8}" presName="parentLin" presStyleCnt="0"/>
      <dgm:spPr/>
    </dgm:pt>
    <dgm:pt modelId="{F9C8C25B-17B1-46FC-808C-A1F9673674E2}" type="pres">
      <dgm:prSet presAssocID="{76A2A8B6-2C83-47BB-95AE-9AA6EADFD7F8}" presName="parentLeftMargin" presStyleLbl="node1" presStyleIdx="0" presStyleCnt="5"/>
      <dgm:spPr/>
    </dgm:pt>
    <dgm:pt modelId="{D17EDC43-DBD9-4C3B-B544-388833534F2D}" type="pres">
      <dgm:prSet presAssocID="{76A2A8B6-2C83-47BB-95AE-9AA6EADFD7F8}" presName="parentText" presStyleLbl="node1" presStyleIdx="0" presStyleCnt="5">
        <dgm:presLayoutVars>
          <dgm:chMax val="0"/>
          <dgm:bulletEnabled val="1"/>
        </dgm:presLayoutVars>
      </dgm:prSet>
      <dgm:spPr/>
    </dgm:pt>
    <dgm:pt modelId="{000B5D4B-138F-483B-998B-AF828299AE0F}" type="pres">
      <dgm:prSet presAssocID="{76A2A8B6-2C83-47BB-95AE-9AA6EADFD7F8}" presName="negativeSpace" presStyleCnt="0"/>
      <dgm:spPr/>
    </dgm:pt>
    <dgm:pt modelId="{270CD2F2-D521-494A-9FE5-74349AFAD5BB}" type="pres">
      <dgm:prSet presAssocID="{76A2A8B6-2C83-47BB-95AE-9AA6EADFD7F8}" presName="childText" presStyleLbl="conFgAcc1" presStyleIdx="0" presStyleCnt="5">
        <dgm:presLayoutVars>
          <dgm:bulletEnabled val="1"/>
        </dgm:presLayoutVars>
      </dgm:prSet>
      <dgm:spPr/>
    </dgm:pt>
    <dgm:pt modelId="{FA664BD1-4B7E-462C-83E1-C9D50D4CC56B}" type="pres">
      <dgm:prSet presAssocID="{385AFA9C-7141-44F0-B140-5C327E2BF164}" presName="spaceBetweenRectangles" presStyleCnt="0"/>
      <dgm:spPr/>
    </dgm:pt>
    <dgm:pt modelId="{ABDED82F-71B3-41C1-B397-DA6B871521E8}" type="pres">
      <dgm:prSet presAssocID="{7B018414-E768-4778-9B88-8E820ACB109C}" presName="parentLin" presStyleCnt="0"/>
      <dgm:spPr/>
    </dgm:pt>
    <dgm:pt modelId="{F786F013-4601-4EFD-B5E6-3F0BF6BD1757}" type="pres">
      <dgm:prSet presAssocID="{7B018414-E768-4778-9B88-8E820ACB109C}" presName="parentLeftMargin" presStyleLbl="node1" presStyleIdx="0" presStyleCnt="5"/>
      <dgm:spPr/>
    </dgm:pt>
    <dgm:pt modelId="{100EABE9-CABA-413E-AF6B-56D03774A761}" type="pres">
      <dgm:prSet presAssocID="{7B018414-E768-4778-9B88-8E820ACB109C}" presName="parentText" presStyleLbl="node1" presStyleIdx="1" presStyleCnt="5">
        <dgm:presLayoutVars>
          <dgm:chMax val="0"/>
          <dgm:bulletEnabled val="1"/>
        </dgm:presLayoutVars>
      </dgm:prSet>
      <dgm:spPr/>
    </dgm:pt>
    <dgm:pt modelId="{9A6F9AA9-DE8F-40AF-8E52-8DC057652661}" type="pres">
      <dgm:prSet presAssocID="{7B018414-E768-4778-9B88-8E820ACB109C}" presName="negativeSpace" presStyleCnt="0"/>
      <dgm:spPr/>
    </dgm:pt>
    <dgm:pt modelId="{3961D80A-D986-4989-AAF5-DDD485598750}" type="pres">
      <dgm:prSet presAssocID="{7B018414-E768-4778-9B88-8E820ACB109C}" presName="childText" presStyleLbl="conFgAcc1" presStyleIdx="1" presStyleCnt="5">
        <dgm:presLayoutVars>
          <dgm:bulletEnabled val="1"/>
        </dgm:presLayoutVars>
      </dgm:prSet>
      <dgm:spPr/>
    </dgm:pt>
    <dgm:pt modelId="{27FFDB28-BF85-4CCB-B3B7-14FD4781E2ED}" type="pres">
      <dgm:prSet presAssocID="{34B735FE-9C03-4EAB-896A-6508262EF755}" presName="spaceBetweenRectangles" presStyleCnt="0"/>
      <dgm:spPr/>
    </dgm:pt>
    <dgm:pt modelId="{2CDBAEE9-CEF7-460D-8BE5-3474038FA80D}" type="pres">
      <dgm:prSet presAssocID="{A4D97700-BCAE-4A3A-B5A3-981720FB91BC}" presName="parentLin" presStyleCnt="0"/>
      <dgm:spPr/>
    </dgm:pt>
    <dgm:pt modelId="{CA420F3D-F0F6-4AA9-BB24-51D8E7C892DF}" type="pres">
      <dgm:prSet presAssocID="{A4D97700-BCAE-4A3A-B5A3-981720FB91BC}" presName="parentLeftMargin" presStyleLbl="node1" presStyleIdx="1" presStyleCnt="5"/>
      <dgm:spPr/>
    </dgm:pt>
    <dgm:pt modelId="{9AA88F4C-2871-4FD1-9A92-9842F744CC18}" type="pres">
      <dgm:prSet presAssocID="{A4D97700-BCAE-4A3A-B5A3-981720FB91BC}" presName="parentText" presStyleLbl="node1" presStyleIdx="2" presStyleCnt="5">
        <dgm:presLayoutVars>
          <dgm:chMax val="0"/>
          <dgm:bulletEnabled val="1"/>
        </dgm:presLayoutVars>
      </dgm:prSet>
      <dgm:spPr/>
    </dgm:pt>
    <dgm:pt modelId="{6EF58A68-A195-4874-B1F9-9FB2A7BEF642}" type="pres">
      <dgm:prSet presAssocID="{A4D97700-BCAE-4A3A-B5A3-981720FB91BC}" presName="negativeSpace" presStyleCnt="0"/>
      <dgm:spPr/>
    </dgm:pt>
    <dgm:pt modelId="{AEF54E70-4DE5-4543-A7BF-12D2A25CD938}" type="pres">
      <dgm:prSet presAssocID="{A4D97700-BCAE-4A3A-B5A3-981720FB91BC}" presName="childText" presStyleLbl="conFgAcc1" presStyleIdx="2" presStyleCnt="5">
        <dgm:presLayoutVars>
          <dgm:bulletEnabled val="1"/>
        </dgm:presLayoutVars>
      </dgm:prSet>
      <dgm:spPr/>
    </dgm:pt>
    <dgm:pt modelId="{A0BD868C-DAB2-44A2-AC5D-0986EC2E1C8D}" type="pres">
      <dgm:prSet presAssocID="{7E738AAB-AB89-4E1C-980E-F5D35B9E1E53}" presName="spaceBetweenRectangles" presStyleCnt="0"/>
      <dgm:spPr/>
    </dgm:pt>
    <dgm:pt modelId="{2DC18998-AD6A-4421-A355-298EAB404DE8}" type="pres">
      <dgm:prSet presAssocID="{71963D07-5733-4E27-A451-9B1969DA20C0}" presName="parentLin" presStyleCnt="0"/>
      <dgm:spPr/>
    </dgm:pt>
    <dgm:pt modelId="{52ACB75F-B9D4-4809-9B3A-0BEF21E6DE65}" type="pres">
      <dgm:prSet presAssocID="{71963D07-5733-4E27-A451-9B1969DA20C0}" presName="parentLeftMargin" presStyleLbl="node1" presStyleIdx="2" presStyleCnt="5"/>
      <dgm:spPr/>
    </dgm:pt>
    <dgm:pt modelId="{EE927680-B863-4661-AA70-445BD21D1153}" type="pres">
      <dgm:prSet presAssocID="{71963D07-5733-4E27-A451-9B1969DA20C0}" presName="parentText" presStyleLbl="node1" presStyleIdx="3" presStyleCnt="5">
        <dgm:presLayoutVars>
          <dgm:chMax val="0"/>
          <dgm:bulletEnabled val="1"/>
        </dgm:presLayoutVars>
      </dgm:prSet>
      <dgm:spPr/>
    </dgm:pt>
    <dgm:pt modelId="{ED92ABF8-5369-4AD0-BC5D-B418F241557A}" type="pres">
      <dgm:prSet presAssocID="{71963D07-5733-4E27-A451-9B1969DA20C0}" presName="negativeSpace" presStyleCnt="0"/>
      <dgm:spPr/>
    </dgm:pt>
    <dgm:pt modelId="{D13AF780-C1E1-44BB-9442-E241D3F40D4A}" type="pres">
      <dgm:prSet presAssocID="{71963D07-5733-4E27-A451-9B1969DA20C0}" presName="childText" presStyleLbl="conFgAcc1" presStyleIdx="3" presStyleCnt="5">
        <dgm:presLayoutVars>
          <dgm:bulletEnabled val="1"/>
        </dgm:presLayoutVars>
      </dgm:prSet>
      <dgm:spPr/>
    </dgm:pt>
    <dgm:pt modelId="{D2844133-2C68-4DE2-B705-AD0E5954D7F9}" type="pres">
      <dgm:prSet presAssocID="{0A48B4E5-F67A-4C10-9309-EE2D3D738FC7}" presName="spaceBetweenRectangles" presStyleCnt="0"/>
      <dgm:spPr/>
    </dgm:pt>
    <dgm:pt modelId="{E1406C94-CBF3-4A3F-9A38-612A576B0C68}" type="pres">
      <dgm:prSet presAssocID="{A57ECDC5-9FE6-4CEB-9F40-B9F7692D3E2D}" presName="parentLin" presStyleCnt="0"/>
      <dgm:spPr/>
    </dgm:pt>
    <dgm:pt modelId="{C8C24225-FBEB-4945-8A89-10875DEB5D88}" type="pres">
      <dgm:prSet presAssocID="{A57ECDC5-9FE6-4CEB-9F40-B9F7692D3E2D}" presName="parentLeftMargin" presStyleLbl="node1" presStyleIdx="3" presStyleCnt="5"/>
      <dgm:spPr/>
    </dgm:pt>
    <dgm:pt modelId="{CAE1B171-4620-45F7-BE20-F17422F95C17}" type="pres">
      <dgm:prSet presAssocID="{A57ECDC5-9FE6-4CEB-9F40-B9F7692D3E2D}" presName="parentText" presStyleLbl="node1" presStyleIdx="4" presStyleCnt="5">
        <dgm:presLayoutVars>
          <dgm:chMax val="0"/>
          <dgm:bulletEnabled val="1"/>
        </dgm:presLayoutVars>
      </dgm:prSet>
      <dgm:spPr/>
    </dgm:pt>
    <dgm:pt modelId="{48746679-7564-4E83-9DE2-8B4D96197CF7}" type="pres">
      <dgm:prSet presAssocID="{A57ECDC5-9FE6-4CEB-9F40-B9F7692D3E2D}" presName="negativeSpace" presStyleCnt="0"/>
      <dgm:spPr/>
    </dgm:pt>
    <dgm:pt modelId="{8364B185-9250-4C92-B384-F28843992C81}" type="pres">
      <dgm:prSet presAssocID="{A57ECDC5-9FE6-4CEB-9F40-B9F7692D3E2D}" presName="childText" presStyleLbl="conFgAcc1" presStyleIdx="4" presStyleCnt="5">
        <dgm:presLayoutVars>
          <dgm:bulletEnabled val="1"/>
        </dgm:presLayoutVars>
      </dgm:prSet>
      <dgm:spPr/>
    </dgm:pt>
  </dgm:ptLst>
  <dgm:cxnLst>
    <dgm:cxn modelId="{D92ADB08-6EEC-4FE6-99B0-C15998ED37A7}" srcId="{7B018414-E768-4778-9B88-8E820ACB109C}" destId="{C2A422C8-3C1D-45D5-9929-BACC25FD3245}" srcOrd="4" destOrd="0" parTransId="{843B0A13-6D08-4640-BA03-150A04B986B9}" sibTransId="{71D4CEB2-8BEB-49BB-96DF-DFAEAC75BA89}"/>
    <dgm:cxn modelId="{ED3B480F-B4A4-48D7-A7BF-43A5C95B00C4}" srcId="{F3AF5E6A-897E-4ACE-8A9E-CD22D40ADFA5}" destId="{71963D07-5733-4E27-A451-9B1969DA20C0}" srcOrd="3" destOrd="0" parTransId="{C8F12BE5-1EC5-456D-A0A8-6C23C489E1AB}" sibTransId="{0A48B4E5-F67A-4C10-9309-EE2D3D738FC7}"/>
    <dgm:cxn modelId="{D0B3FA19-825E-403D-B9C1-CADC1D41D0A4}" type="presOf" srcId="{A57ECDC5-9FE6-4CEB-9F40-B9F7692D3E2D}" destId="{CAE1B171-4620-45F7-BE20-F17422F95C17}" srcOrd="1" destOrd="0" presId="urn:microsoft.com/office/officeart/2005/8/layout/list1"/>
    <dgm:cxn modelId="{569D9B1A-CCC7-4D5B-A7FA-A8AE95C6DD7F}" type="presOf" srcId="{A57ECDC5-9FE6-4CEB-9F40-B9F7692D3E2D}" destId="{C8C24225-FBEB-4945-8A89-10875DEB5D88}" srcOrd="0" destOrd="0" presId="urn:microsoft.com/office/officeart/2005/8/layout/list1"/>
    <dgm:cxn modelId="{D8403926-2719-4331-9B0C-134693172AF5}" type="presOf" srcId="{A4D97700-BCAE-4A3A-B5A3-981720FB91BC}" destId="{CA420F3D-F0F6-4AA9-BB24-51D8E7C892DF}" srcOrd="0" destOrd="0" presId="urn:microsoft.com/office/officeart/2005/8/layout/list1"/>
    <dgm:cxn modelId="{2E845C29-2F54-4D0A-991F-F4B61AFEFD1F}" type="presOf" srcId="{B721F5DA-E051-4FAF-B083-606D3DF855C5}" destId="{D13AF780-C1E1-44BB-9442-E241D3F40D4A}" srcOrd="0" destOrd="1" presId="urn:microsoft.com/office/officeart/2005/8/layout/list1"/>
    <dgm:cxn modelId="{A9AE7D2F-26A6-4243-9FFB-EC4E4BECE431}" type="presOf" srcId="{4AEAB63C-29BC-4F1A-B994-F2082F1E2B91}" destId="{AEF54E70-4DE5-4543-A7BF-12D2A25CD938}" srcOrd="0" destOrd="1" presId="urn:microsoft.com/office/officeart/2005/8/layout/list1"/>
    <dgm:cxn modelId="{FE3C5A35-BA72-4A4B-827D-40840B0464A8}" srcId="{F3AF5E6A-897E-4ACE-8A9E-CD22D40ADFA5}" destId="{A4D97700-BCAE-4A3A-B5A3-981720FB91BC}" srcOrd="2" destOrd="0" parTransId="{9ABA7C6F-9F4D-4013-8B21-A07FF85AE7D3}" sibTransId="{7E738AAB-AB89-4E1C-980E-F5D35B9E1E53}"/>
    <dgm:cxn modelId="{79599D3E-C4DC-45A0-9E50-8F3A14B733EB}" srcId="{A4D97700-BCAE-4A3A-B5A3-981720FB91BC}" destId="{4D306C7F-D2B3-413E-9DE9-52E563991AD1}" srcOrd="2" destOrd="0" parTransId="{ECBB0CD7-5279-4A99-ADB5-3B8478CC16A7}" sibTransId="{CDD59307-DC99-423E-8C74-FF8202A7ADEF}"/>
    <dgm:cxn modelId="{59446B5F-833C-450A-AD02-54A94444EBA6}" srcId="{7B018414-E768-4778-9B88-8E820ACB109C}" destId="{E93C7E12-0F2C-4158-9316-545B15DDFF8C}" srcOrd="1" destOrd="0" parTransId="{4AE50C88-220F-4884-BE6E-B1C4E5840AEF}" sibTransId="{F923019D-20B9-4902-A752-B6EEFE47524A}"/>
    <dgm:cxn modelId="{2A0F1E65-5140-4588-AD72-61E41BE5AC60}" type="presOf" srcId="{7B018414-E768-4778-9B88-8E820ACB109C}" destId="{100EABE9-CABA-413E-AF6B-56D03774A761}" srcOrd="1" destOrd="0" presId="urn:microsoft.com/office/officeart/2005/8/layout/list1"/>
    <dgm:cxn modelId="{C6262445-5CE3-496C-A422-B69CCBEC5390}" srcId="{A4D97700-BCAE-4A3A-B5A3-981720FB91BC}" destId="{4AEAB63C-29BC-4F1A-B994-F2082F1E2B91}" srcOrd="1" destOrd="0" parTransId="{AD555156-862A-43EF-9EF9-8F1E26F04E5D}" sibTransId="{D765B34E-3A5A-4817-9CEA-761A528FD71E}"/>
    <dgm:cxn modelId="{591B4A65-7B13-4853-9069-9CC682BBF54D}" type="presOf" srcId="{76A2A8B6-2C83-47BB-95AE-9AA6EADFD7F8}" destId="{F9C8C25B-17B1-46FC-808C-A1F9673674E2}" srcOrd="0" destOrd="0" presId="urn:microsoft.com/office/officeart/2005/8/layout/list1"/>
    <dgm:cxn modelId="{A5E8676B-497C-4DE8-B5D1-ECE5D70F99AB}" srcId="{71963D07-5733-4E27-A451-9B1969DA20C0}" destId="{40BA9664-454A-4AAA-9855-FCBC601089DC}" srcOrd="0" destOrd="0" parTransId="{2000B57E-DAE5-497A-9C9A-F6F84B4B855E}" sibTransId="{33DDF62B-6EEE-4C02-91BD-BC474CB04DA8}"/>
    <dgm:cxn modelId="{4F0FE44C-2076-4BF7-A376-9410582D8728}" type="presOf" srcId="{76A2A8B6-2C83-47BB-95AE-9AA6EADFD7F8}" destId="{D17EDC43-DBD9-4C3B-B544-388833534F2D}" srcOrd="1" destOrd="0" presId="urn:microsoft.com/office/officeart/2005/8/layout/list1"/>
    <dgm:cxn modelId="{DEC0F34F-06E3-4F90-AFEF-8EAE72BF3DA3}" type="presOf" srcId="{71963D07-5733-4E27-A451-9B1969DA20C0}" destId="{EE927680-B863-4661-AA70-445BD21D1153}" srcOrd="1" destOrd="0" presId="urn:microsoft.com/office/officeart/2005/8/layout/list1"/>
    <dgm:cxn modelId="{74855E50-E741-48C8-949A-D9361EEC0B2D}" srcId="{7B018414-E768-4778-9B88-8E820ACB109C}" destId="{981FB9F5-042D-4AD9-8DDE-391628E74F08}" srcOrd="3" destOrd="0" parTransId="{ECC4743E-1017-47FA-A93C-A073720F3F27}" sibTransId="{BFC2B07F-3432-4F00-B117-6C4B831F346F}"/>
    <dgm:cxn modelId="{7220FA76-1ED6-4204-B894-F237CE202A37}" type="presOf" srcId="{8B919A8D-0155-4960-97B6-7B41194D4C6D}" destId="{3961D80A-D986-4989-AAF5-DDD485598750}" srcOrd="0" destOrd="0" presId="urn:microsoft.com/office/officeart/2005/8/layout/list1"/>
    <dgm:cxn modelId="{46119F85-0C95-4924-8D27-18F3E23BF921}" srcId="{F3AF5E6A-897E-4ACE-8A9E-CD22D40ADFA5}" destId="{A57ECDC5-9FE6-4CEB-9F40-B9F7692D3E2D}" srcOrd="4" destOrd="0" parTransId="{95DBC3D5-3228-4E1B-A782-F918B0C199E2}" sibTransId="{E106E37B-DABA-4326-A381-E438D00DD4C4}"/>
    <dgm:cxn modelId="{A7CF638D-D085-4A23-B192-B0A582EDA17C}" type="presOf" srcId="{A4D97700-BCAE-4A3A-B5A3-981720FB91BC}" destId="{9AA88F4C-2871-4FD1-9A92-9842F744CC18}" srcOrd="1" destOrd="0" presId="urn:microsoft.com/office/officeart/2005/8/layout/list1"/>
    <dgm:cxn modelId="{C55CC68F-287C-4F62-B07E-77117FF580E3}" type="presOf" srcId="{0EAC2FAD-A0EE-4E07-B214-A17D4209B41D}" destId="{3961D80A-D986-4989-AAF5-DDD485598750}" srcOrd="0" destOrd="2" presId="urn:microsoft.com/office/officeart/2005/8/layout/list1"/>
    <dgm:cxn modelId="{6B3F26A0-607B-449B-96DA-A2BFA88C6118}" srcId="{7B018414-E768-4778-9B88-8E820ACB109C}" destId="{8B919A8D-0155-4960-97B6-7B41194D4C6D}" srcOrd="0" destOrd="0" parTransId="{773C4187-B1D6-4531-A75C-9074A50DCBCD}" sibTransId="{01BDE3CB-3E81-4EB1-A289-308953C5D4E9}"/>
    <dgm:cxn modelId="{56CCA4AE-4496-4486-AC44-9A424F7D78B0}" type="presOf" srcId="{71963D07-5733-4E27-A451-9B1969DA20C0}" destId="{52ACB75F-B9D4-4809-9B3A-0BEF21E6DE65}" srcOrd="0" destOrd="0" presId="urn:microsoft.com/office/officeart/2005/8/layout/list1"/>
    <dgm:cxn modelId="{292ED7B4-B638-45D9-9A4A-2D6B3A4A4C3D}" srcId="{71963D07-5733-4E27-A451-9B1969DA20C0}" destId="{B721F5DA-E051-4FAF-B083-606D3DF855C5}" srcOrd="1" destOrd="0" parTransId="{493ACDD9-78C0-402A-8093-06A8825C074D}" sibTransId="{5CA2123F-528E-4421-889B-3043D5C76D94}"/>
    <dgm:cxn modelId="{97D858B8-7EF8-4122-B36C-3356A5C1CAEB}" type="presOf" srcId="{40BA9664-454A-4AAA-9855-FCBC601089DC}" destId="{D13AF780-C1E1-44BB-9442-E241D3F40D4A}" srcOrd="0" destOrd="0" presId="urn:microsoft.com/office/officeart/2005/8/layout/list1"/>
    <dgm:cxn modelId="{4E5E78CC-0FFD-47C5-8E05-2A081451BAA9}" srcId="{7B018414-E768-4778-9B88-8E820ACB109C}" destId="{0EAC2FAD-A0EE-4E07-B214-A17D4209B41D}" srcOrd="2" destOrd="0" parTransId="{2CFDE694-E0A5-44ED-B54B-840827F484A9}" sibTransId="{57C3960C-7AF9-448D-A2DF-09BE276B6EFD}"/>
    <dgm:cxn modelId="{5527A4D1-773D-4143-873E-467C5803A8C2}" type="presOf" srcId="{7B018414-E768-4778-9B88-8E820ACB109C}" destId="{F786F013-4601-4EFD-B5E6-3F0BF6BD1757}" srcOrd="0" destOrd="0" presId="urn:microsoft.com/office/officeart/2005/8/layout/list1"/>
    <dgm:cxn modelId="{71DE9DD9-8FCC-4A62-A981-21C4AB6EE3B8}" type="presOf" srcId="{9AF15801-3AE2-4DEA-97FE-0ADF418C2BC0}" destId="{AEF54E70-4DE5-4543-A7BF-12D2A25CD938}" srcOrd="0" destOrd="0" presId="urn:microsoft.com/office/officeart/2005/8/layout/list1"/>
    <dgm:cxn modelId="{5ED503E4-0554-4B0F-B97A-56A8E3C273AD}" type="presOf" srcId="{C2A422C8-3C1D-45D5-9929-BACC25FD3245}" destId="{3961D80A-D986-4989-AAF5-DDD485598750}" srcOrd="0" destOrd="4" presId="urn:microsoft.com/office/officeart/2005/8/layout/list1"/>
    <dgm:cxn modelId="{D99AABE4-3F62-40B8-8622-92FDD97AAF12}" type="presOf" srcId="{981FB9F5-042D-4AD9-8DDE-391628E74F08}" destId="{3961D80A-D986-4989-AAF5-DDD485598750}" srcOrd="0" destOrd="3" presId="urn:microsoft.com/office/officeart/2005/8/layout/list1"/>
    <dgm:cxn modelId="{0BFBDAEA-3C6D-405B-9436-1ED417A612A3}" srcId="{F3AF5E6A-897E-4ACE-8A9E-CD22D40ADFA5}" destId="{7B018414-E768-4778-9B88-8E820ACB109C}" srcOrd="1" destOrd="0" parTransId="{BD1132D8-2B39-42DA-BEA8-B106C0DA955D}" sibTransId="{34B735FE-9C03-4EAB-896A-6508262EF755}"/>
    <dgm:cxn modelId="{546561EB-E111-42FD-87AB-B1C0776CCE34}" type="presOf" srcId="{F3AF5E6A-897E-4ACE-8A9E-CD22D40ADFA5}" destId="{A10AB25C-AA63-4D67-B249-7F4B90DF0D91}" srcOrd="0" destOrd="0" presId="urn:microsoft.com/office/officeart/2005/8/layout/list1"/>
    <dgm:cxn modelId="{800E10EC-CB6E-4D2C-A792-58B6ECD674CF}" type="presOf" srcId="{E93C7E12-0F2C-4158-9316-545B15DDFF8C}" destId="{3961D80A-D986-4989-AAF5-DDD485598750}" srcOrd="0" destOrd="1" presId="urn:microsoft.com/office/officeart/2005/8/layout/list1"/>
    <dgm:cxn modelId="{428E93EE-7769-4732-B5FD-213BFE33930A}" type="presOf" srcId="{4D306C7F-D2B3-413E-9DE9-52E563991AD1}" destId="{AEF54E70-4DE5-4543-A7BF-12D2A25CD938}" srcOrd="0" destOrd="2" presId="urn:microsoft.com/office/officeart/2005/8/layout/list1"/>
    <dgm:cxn modelId="{B35015F2-62D3-49F1-93DE-466882E886B5}" srcId="{F3AF5E6A-897E-4ACE-8A9E-CD22D40ADFA5}" destId="{76A2A8B6-2C83-47BB-95AE-9AA6EADFD7F8}" srcOrd="0" destOrd="0" parTransId="{E8C4CE6F-7F10-4B55-8B23-1EB321059FD3}" sibTransId="{385AFA9C-7141-44F0-B140-5C327E2BF164}"/>
    <dgm:cxn modelId="{CE3F87F7-9F2F-4736-8C85-B8179CED686D}" srcId="{A4D97700-BCAE-4A3A-B5A3-981720FB91BC}" destId="{9AF15801-3AE2-4DEA-97FE-0ADF418C2BC0}" srcOrd="0" destOrd="0" parTransId="{6C55AA38-4BE4-40CC-ADBB-343654D7A165}" sibTransId="{D4360C9D-A3CC-4885-83CF-E45E519EDD52}"/>
    <dgm:cxn modelId="{F25BF818-6827-4128-B862-5DB9032F91FA}" type="presParOf" srcId="{A10AB25C-AA63-4D67-B249-7F4B90DF0D91}" destId="{5CDCEAA8-380B-407F-A7E5-610DBB17B4CE}" srcOrd="0" destOrd="0" presId="urn:microsoft.com/office/officeart/2005/8/layout/list1"/>
    <dgm:cxn modelId="{BD527486-2265-4885-87D2-14E7829598C2}" type="presParOf" srcId="{5CDCEAA8-380B-407F-A7E5-610DBB17B4CE}" destId="{F9C8C25B-17B1-46FC-808C-A1F9673674E2}" srcOrd="0" destOrd="0" presId="urn:microsoft.com/office/officeart/2005/8/layout/list1"/>
    <dgm:cxn modelId="{A6292D41-C274-49E0-A46F-51E1EDA1ED6E}" type="presParOf" srcId="{5CDCEAA8-380B-407F-A7E5-610DBB17B4CE}" destId="{D17EDC43-DBD9-4C3B-B544-388833534F2D}" srcOrd="1" destOrd="0" presId="urn:microsoft.com/office/officeart/2005/8/layout/list1"/>
    <dgm:cxn modelId="{B21CF9E5-E6C1-465B-9B34-42CF0C69B68F}" type="presParOf" srcId="{A10AB25C-AA63-4D67-B249-7F4B90DF0D91}" destId="{000B5D4B-138F-483B-998B-AF828299AE0F}" srcOrd="1" destOrd="0" presId="urn:microsoft.com/office/officeart/2005/8/layout/list1"/>
    <dgm:cxn modelId="{84FBFFAD-5601-49E6-95AB-D1FB959F999C}" type="presParOf" srcId="{A10AB25C-AA63-4D67-B249-7F4B90DF0D91}" destId="{270CD2F2-D521-494A-9FE5-74349AFAD5BB}" srcOrd="2" destOrd="0" presId="urn:microsoft.com/office/officeart/2005/8/layout/list1"/>
    <dgm:cxn modelId="{D302C55B-0228-40D3-90C0-08172790CAEA}" type="presParOf" srcId="{A10AB25C-AA63-4D67-B249-7F4B90DF0D91}" destId="{FA664BD1-4B7E-462C-83E1-C9D50D4CC56B}" srcOrd="3" destOrd="0" presId="urn:microsoft.com/office/officeart/2005/8/layout/list1"/>
    <dgm:cxn modelId="{C768DB44-CBF0-45B7-A81C-29298A2F5773}" type="presParOf" srcId="{A10AB25C-AA63-4D67-B249-7F4B90DF0D91}" destId="{ABDED82F-71B3-41C1-B397-DA6B871521E8}" srcOrd="4" destOrd="0" presId="urn:microsoft.com/office/officeart/2005/8/layout/list1"/>
    <dgm:cxn modelId="{02499C9E-32B2-4F13-BD9D-BA25422CF6D8}" type="presParOf" srcId="{ABDED82F-71B3-41C1-B397-DA6B871521E8}" destId="{F786F013-4601-4EFD-B5E6-3F0BF6BD1757}" srcOrd="0" destOrd="0" presId="urn:microsoft.com/office/officeart/2005/8/layout/list1"/>
    <dgm:cxn modelId="{05932737-EC84-40CF-8543-CAA470F45116}" type="presParOf" srcId="{ABDED82F-71B3-41C1-B397-DA6B871521E8}" destId="{100EABE9-CABA-413E-AF6B-56D03774A761}" srcOrd="1" destOrd="0" presId="urn:microsoft.com/office/officeart/2005/8/layout/list1"/>
    <dgm:cxn modelId="{149D7F37-19F0-4BB8-B0E8-4D49C16FD668}" type="presParOf" srcId="{A10AB25C-AA63-4D67-B249-7F4B90DF0D91}" destId="{9A6F9AA9-DE8F-40AF-8E52-8DC057652661}" srcOrd="5" destOrd="0" presId="urn:microsoft.com/office/officeart/2005/8/layout/list1"/>
    <dgm:cxn modelId="{67CB73C5-C9F1-47B8-A7D6-55C91B35956E}" type="presParOf" srcId="{A10AB25C-AA63-4D67-B249-7F4B90DF0D91}" destId="{3961D80A-D986-4989-AAF5-DDD485598750}" srcOrd="6" destOrd="0" presId="urn:microsoft.com/office/officeart/2005/8/layout/list1"/>
    <dgm:cxn modelId="{64072AA1-31F3-4AF6-AF53-5B7100D64288}" type="presParOf" srcId="{A10AB25C-AA63-4D67-B249-7F4B90DF0D91}" destId="{27FFDB28-BF85-4CCB-B3B7-14FD4781E2ED}" srcOrd="7" destOrd="0" presId="urn:microsoft.com/office/officeart/2005/8/layout/list1"/>
    <dgm:cxn modelId="{2AE611F3-9816-485C-8E97-E2BAC0C54B7D}" type="presParOf" srcId="{A10AB25C-AA63-4D67-B249-7F4B90DF0D91}" destId="{2CDBAEE9-CEF7-460D-8BE5-3474038FA80D}" srcOrd="8" destOrd="0" presId="urn:microsoft.com/office/officeart/2005/8/layout/list1"/>
    <dgm:cxn modelId="{2A50C48A-B1FF-4C35-9B13-268A70503043}" type="presParOf" srcId="{2CDBAEE9-CEF7-460D-8BE5-3474038FA80D}" destId="{CA420F3D-F0F6-4AA9-BB24-51D8E7C892DF}" srcOrd="0" destOrd="0" presId="urn:microsoft.com/office/officeart/2005/8/layout/list1"/>
    <dgm:cxn modelId="{6EE65C89-6745-4D7A-89E4-8558A018AFBE}" type="presParOf" srcId="{2CDBAEE9-CEF7-460D-8BE5-3474038FA80D}" destId="{9AA88F4C-2871-4FD1-9A92-9842F744CC18}" srcOrd="1" destOrd="0" presId="urn:microsoft.com/office/officeart/2005/8/layout/list1"/>
    <dgm:cxn modelId="{BBE7F55F-518B-45B9-823F-6B65746B50A4}" type="presParOf" srcId="{A10AB25C-AA63-4D67-B249-7F4B90DF0D91}" destId="{6EF58A68-A195-4874-B1F9-9FB2A7BEF642}" srcOrd="9" destOrd="0" presId="urn:microsoft.com/office/officeart/2005/8/layout/list1"/>
    <dgm:cxn modelId="{A62851C2-18F2-44DD-9E5A-F31B880288FF}" type="presParOf" srcId="{A10AB25C-AA63-4D67-B249-7F4B90DF0D91}" destId="{AEF54E70-4DE5-4543-A7BF-12D2A25CD938}" srcOrd="10" destOrd="0" presId="urn:microsoft.com/office/officeart/2005/8/layout/list1"/>
    <dgm:cxn modelId="{A198F813-E827-4668-B33E-001FAB160F9E}" type="presParOf" srcId="{A10AB25C-AA63-4D67-B249-7F4B90DF0D91}" destId="{A0BD868C-DAB2-44A2-AC5D-0986EC2E1C8D}" srcOrd="11" destOrd="0" presId="urn:microsoft.com/office/officeart/2005/8/layout/list1"/>
    <dgm:cxn modelId="{92958986-964D-4F44-8C7B-60F01917D6A9}" type="presParOf" srcId="{A10AB25C-AA63-4D67-B249-7F4B90DF0D91}" destId="{2DC18998-AD6A-4421-A355-298EAB404DE8}" srcOrd="12" destOrd="0" presId="urn:microsoft.com/office/officeart/2005/8/layout/list1"/>
    <dgm:cxn modelId="{8AE9C95B-2622-420A-989C-BDFC7D372FE1}" type="presParOf" srcId="{2DC18998-AD6A-4421-A355-298EAB404DE8}" destId="{52ACB75F-B9D4-4809-9B3A-0BEF21E6DE65}" srcOrd="0" destOrd="0" presId="urn:microsoft.com/office/officeart/2005/8/layout/list1"/>
    <dgm:cxn modelId="{4300BAB3-B8B0-460C-87E2-2DCDF816D94F}" type="presParOf" srcId="{2DC18998-AD6A-4421-A355-298EAB404DE8}" destId="{EE927680-B863-4661-AA70-445BD21D1153}" srcOrd="1" destOrd="0" presId="urn:microsoft.com/office/officeart/2005/8/layout/list1"/>
    <dgm:cxn modelId="{EE4A431A-38EF-46ED-A9CD-A524980F5515}" type="presParOf" srcId="{A10AB25C-AA63-4D67-B249-7F4B90DF0D91}" destId="{ED92ABF8-5369-4AD0-BC5D-B418F241557A}" srcOrd="13" destOrd="0" presId="urn:microsoft.com/office/officeart/2005/8/layout/list1"/>
    <dgm:cxn modelId="{3EE62D93-117D-4854-93C2-7F6508106F39}" type="presParOf" srcId="{A10AB25C-AA63-4D67-B249-7F4B90DF0D91}" destId="{D13AF780-C1E1-44BB-9442-E241D3F40D4A}" srcOrd="14" destOrd="0" presId="urn:microsoft.com/office/officeart/2005/8/layout/list1"/>
    <dgm:cxn modelId="{19721783-F39A-4830-BEB5-78C5E7511C79}" type="presParOf" srcId="{A10AB25C-AA63-4D67-B249-7F4B90DF0D91}" destId="{D2844133-2C68-4DE2-B705-AD0E5954D7F9}" srcOrd="15" destOrd="0" presId="urn:microsoft.com/office/officeart/2005/8/layout/list1"/>
    <dgm:cxn modelId="{CBFB5DBC-A9C4-430D-82AF-6AF82F478A2E}" type="presParOf" srcId="{A10AB25C-AA63-4D67-B249-7F4B90DF0D91}" destId="{E1406C94-CBF3-4A3F-9A38-612A576B0C68}" srcOrd="16" destOrd="0" presId="urn:microsoft.com/office/officeart/2005/8/layout/list1"/>
    <dgm:cxn modelId="{F12FAF30-AD83-4516-BAD2-AED6FA7186C8}" type="presParOf" srcId="{E1406C94-CBF3-4A3F-9A38-612A576B0C68}" destId="{C8C24225-FBEB-4945-8A89-10875DEB5D88}" srcOrd="0" destOrd="0" presId="urn:microsoft.com/office/officeart/2005/8/layout/list1"/>
    <dgm:cxn modelId="{13519531-685C-471A-A0B6-13C47C375D04}" type="presParOf" srcId="{E1406C94-CBF3-4A3F-9A38-612A576B0C68}" destId="{CAE1B171-4620-45F7-BE20-F17422F95C17}" srcOrd="1" destOrd="0" presId="urn:microsoft.com/office/officeart/2005/8/layout/list1"/>
    <dgm:cxn modelId="{9F7E6085-4BED-4132-A285-A0E78210DE06}" type="presParOf" srcId="{A10AB25C-AA63-4D67-B249-7F4B90DF0D91}" destId="{48746679-7564-4E83-9DE2-8B4D96197CF7}" srcOrd="17" destOrd="0" presId="urn:microsoft.com/office/officeart/2005/8/layout/list1"/>
    <dgm:cxn modelId="{E6773A81-7F02-42D8-B4B7-9892E35795B1}" type="presParOf" srcId="{A10AB25C-AA63-4D67-B249-7F4B90DF0D91}" destId="{8364B185-9250-4C92-B384-F28843992C81}" srcOrd="18"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3AF5E6A-897E-4ACE-8A9E-CD22D40ADFA5}" type="doc">
      <dgm:prSet loTypeId="urn:microsoft.com/office/officeart/2005/8/layout/list1" loCatId="list" qsTypeId="urn:microsoft.com/office/officeart/2005/8/quickstyle/simple1#2" qsCatId="simple" csTypeId="urn:microsoft.com/office/officeart/2005/8/colors/accent2_2#2" csCatId="accent2" phldr="1"/>
      <dgm:spPr/>
      <dgm:t>
        <a:bodyPr/>
        <a:lstStyle/>
        <a:p>
          <a:endParaRPr lang="en-US"/>
        </a:p>
      </dgm:t>
    </dgm:pt>
    <dgm:pt modelId="{76A2A8B6-2C83-47BB-95AE-9AA6EADFD7F8}">
      <dgm:prSet custT="1"/>
      <dgm:spPr/>
      <dgm:t>
        <a:bodyPr/>
        <a:lstStyle/>
        <a:p>
          <a:r>
            <a:rPr lang="en-US" sz="1200" b="1">
              <a:effectLst/>
            </a:rPr>
            <a:t>Business Impact</a:t>
          </a:r>
          <a:endParaRPr lang="en-US" sz="1200"/>
        </a:p>
      </dgm:t>
    </dgm:pt>
    <dgm:pt modelId="{E8C4CE6F-7F10-4B55-8B23-1EB321059FD3}" type="parTrans" cxnId="{B35015F2-62D3-49F1-93DE-466882E886B5}">
      <dgm:prSet/>
      <dgm:spPr/>
      <dgm:t>
        <a:bodyPr/>
        <a:lstStyle/>
        <a:p>
          <a:endParaRPr lang="en-US"/>
        </a:p>
      </dgm:t>
    </dgm:pt>
    <dgm:pt modelId="{385AFA9C-7141-44F0-B140-5C327E2BF164}" type="sibTrans" cxnId="{B35015F2-62D3-49F1-93DE-466882E886B5}">
      <dgm:prSet/>
      <dgm:spPr/>
      <dgm:t>
        <a:bodyPr/>
        <a:lstStyle/>
        <a:p>
          <a:endParaRPr lang="en-US"/>
        </a:p>
      </dgm:t>
    </dgm:pt>
    <dgm:pt modelId="{7B018414-E768-4778-9B88-8E820ACB109C}">
      <dgm:prSet/>
      <dgm:spPr/>
      <dgm:t>
        <a:bodyPr/>
        <a:lstStyle/>
        <a:p>
          <a:r>
            <a:rPr lang="en-US" b="1">
              <a:effectLst/>
            </a:rPr>
            <a:t>Financial Penalties</a:t>
          </a:r>
          <a:endParaRPr lang="en-US"/>
        </a:p>
      </dgm:t>
    </dgm:pt>
    <dgm:pt modelId="{BD1132D8-2B39-42DA-BEA8-B106C0DA955D}" type="parTrans" cxnId="{0BFBDAEA-3C6D-405B-9436-1ED417A612A3}">
      <dgm:prSet/>
      <dgm:spPr/>
      <dgm:t>
        <a:bodyPr/>
        <a:lstStyle/>
        <a:p>
          <a:endParaRPr lang="en-US"/>
        </a:p>
      </dgm:t>
    </dgm:pt>
    <dgm:pt modelId="{34B735FE-9C03-4EAB-896A-6508262EF755}" type="sibTrans" cxnId="{0BFBDAEA-3C6D-405B-9436-1ED417A612A3}">
      <dgm:prSet/>
      <dgm:spPr/>
      <dgm:t>
        <a:bodyPr/>
        <a:lstStyle/>
        <a:p>
          <a:endParaRPr lang="en-US"/>
        </a:p>
      </dgm:t>
    </dgm:pt>
    <dgm:pt modelId="{8B919A8D-0155-4960-97B6-7B41194D4C6D}">
      <dgm:prSet/>
      <dgm:spPr/>
      <dgm:t>
        <a:bodyPr/>
        <a:lstStyle/>
        <a:p>
          <a:pPr marL="114300" lvl="1" indent="0" algn="l" defTabSz="533400">
            <a:lnSpc>
              <a:spcPct val="90000"/>
            </a:lnSpc>
            <a:spcBef>
              <a:spcPct val="0"/>
            </a:spcBef>
            <a:spcAft>
              <a:spcPct val="15000"/>
            </a:spcAft>
          </a:pPr>
          <a:r>
            <a:rPr lang="en-US" sz="1200" kern="1200">
              <a:effectLst/>
            </a:rPr>
            <a:t>OVO paid </a:t>
          </a:r>
          <a:r>
            <a:rPr lang="en-US" sz="1200" b="1" kern="1200">
              <a:effectLst/>
            </a:rPr>
            <a:t>£378,512 directly to affected customers</a:t>
          </a:r>
          <a:r>
            <a:rPr lang="en-US" sz="1200" kern="1200">
              <a:effectLst/>
            </a:rPr>
            <a:t>.</a:t>
          </a:r>
          <a:endParaRPr lang="en-US" sz="1200" kern="1200"/>
        </a:p>
      </dgm:t>
    </dgm:pt>
    <dgm:pt modelId="{773C4187-B1D6-4531-A75C-9074A50DCBCD}" type="parTrans" cxnId="{6B3F26A0-607B-449B-96DA-A2BFA88C6118}">
      <dgm:prSet/>
      <dgm:spPr/>
      <dgm:t>
        <a:bodyPr/>
        <a:lstStyle/>
        <a:p>
          <a:endParaRPr lang="en-US"/>
        </a:p>
      </dgm:t>
    </dgm:pt>
    <dgm:pt modelId="{01BDE3CB-3E81-4EB1-A289-308953C5D4E9}" type="sibTrans" cxnId="{6B3F26A0-607B-449B-96DA-A2BFA88C6118}">
      <dgm:prSet/>
      <dgm:spPr/>
      <dgm:t>
        <a:bodyPr/>
        <a:lstStyle/>
        <a:p>
          <a:endParaRPr lang="en-US"/>
        </a:p>
      </dgm:t>
    </dgm:pt>
    <dgm:pt modelId="{A4D97700-BCAE-4A3A-B5A3-981720FB91BC}">
      <dgm:prSet/>
      <dgm:spPr/>
      <dgm:t>
        <a:bodyPr/>
        <a:lstStyle/>
        <a:p>
          <a:r>
            <a:rPr lang="en-US" b="1">
              <a:effectLst/>
            </a:rPr>
            <a:t>Customer Churn &amp; Revenue Risk</a:t>
          </a:r>
          <a:endParaRPr lang="en-US"/>
        </a:p>
      </dgm:t>
    </dgm:pt>
    <dgm:pt modelId="{9ABA7C6F-9F4D-4013-8B21-A07FF85AE7D3}" type="parTrans" cxnId="{FE3C5A35-BA72-4A4B-827D-40840B0464A8}">
      <dgm:prSet/>
      <dgm:spPr/>
      <dgm:t>
        <a:bodyPr/>
        <a:lstStyle/>
        <a:p>
          <a:endParaRPr lang="en-US"/>
        </a:p>
      </dgm:t>
    </dgm:pt>
    <dgm:pt modelId="{7E738AAB-AB89-4E1C-980E-F5D35B9E1E53}" type="sibTrans" cxnId="{FE3C5A35-BA72-4A4B-827D-40840B0464A8}">
      <dgm:prSet/>
      <dgm:spPr/>
      <dgm:t>
        <a:bodyPr/>
        <a:lstStyle/>
        <a:p>
          <a:endParaRPr lang="en-US"/>
        </a:p>
      </dgm:t>
    </dgm:pt>
    <dgm:pt modelId="{9AF15801-3AE2-4DEA-97FE-0ADF418C2BC0}">
      <dgm:prSet/>
      <dgm:spPr/>
      <dgm:t>
        <a:bodyPr/>
        <a:lstStyle/>
        <a:p>
          <a:pPr marL="114300" lvl="1" indent="0" algn="l" defTabSz="533400">
            <a:lnSpc>
              <a:spcPct val="90000"/>
            </a:lnSpc>
            <a:spcBef>
              <a:spcPct val="0"/>
            </a:spcBef>
            <a:spcAft>
              <a:spcPct val="15000"/>
            </a:spcAft>
          </a:pPr>
          <a:r>
            <a:rPr lang="en-US" sz="1200" b="1" kern="1200">
              <a:effectLst/>
            </a:rPr>
            <a:t>1.2 million energy customers</a:t>
          </a:r>
          <a:r>
            <a:rPr lang="en-US" sz="1200" kern="1200">
              <a:effectLst/>
            </a:rPr>
            <a:t> were estimated to be </a:t>
          </a:r>
          <a:r>
            <a:rPr lang="en-US" sz="1200" b="1" kern="1200">
              <a:effectLst/>
            </a:rPr>
            <a:t>£166 million worse off</a:t>
          </a:r>
          <a:r>
            <a:rPr lang="en-US" sz="1200" kern="1200">
              <a:effectLst/>
            </a:rPr>
            <a:t> after abandoning attempts to resolve issues with their supplier.</a:t>
          </a:r>
          <a:endParaRPr lang="en-US" sz="1200" kern="1200"/>
        </a:p>
      </dgm:t>
    </dgm:pt>
    <dgm:pt modelId="{6C55AA38-4BE4-40CC-ADBB-343654D7A165}" type="parTrans" cxnId="{CE3F87F7-9F2F-4736-8C85-B8179CED686D}">
      <dgm:prSet/>
      <dgm:spPr/>
      <dgm:t>
        <a:bodyPr/>
        <a:lstStyle/>
        <a:p>
          <a:endParaRPr lang="en-US"/>
        </a:p>
      </dgm:t>
    </dgm:pt>
    <dgm:pt modelId="{D4360C9D-A3CC-4885-83CF-E45E519EDD52}" type="sibTrans" cxnId="{CE3F87F7-9F2F-4736-8C85-B8179CED686D}">
      <dgm:prSet/>
      <dgm:spPr/>
      <dgm:t>
        <a:bodyPr/>
        <a:lstStyle/>
        <a:p>
          <a:endParaRPr lang="en-US"/>
        </a:p>
      </dgm:t>
    </dgm:pt>
    <dgm:pt modelId="{71963D07-5733-4E27-A451-9B1969DA20C0}">
      <dgm:prSet/>
      <dgm:spPr/>
      <dgm:t>
        <a:bodyPr/>
        <a:lstStyle/>
        <a:p>
          <a:r>
            <a:rPr lang="en-US" b="1">
              <a:effectLst/>
            </a:rPr>
            <a:t>Operational Cost</a:t>
          </a:r>
          <a:endParaRPr lang="en-US"/>
        </a:p>
      </dgm:t>
    </dgm:pt>
    <dgm:pt modelId="{C8F12BE5-1EC5-456D-A0A8-6C23C489E1AB}" type="parTrans" cxnId="{ED3B480F-B4A4-48D7-A7BF-43A5C95B00C4}">
      <dgm:prSet/>
      <dgm:spPr/>
      <dgm:t>
        <a:bodyPr/>
        <a:lstStyle/>
        <a:p>
          <a:endParaRPr lang="en-US"/>
        </a:p>
      </dgm:t>
    </dgm:pt>
    <dgm:pt modelId="{0A48B4E5-F67A-4C10-9309-EE2D3D738FC7}" type="sibTrans" cxnId="{ED3B480F-B4A4-48D7-A7BF-43A5C95B00C4}">
      <dgm:prSet/>
      <dgm:spPr/>
      <dgm:t>
        <a:bodyPr/>
        <a:lstStyle/>
        <a:p>
          <a:endParaRPr lang="en-US"/>
        </a:p>
      </dgm:t>
    </dgm:pt>
    <dgm:pt modelId="{40BA9664-454A-4AAA-9855-FCBC601089DC}">
      <dgm:prSet/>
      <dgm:spPr/>
      <dgm:t>
        <a:bodyPr/>
        <a:lstStyle/>
        <a:p>
          <a:r>
            <a:rPr lang="en-US">
              <a:effectLst/>
            </a:rPr>
            <a:t>Customers spent an estimated </a:t>
          </a:r>
          <a:r>
            <a:rPr lang="en-US" b="1">
              <a:effectLst/>
            </a:rPr>
            <a:t>13.9 million hours</a:t>
          </a:r>
          <a:r>
            <a:rPr lang="en-US">
              <a:effectLst/>
            </a:rPr>
            <a:t> dealing with energy-service issues.</a:t>
          </a:r>
          <a:endParaRPr lang="en-US"/>
        </a:p>
      </dgm:t>
    </dgm:pt>
    <dgm:pt modelId="{2000B57E-DAE5-497A-9C9A-F6F84B4B855E}" type="parTrans" cxnId="{A5E8676B-497C-4DE8-B5D1-ECE5D70F99AB}">
      <dgm:prSet/>
      <dgm:spPr/>
      <dgm:t>
        <a:bodyPr/>
        <a:lstStyle/>
        <a:p>
          <a:endParaRPr lang="en-US"/>
        </a:p>
      </dgm:t>
    </dgm:pt>
    <dgm:pt modelId="{33DDF62B-6EEE-4C02-91BD-BC474CB04DA8}" type="sibTrans" cxnId="{A5E8676B-497C-4DE8-B5D1-ECE5D70F99AB}">
      <dgm:prSet/>
      <dgm:spPr/>
      <dgm:t>
        <a:bodyPr/>
        <a:lstStyle/>
        <a:p>
          <a:endParaRPr lang="en-US"/>
        </a:p>
      </dgm:t>
    </dgm:pt>
    <dgm:pt modelId="{35875F52-9517-4274-B9EB-96A02F2D4C22}">
      <dgm:prSet/>
      <dgm:spPr/>
      <dgm:t>
        <a:bodyPr/>
        <a:lstStyle/>
        <a:p>
          <a:pPr marL="114300" lvl="1" indent="0" algn="l" defTabSz="533400">
            <a:lnSpc>
              <a:spcPct val="90000"/>
            </a:lnSpc>
            <a:spcBef>
              <a:spcPct val="0"/>
            </a:spcBef>
            <a:spcAft>
              <a:spcPct val="15000"/>
            </a:spcAft>
          </a:pPr>
          <a:r>
            <a:rPr lang="en-US" sz="1200" kern="1200">
              <a:effectLst/>
            </a:rPr>
            <a:t>Additional </a:t>
          </a:r>
          <a:r>
            <a:rPr lang="en-US" sz="1200" b="1" kern="1200">
              <a:effectLst/>
            </a:rPr>
            <a:t>£2 million contribution</a:t>
          </a:r>
          <a:r>
            <a:rPr lang="en-US" sz="1200" kern="1200">
              <a:effectLst/>
            </a:rPr>
            <a:t> made to the Energy Industry Voluntary Redress Scheme.</a:t>
          </a:r>
        </a:p>
      </dgm:t>
    </dgm:pt>
    <dgm:pt modelId="{2ED043FB-4753-4C89-A27E-311994268193}" type="parTrans" cxnId="{0401208E-13BA-4EF8-8FF9-E12FBEB0356A}">
      <dgm:prSet/>
      <dgm:spPr/>
      <dgm:t>
        <a:bodyPr/>
        <a:lstStyle/>
        <a:p>
          <a:endParaRPr lang="en-US"/>
        </a:p>
      </dgm:t>
    </dgm:pt>
    <dgm:pt modelId="{7029FEFC-6377-4E0D-B609-AB07ADD422CD}" type="sibTrans" cxnId="{0401208E-13BA-4EF8-8FF9-E12FBEB0356A}">
      <dgm:prSet/>
      <dgm:spPr/>
      <dgm:t>
        <a:bodyPr/>
        <a:lstStyle/>
        <a:p>
          <a:endParaRPr lang="en-US"/>
        </a:p>
      </dgm:t>
    </dgm:pt>
    <dgm:pt modelId="{3D48FF11-F185-4CB3-A993-E941518FF63E}">
      <dgm:prSet/>
      <dgm:spPr/>
      <dgm:t>
        <a:bodyPr/>
        <a:lstStyle/>
        <a:p>
          <a:pPr marL="114300" lvl="1" indent="0" algn="l" defTabSz="533400">
            <a:lnSpc>
              <a:spcPct val="90000"/>
            </a:lnSpc>
            <a:spcBef>
              <a:spcPct val="0"/>
            </a:spcBef>
            <a:spcAft>
              <a:spcPct val="15000"/>
            </a:spcAft>
          </a:pPr>
          <a:r>
            <a:rPr lang="en-US" sz="1200" kern="1200">
              <a:effectLst/>
            </a:rPr>
            <a:t>Total remediation cost exceeded </a:t>
          </a:r>
          <a:r>
            <a:rPr lang="en-US" sz="1200" b="1" kern="1200">
              <a:effectLst/>
            </a:rPr>
            <a:t>£2.37 million</a:t>
          </a:r>
          <a:r>
            <a:rPr lang="en-US" sz="1200" kern="1200">
              <a:effectLst/>
            </a:rPr>
            <a:t>.</a:t>
          </a:r>
        </a:p>
      </dgm:t>
    </dgm:pt>
    <dgm:pt modelId="{08820AC3-3815-41DF-A4C6-8D854ADD4926}" type="parTrans" cxnId="{845018AA-17E9-4FF4-AFA3-1912F81575E8}">
      <dgm:prSet/>
      <dgm:spPr/>
      <dgm:t>
        <a:bodyPr/>
        <a:lstStyle/>
        <a:p>
          <a:endParaRPr lang="en-US"/>
        </a:p>
      </dgm:t>
    </dgm:pt>
    <dgm:pt modelId="{7BE592DC-B58B-4A31-92A7-8A00696A764D}" type="sibTrans" cxnId="{845018AA-17E9-4FF4-AFA3-1912F81575E8}">
      <dgm:prSet/>
      <dgm:spPr/>
      <dgm:t>
        <a:bodyPr/>
        <a:lstStyle/>
        <a:p>
          <a:endParaRPr lang="en-US"/>
        </a:p>
      </dgm:t>
    </dgm:pt>
    <dgm:pt modelId="{6A552F90-B89E-403A-9BFF-26660283FDBC}">
      <dgm:prSet/>
      <dgm:spPr/>
      <dgm:t>
        <a:bodyPr/>
        <a:lstStyle/>
        <a:p>
          <a:r>
            <a:rPr lang="en-US">
              <a:effectLst/>
            </a:rPr>
            <a:t>Equivalent to roughly </a:t>
          </a:r>
          <a:r>
            <a:rPr lang="en-US" b="1">
              <a:effectLst/>
            </a:rPr>
            <a:t>1,600 years of customer time lost</a:t>
          </a:r>
          <a:r>
            <a:rPr lang="en-US">
              <a:effectLst/>
            </a:rPr>
            <a:t>.</a:t>
          </a:r>
        </a:p>
      </dgm:t>
    </dgm:pt>
    <dgm:pt modelId="{DF2133BF-9CEB-4EE5-A9BA-D38FB205AF37}" type="parTrans" cxnId="{997F8359-A7D4-4208-9DB2-8EDAF6348E97}">
      <dgm:prSet/>
      <dgm:spPr/>
      <dgm:t>
        <a:bodyPr/>
        <a:lstStyle/>
        <a:p>
          <a:endParaRPr lang="en-US"/>
        </a:p>
      </dgm:t>
    </dgm:pt>
    <dgm:pt modelId="{B0BF5A28-C52B-4A59-AC5F-7BAE8CD5D14B}" type="sibTrans" cxnId="{997F8359-A7D4-4208-9DB2-8EDAF6348E97}">
      <dgm:prSet/>
      <dgm:spPr/>
      <dgm:t>
        <a:bodyPr/>
        <a:lstStyle/>
        <a:p>
          <a:endParaRPr lang="en-US"/>
        </a:p>
      </dgm:t>
    </dgm:pt>
    <dgm:pt modelId="{755C551E-2720-4C34-9FF9-831F0DC5A252}">
      <dgm:prSet custT="1"/>
      <dgm:spPr/>
      <dgm:t>
        <a:bodyPr/>
        <a:lstStyle/>
        <a:p>
          <a:pPr marL="57150" lvl="1" indent="-57150" algn="l" defTabSz="355600">
            <a:lnSpc>
              <a:spcPct val="90000"/>
            </a:lnSpc>
            <a:spcBef>
              <a:spcPct val="0"/>
            </a:spcBef>
            <a:spcAft>
              <a:spcPct val="15000"/>
            </a:spcAft>
            <a:buFont typeface="Wingdings" panose="05000000000000000000" pitchFamily="2" charset="2"/>
            <a:buChar char="q"/>
          </a:pPr>
          <a:r>
            <a:rPr lang="en-US" sz="800" b="1" kern="1200">
              <a:solidFill>
                <a:srgbClr val="00263E"/>
              </a:solidFill>
              <a:latin typeface="Aptos"/>
              <a:ea typeface="+mn-ea"/>
              <a:cs typeface="+mn-cs"/>
            </a:rPr>
            <a:t>Source: Ofgem Enforcement Action</a:t>
          </a:r>
        </a:p>
      </dgm:t>
    </dgm:pt>
    <dgm:pt modelId="{283BFB1F-BFC3-4C09-B890-A04C46B61DCC}" type="parTrans" cxnId="{FDE59EB3-0118-4782-A656-5B80AFCF4BB4}">
      <dgm:prSet/>
      <dgm:spPr/>
      <dgm:t>
        <a:bodyPr/>
        <a:lstStyle/>
        <a:p>
          <a:endParaRPr lang="en-US"/>
        </a:p>
      </dgm:t>
    </dgm:pt>
    <dgm:pt modelId="{2DE9EA55-12AA-4116-A36D-84EF4C478E08}" type="sibTrans" cxnId="{FDE59EB3-0118-4782-A656-5B80AFCF4BB4}">
      <dgm:prSet/>
      <dgm:spPr/>
      <dgm:t>
        <a:bodyPr/>
        <a:lstStyle/>
        <a:p>
          <a:endParaRPr lang="en-US"/>
        </a:p>
      </dgm:t>
    </dgm:pt>
    <dgm:pt modelId="{B787E83E-4FEF-400E-9CB4-E65669AE3887}">
      <dgm:prSet custT="1"/>
      <dgm:spPr/>
      <dgm:t>
        <a:bodyPr/>
        <a:lstStyle/>
        <a:p>
          <a:pPr marL="57150" lvl="1" indent="-57150" algn="l" defTabSz="355600">
            <a:lnSpc>
              <a:spcPct val="90000"/>
            </a:lnSpc>
            <a:spcBef>
              <a:spcPct val="0"/>
            </a:spcBef>
            <a:spcAft>
              <a:spcPct val="15000"/>
            </a:spcAft>
            <a:buFont typeface="Wingdings" panose="05000000000000000000" pitchFamily="2" charset="2"/>
            <a:buChar char="q"/>
          </a:pPr>
          <a:r>
            <a:rPr lang="en-US" sz="800" b="1" kern="1200">
              <a:solidFill>
                <a:srgbClr val="00263E"/>
              </a:solidFill>
              <a:latin typeface="Aptos"/>
              <a:ea typeface="+mn-ea"/>
              <a:cs typeface="+mn-cs"/>
            </a:rPr>
            <a:t>Source: UK Government consultation response</a:t>
          </a:r>
        </a:p>
      </dgm:t>
    </dgm:pt>
    <dgm:pt modelId="{3936ED46-1DB6-4EB2-A346-15E23D93FF29}" type="parTrans" cxnId="{AD92A8E9-8079-4F92-B7E4-AD42696F4618}">
      <dgm:prSet/>
      <dgm:spPr/>
      <dgm:t>
        <a:bodyPr/>
        <a:lstStyle/>
        <a:p>
          <a:endParaRPr lang="en-US"/>
        </a:p>
      </dgm:t>
    </dgm:pt>
    <dgm:pt modelId="{B10E5062-DCFC-4D54-8D1A-DD909BB40244}" type="sibTrans" cxnId="{AD92A8E9-8079-4F92-B7E4-AD42696F4618}">
      <dgm:prSet/>
      <dgm:spPr/>
      <dgm:t>
        <a:bodyPr/>
        <a:lstStyle/>
        <a:p>
          <a:endParaRPr lang="en-US"/>
        </a:p>
      </dgm:t>
    </dgm:pt>
    <dgm:pt modelId="{180CE50F-5554-4C76-BBC9-6C453D34EE73}" type="pres">
      <dgm:prSet presAssocID="{F3AF5E6A-897E-4ACE-8A9E-CD22D40ADFA5}" presName="linear" presStyleCnt="0">
        <dgm:presLayoutVars>
          <dgm:dir/>
          <dgm:animLvl val="lvl"/>
          <dgm:resizeHandles val="exact"/>
        </dgm:presLayoutVars>
      </dgm:prSet>
      <dgm:spPr/>
    </dgm:pt>
    <dgm:pt modelId="{5C5D5924-5AC7-490A-8175-76F6340A3B21}" type="pres">
      <dgm:prSet presAssocID="{76A2A8B6-2C83-47BB-95AE-9AA6EADFD7F8}" presName="parentLin" presStyleCnt="0"/>
      <dgm:spPr/>
    </dgm:pt>
    <dgm:pt modelId="{E095D19A-3890-4321-8A4E-20CBEE5F2A9C}" type="pres">
      <dgm:prSet presAssocID="{76A2A8B6-2C83-47BB-95AE-9AA6EADFD7F8}" presName="parentLeftMargin" presStyleLbl="node1" presStyleIdx="0" presStyleCnt="4"/>
      <dgm:spPr/>
    </dgm:pt>
    <dgm:pt modelId="{18B0FFE6-B10C-4FC8-BAF3-3A26E8C5FE16}" type="pres">
      <dgm:prSet presAssocID="{76A2A8B6-2C83-47BB-95AE-9AA6EADFD7F8}" presName="parentText" presStyleLbl="node1" presStyleIdx="0" presStyleCnt="4">
        <dgm:presLayoutVars>
          <dgm:chMax val="0"/>
          <dgm:bulletEnabled val="1"/>
        </dgm:presLayoutVars>
      </dgm:prSet>
      <dgm:spPr/>
    </dgm:pt>
    <dgm:pt modelId="{13361309-AC1A-41CD-88E0-17873096EEB5}" type="pres">
      <dgm:prSet presAssocID="{76A2A8B6-2C83-47BB-95AE-9AA6EADFD7F8}" presName="negativeSpace" presStyleCnt="0"/>
      <dgm:spPr/>
    </dgm:pt>
    <dgm:pt modelId="{9261BB1F-EB71-416E-814A-5B9AC78A32C0}" type="pres">
      <dgm:prSet presAssocID="{76A2A8B6-2C83-47BB-95AE-9AA6EADFD7F8}" presName="childText" presStyleLbl="conFgAcc1" presStyleIdx="0" presStyleCnt="4">
        <dgm:presLayoutVars>
          <dgm:bulletEnabled val="1"/>
        </dgm:presLayoutVars>
      </dgm:prSet>
      <dgm:spPr/>
    </dgm:pt>
    <dgm:pt modelId="{7E4A7AF5-7898-4716-A4E9-72DA3A09093A}" type="pres">
      <dgm:prSet presAssocID="{385AFA9C-7141-44F0-B140-5C327E2BF164}" presName="spaceBetweenRectangles" presStyleCnt="0"/>
      <dgm:spPr/>
    </dgm:pt>
    <dgm:pt modelId="{1497935A-5F94-4AAA-950A-EC80E050E778}" type="pres">
      <dgm:prSet presAssocID="{7B018414-E768-4778-9B88-8E820ACB109C}" presName="parentLin" presStyleCnt="0"/>
      <dgm:spPr/>
    </dgm:pt>
    <dgm:pt modelId="{4A3E113F-A0C9-4607-B6B3-5FDED7D44F6A}" type="pres">
      <dgm:prSet presAssocID="{7B018414-E768-4778-9B88-8E820ACB109C}" presName="parentLeftMargin" presStyleLbl="node1" presStyleIdx="0" presStyleCnt="4"/>
      <dgm:spPr/>
    </dgm:pt>
    <dgm:pt modelId="{5049F503-F2B2-4EE4-AD5B-0F6383BFC45A}" type="pres">
      <dgm:prSet presAssocID="{7B018414-E768-4778-9B88-8E820ACB109C}" presName="parentText" presStyleLbl="node1" presStyleIdx="1" presStyleCnt="4">
        <dgm:presLayoutVars>
          <dgm:chMax val="0"/>
          <dgm:bulletEnabled val="1"/>
        </dgm:presLayoutVars>
      </dgm:prSet>
      <dgm:spPr/>
    </dgm:pt>
    <dgm:pt modelId="{CE955290-5F29-405F-8C62-ED76DD5DAD52}" type="pres">
      <dgm:prSet presAssocID="{7B018414-E768-4778-9B88-8E820ACB109C}" presName="negativeSpace" presStyleCnt="0"/>
      <dgm:spPr/>
    </dgm:pt>
    <dgm:pt modelId="{97D32938-A651-48D8-9A9E-1EDE5BC77941}" type="pres">
      <dgm:prSet presAssocID="{7B018414-E768-4778-9B88-8E820ACB109C}" presName="childText" presStyleLbl="conFgAcc1" presStyleIdx="1" presStyleCnt="4">
        <dgm:presLayoutVars>
          <dgm:bulletEnabled val="1"/>
        </dgm:presLayoutVars>
      </dgm:prSet>
      <dgm:spPr/>
    </dgm:pt>
    <dgm:pt modelId="{8387FC2A-284F-4604-9233-11B12AA2D118}" type="pres">
      <dgm:prSet presAssocID="{34B735FE-9C03-4EAB-896A-6508262EF755}" presName="spaceBetweenRectangles" presStyleCnt="0"/>
      <dgm:spPr/>
    </dgm:pt>
    <dgm:pt modelId="{B186B5E0-3DEE-4A68-978B-994D52976479}" type="pres">
      <dgm:prSet presAssocID="{A4D97700-BCAE-4A3A-B5A3-981720FB91BC}" presName="parentLin" presStyleCnt="0"/>
      <dgm:spPr/>
    </dgm:pt>
    <dgm:pt modelId="{36AE6B6C-DED7-45CF-97A1-691C061E9DEE}" type="pres">
      <dgm:prSet presAssocID="{A4D97700-BCAE-4A3A-B5A3-981720FB91BC}" presName="parentLeftMargin" presStyleLbl="node1" presStyleIdx="1" presStyleCnt="4"/>
      <dgm:spPr/>
    </dgm:pt>
    <dgm:pt modelId="{26B6FC12-5E41-45AE-ABE5-134CD9243C32}" type="pres">
      <dgm:prSet presAssocID="{A4D97700-BCAE-4A3A-B5A3-981720FB91BC}" presName="parentText" presStyleLbl="node1" presStyleIdx="2" presStyleCnt="4">
        <dgm:presLayoutVars>
          <dgm:chMax val="0"/>
          <dgm:bulletEnabled val="1"/>
        </dgm:presLayoutVars>
      </dgm:prSet>
      <dgm:spPr/>
    </dgm:pt>
    <dgm:pt modelId="{FC731B9C-894A-4950-9D6E-DC728BA82C0F}" type="pres">
      <dgm:prSet presAssocID="{A4D97700-BCAE-4A3A-B5A3-981720FB91BC}" presName="negativeSpace" presStyleCnt="0"/>
      <dgm:spPr/>
    </dgm:pt>
    <dgm:pt modelId="{7AC94D09-5951-4B3F-91C1-A96A6E997B86}" type="pres">
      <dgm:prSet presAssocID="{A4D97700-BCAE-4A3A-B5A3-981720FB91BC}" presName="childText" presStyleLbl="conFgAcc1" presStyleIdx="2" presStyleCnt="4">
        <dgm:presLayoutVars>
          <dgm:bulletEnabled val="1"/>
        </dgm:presLayoutVars>
      </dgm:prSet>
      <dgm:spPr/>
    </dgm:pt>
    <dgm:pt modelId="{DFC6F665-E0D8-4AAD-AF1F-74C9A1B4FD08}" type="pres">
      <dgm:prSet presAssocID="{7E738AAB-AB89-4E1C-980E-F5D35B9E1E53}" presName="spaceBetweenRectangles" presStyleCnt="0"/>
      <dgm:spPr/>
    </dgm:pt>
    <dgm:pt modelId="{86941F4A-4972-4002-B3B0-8E0B1FCD66F0}" type="pres">
      <dgm:prSet presAssocID="{71963D07-5733-4E27-A451-9B1969DA20C0}" presName="parentLin" presStyleCnt="0"/>
      <dgm:spPr/>
    </dgm:pt>
    <dgm:pt modelId="{FBA716BF-3FF2-4788-8791-45B68C23EBBB}" type="pres">
      <dgm:prSet presAssocID="{71963D07-5733-4E27-A451-9B1969DA20C0}" presName="parentLeftMargin" presStyleLbl="node1" presStyleIdx="2" presStyleCnt="4"/>
      <dgm:spPr/>
    </dgm:pt>
    <dgm:pt modelId="{23F5CB7B-5AF3-45B9-8362-40C84F4180C5}" type="pres">
      <dgm:prSet presAssocID="{71963D07-5733-4E27-A451-9B1969DA20C0}" presName="parentText" presStyleLbl="node1" presStyleIdx="3" presStyleCnt="4">
        <dgm:presLayoutVars>
          <dgm:chMax val="0"/>
          <dgm:bulletEnabled val="1"/>
        </dgm:presLayoutVars>
      </dgm:prSet>
      <dgm:spPr/>
    </dgm:pt>
    <dgm:pt modelId="{2EFEE28B-ED5A-473F-9B25-5994166557B5}" type="pres">
      <dgm:prSet presAssocID="{71963D07-5733-4E27-A451-9B1969DA20C0}" presName="negativeSpace" presStyleCnt="0"/>
      <dgm:spPr/>
    </dgm:pt>
    <dgm:pt modelId="{717F4A5C-CCF0-4C2D-90AB-3E390319ACEA}" type="pres">
      <dgm:prSet presAssocID="{71963D07-5733-4E27-A451-9B1969DA20C0}" presName="childText" presStyleLbl="conFgAcc1" presStyleIdx="3" presStyleCnt="4">
        <dgm:presLayoutVars>
          <dgm:bulletEnabled val="1"/>
        </dgm:presLayoutVars>
      </dgm:prSet>
      <dgm:spPr/>
    </dgm:pt>
  </dgm:ptLst>
  <dgm:cxnLst>
    <dgm:cxn modelId="{18A5530B-5B1A-405A-8645-40A0D0C70F0A}" type="presOf" srcId="{35875F52-9517-4274-B9EB-96A02F2D4C22}" destId="{97D32938-A651-48D8-9A9E-1EDE5BC77941}" srcOrd="0" destOrd="1" presId="urn:microsoft.com/office/officeart/2005/8/layout/list1"/>
    <dgm:cxn modelId="{774E9D0C-079F-4B48-A062-76060B873EB9}" type="presOf" srcId="{3D48FF11-F185-4CB3-A993-E941518FF63E}" destId="{97D32938-A651-48D8-9A9E-1EDE5BC77941}" srcOrd="0" destOrd="2" presId="urn:microsoft.com/office/officeart/2005/8/layout/list1"/>
    <dgm:cxn modelId="{ED3B480F-B4A4-48D7-A7BF-43A5C95B00C4}" srcId="{F3AF5E6A-897E-4ACE-8A9E-CD22D40ADFA5}" destId="{71963D07-5733-4E27-A451-9B1969DA20C0}" srcOrd="3" destOrd="0" parTransId="{C8F12BE5-1EC5-456D-A0A8-6C23C489E1AB}" sibTransId="{0A48B4E5-F67A-4C10-9309-EE2D3D738FC7}"/>
    <dgm:cxn modelId="{786A2513-4B0A-41DF-A9E5-065A61C68572}" type="presOf" srcId="{76A2A8B6-2C83-47BB-95AE-9AA6EADFD7F8}" destId="{18B0FFE6-B10C-4FC8-BAF3-3A26E8C5FE16}" srcOrd="1" destOrd="0" presId="urn:microsoft.com/office/officeart/2005/8/layout/list1"/>
    <dgm:cxn modelId="{DAC4F61E-5749-42FD-B39F-384B65C79DD3}" type="presOf" srcId="{76A2A8B6-2C83-47BB-95AE-9AA6EADFD7F8}" destId="{E095D19A-3890-4321-8A4E-20CBEE5F2A9C}" srcOrd="0" destOrd="0" presId="urn:microsoft.com/office/officeart/2005/8/layout/list1"/>
    <dgm:cxn modelId="{15827533-69BE-4E6A-BD39-BD8A05EBE286}" type="presOf" srcId="{6A552F90-B89E-403A-9BFF-26660283FDBC}" destId="{717F4A5C-CCF0-4C2D-90AB-3E390319ACEA}" srcOrd="0" destOrd="1" presId="urn:microsoft.com/office/officeart/2005/8/layout/list1"/>
    <dgm:cxn modelId="{FE3C5A35-BA72-4A4B-827D-40840B0464A8}" srcId="{F3AF5E6A-897E-4ACE-8A9E-CD22D40ADFA5}" destId="{A4D97700-BCAE-4A3A-B5A3-981720FB91BC}" srcOrd="2" destOrd="0" parTransId="{9ABA7C6F-9F4D-4013-8B21-A07FF85AE7D3}" sibTransId="{7E738AAB-AB89-4E1C-980E-F5D35B9E1E53}"/>
    <dgm:cxn modelId="{3706D842-487A-4933-8723-919E3B0A8E25}" type="presOf" srcId="{A4D97700-BCAE-4A3A-B5A3-981720FB91BC}" destId="{36AE6B6C-DED7-45CF-97A1-691C061E9DEE}" srcOrd="0" destOrd="0" presId="urn:microsoft.com/office/officeart/2005/8/layout/list1"/>
    <dgm:cxn modelId="{A5E8676B-497C-4DE8-B5D1-ECE5D70F99AB}" srcId="{71963D07-5733-4E27-A451-9B1969DA20C0}" destId="{40BA9664-454A-4AAA-9855-FCBC601089DC}" srcOrd="0" destOrd="0" parTransId="{2000B57E-DAE5-497A-9C9A-F6F84B4B855E}" sibTransId="{33DDF62B-6EEE-4C02-91BD-BC474CB04DA8}"/>
    <dgm:cxn modelId="{86B8766C-6BBD-4521-8768-0AF3B070CF42}" type="presOf" srcId="{7B018414-E768-4778-9B88-8E820ACB109C}" destId="{4A3E113F-A0C9-4607-B6B3-5FDED7D44F6A}" srcOrd="0" destOrd="0" presId="urn:microsoft.com/office/officeart/2005/8/layout/list1"/>
    <dgm:cxn modelId="{2397F174-1F02-456D-B364-7603A7DE883C}" type="presOf" srcId="{B787E83E-4FEF-400E-9CB4-E65669AE3887}" destId="{7AC94D09-5951-4B3F-91C1-A96A6E997B86}" srcOrd="0" destOrd="1" presId="urn:microsoft.com/office/officeart/2005/8/layout/list1"/>
    <dgm:cxn modelId="{636D1876-9A7B-477B-83EA-F49640DAB63C}" type="presOf" srcId="{F3AF5E6A-897E-4ACE-8A9E-CD22D40ADFA5}" destId="{180CE50F-5554-4C76-BBC9-6C453D34EE73}" srcOrd="0" destOrd="0" presId="urn:microsoft.com/office/officeart/2005/8/layout/list1"/>
    <dgm:cxn modelId="{997F8359-A7D4-4208-9DB2-8EDAF6348E97}" srcId="{71963D07-5733-4E27-A451-9B1969DA20C0}" destId="{6A552F90-B89E-403A-9BFF-26660283FDBC}" srcOrd="1" destOrd="0" parTransId="{DF2133BF-9CEB-4EE5-A9BA-D38FB205AF37}" sibTransId="{B0BF5A28-C52B-4A59-AC5F-7BAE8CD5D14B}"/>
    <dgm:cxn modelId="{6350847E-3909-4B1A-8098-C54D9D419F75}" type="presOf" srcId="{A4D97700-BCAE-4A3A-B5A3-981720FB91BC}" destId="{26B6FC12-5E41-45AE-ABE5-134CD9243C32}" srcOrd="1" destOrd="0" presId="urn:microsoft.com/office/officeart/2005/8/layout/list1"/>
    <dgm:cxn modelId="{D982D27E-914E-41AF-8F68-69402006AAD4}" type="presOf" srcId="{40BA9664-454A-4AAA-9855-FCBC601089DC}" destId="{717F4A5C-CCF0-4C2D-90AB-3E390319ACEA}" srcOrd="0" destOrd="0" presId="urn:microsoft.com/office/officeart/2005/8/layout/list1"/>
    <dgm:cxn modelId="{0401208E-13BA-4EF8-8FF9-E12FBEB0356A}" srcId="{7B018414-E768-4778-9B88-8E820ACB109C}" destId="{35875F52-9517-4274-B9EB-96A02F2D4C22}" srcOrd="1" destOrd="0" parTransId="{2ED043FB-4753-4C89-A27E-311994268193}" sibTransId="{7029FEFC-6377-4E0D-B609-AB07ADD422CD}"/>
    <dgm:cxn modelId="{A6CB2595-BAB2-443A-81FA-F2B10E013646}" type="presOf" srcId="{8B919A8D-0155-4960-97B6-7B41194D4C6D}" destId="{97D32938-A651-48D8-9A9E-1EDE5BC77941}" srcOrd="0" destOrd="0" presId="urn:microsoft.com/office/officeart/2005/8/layout/list1"/>
    <dgm:cxn modelId="{A6807097-7473-43F7-85DA-AA7AE0D40A52}" type="presOf" srcId="{9AF15801-3AE2-4DEA-97FE-0ADF418C2BC0}" destId="{7AC94D09-5951-4B3F-91C1-A96A6E997B86}" srcOrd="0" destOrd="0" presId="urn:microsoft.com/office/officeart/2005/8/layout/list1"/>
    <dgm:cxn modelId="{6B3F26A0-607B-449B-96DA-A2BFA88C6118}" srcId="{7B018414-E768-4778-9B88-8E820ACB109C}" destId="{8B919A8D-0155-4960-97B6-7B41194D4C6D}" srcOrd="0" destOrd="0" parTransId="{773C4187-B1D6-4531-A75C-9074A50DCBCD}" sibTransId="{01BDE3CB-3E81-4EB1-A289-308953C5D4E9}"/>
    <dgm:cxn modelId="{C43EC9A8-EEC8-46C3-8E8B-7AEBCCF47521}" type="presOf" srcId="{71963D07-5733-4E27-A451-9B1969DA20C0}" destId="{FBA716BF-3FF2-4788-8791-45B68C23EBBB}" srcOrd="0" destOrd="0" presId="urn:microsoft.com/office/officeart/2005/8/layout/list1"/>
    <dgm:cxn modelId="{845018AA-17E9-4FF4-AFA3-1912F81575E8}" srcId="{7B018414-E768-4778-9B88-8E820ACB109C}" destId="{3D48FF11-F185-4CB3-A993-E941518FF63E}" srcOrd="2" destOrd="0" parTransId="{08820AC3-3815-41DF-A4C6-8D854ADD4926}" sibTransId="{7BE592DC-B58B-4A31-92A7-8A00696A764D}"/>
    <dgm:cxn modelId="{FDE59EB3-0118-4782-A656-5B80AFCF4BB4}" srcId="{7B018414-E768-4778-9B88-8E820ACB109C}" destId="{755C551E-2720-4C34-9FF9-831F0DC5A252}" srcOrd="3" destOrd="0" parTransId="{283BFB1F-BFC3-4C09-B890-A04C46B61DCC}" sibTransId="{2DE9EA55-12AA-4116-A36D-84EF4C478E08}"/>
    <dgm:cxn modelId="{40CBE9BB-F7EC-44D1-8A12-3EC1CD6A9803}" type="presOf" srcId="{755C551E-2720-4C34-9FF9-831F0DC5A252}" destId="{97D32938-A651-48D8-9A9E-1EDE5BC77941}" srcOrd="0" destOrd="3" presId="urn:microsoft.com/office/officeart/2005/8/layout/list1"/>
    <dgm:cxn modelId="{9B97CFD9-3C0E-47AB-86B9-575A42A0FC84}" type="presOf" srcId="{7B018414-E768-4778-9B88-8E820ACB109C}" destId="{5049F503-F2B2-4EE4-AD5B-0F6383BFC45A}" srcOrd="1" destOrd="0" presId="urn:microsoft.com/office/officeart/2005/8/layout/list1"/>
    <dgm:cxn modelId="{FF06A4DA-8361-4624-8270-11BBCD85A286}" type="presOf" srcId="{71963D07-5733-4E27-A451-9B1969DA20C0}" destId="{23F5CB7B-5AF3-45B9-8362-40C84F4180C5}" srcOrd="1" destOrd="0" presId="urn:microsoft.com/office/officeart/2005/8/layout/list1"/>
    <dgm:cxn modelId="{AD92A8E9-8079-4F92-B7E4-AD42696F4618}" srcId="{A4D97700-BCAE-4A3A-B5A3-981720FB91BC}" destId="{B787E83E-4FEF-400E-9CB4-E65669AE3887}" srcOrd="1" destOrd="0" parTransId="{3936ED46-1DB6-4EB2-A346-15E23D93FF29}" sibTransId="{B10E5062-DCFC-4D54-8D1A-DD909BB40244}"/>
    <dgm:cxn modelId="{0BFBDAEA-3C6D-405B-9436-1ED417A612A3}" srcId="{F3AF5E6A-897E-4ACE-8A9E-CD22D40ADFA5}" destId="{7B018414-E768-4778-9B88-8E820ACB109C}" srcOrd="1" destOrd="0" parTransId="{BD1132D8-2B39-42DA-BEA8-B106C0DA955D}" sibTransId="{34B735FE-9C03-4EAB-896A-6508262EF755}"/>
    <dgm:cxn modelId="{B35015F2-62D3-49F1-93DE-466882E886B5}" srcId="{F3AF5E6A-897E-4ACE-8A9E-CD22D40ADFA5}" destId="{76A2A8B6-2C83-47BB-95AE-9AA6EADFD7F8}" srcOrd="0" destOrd="0" parTransId="{E8C4CE6F-7F10-4B55-8B23-1EB321059FD3}" sibTransId="{385AFA9C-7141-44F0-B140-5C327E2BF164}"/>
    <dgm:cxn modelId="{CE3F87F7-9F2F-4736-8C85-B8179CED686D}" srcId="{A4D97700-BCAE-4A3A-B5A3-981720FB91BC}" destId="{9AF15801-3AE2-4DEA-97FE-0ADF418C2BC0}" srcOrd="0" destOrd="0" parTransId="{6C55AA38-4BE4-40CC-ADBB-343654D7A165}" sibTransId="{D4360C9D-A3CC-4885-83CF-E45E519EDD52}"/>
    <dgm:cxn modelId="{FF34432C-FED8-42FF-91C0-29AB2FE8D2B7}" type="presParOf" srcId="{180CE50F-5554-4C76-BBC9-6C453D34EE73}" destId="{5C5D5924-5AC7-490A-8175-76F6340A3B21}" srcOrd="0" destOrd="0" presId="urn:microsoft.com/office/officeart/2005/8/layout/list1"/>
    <dgm:cxn modelId="{24E4BFF4-5FDF-401E-A807-87E164E8D339}" type="presParOf" srcId="{5C5D5924-5AC7-490A-8175-76F6340A3B21}" destId="{E095D19A-3890-4321-8A4E-20CBEE5F2A9C}" srcOrd="0" destOrd="0" presId="urn:microsoft.com/office/officeart/2005/8/layout/list1"/>
    <dgm:cxn modelId="{722F0EB0-E196-440C-8CCE-66A4242C1711}" type="presParOf" srcId="{5C5D5924-5AC7-490A-8175-76F6340A3B21}" destId="{18B0FFE6-B10C-4FC8-BAF3-3A26E8C5FE16}" srcOrd="1" destOrd="0" presId="urn:microsoft.com/office/officeart/2005/8/layout/list1"/>
    <dgm:cxn modelId="{E2F71F4C-574D-4085-974F-C152B361A14E}" type="presParOf" srcId="{180CE50F-5554-4C76-BBC9-6C453D34EE73}" destId="{13361309-AC1A-41CD-88E0-17873096EEB5}" srcOrd="1" destOrd="0" presId="urn:microsoft.com/office/officeart/2005/8/layout/list1"/>
    <dgm:cxn modelId="{232D99DF-F4DE-4F94-9681-A15A86647947}" type="presParOf" srcId="{180CE50F-5554-4C76-BBC9-6C453D34EE73}" destId="{9261BB1F-EB71-416E-814A-5B9AC78A32C0}" srcOrd="2" destOrd="0" presId="urn:microsoft.com/office/officeart/2005/8/layout/list1"/>
    <dgm:cxn modelId="{34F269CC-8493-48A5-A8DE-0E608E695B8B}" type="presParOf" srcId="{180CE50F-5554-4C76-BBC9-6C453D34EE73}" destId="{7E4A7AF5-7898-4716-A4E9-72DA3A09093A}" srcOrd="3" destOrd="0" presId="urn:microsoft.com/office/officeart/2005/8/layout/list1"/>
    <dgm:cxn modelId="{767C8C02-4B31-4899-96C5-7F8ADAD7D5EC}" type="presParOf" srcId="{180CE50F-5554-4C76-BBC9-6C453D34EE73}" destId="{1497935A-5F94-4AAA-950A-EC80E050E778}" srcOrd="4" destOrd="0" presId="urn:microsoft.com/office/officeart/2005/8/layout/list1"/>
    <dgm:cxn modelId="{1728ED44-275F-4584-B6C1-FFECE87C7D90}" type="presParOf" srcId="{1497935A-5F94-4AAA-950A-EC80E050E778}" destId="{4A3E113F-A0C9-4607-B6B3-5FDED7D44F6A}" srcOrd="0" destOrd="0" presId="urn:microsoft.com/office/officeart/2005/8/layout/list1"/>
    <dgm:cxn modelId="{6E3A36A9-86AB-4500-9120-988BB5F53DEB}" type="presParOf" srcId="{1497935A-5F94-4AAA-950A-EC80E050E778}" destId="{5049F503-F2B2-4EE4-AD5B-0F6383BFC45A}" srcOrd="1" destOrd="0" presId="urn:microsoft.com/office/officeart/2005/8/layout/list1"/>
    <dgm:cxn modelId="{B12DC328-C11C-4240-876C-B162B8ED8E40}" type="presParOf" srcId="{180CE50F-5554-4C76-BBC9-6C453D34EE73}" destId="{CE955290-5F29-405F-8C62-ED76DD5DAD52}" srcOrd="5" destOrd="0" presId="urn:microsoft.com/office/officeart/2005/8/layout/list1"/>
    <dgm:cxn modelId="{7B3E8915-6402-4D09-8F92-AA83AAB75557}" type="presParOf" srcId="{180CE50F-5554-4C76-BBC9-6C453D34EE73}" destId="{97D32938-A651-48D8-9A9E-1EDE5BC77941}" srcOrd="6" destOrd="0" presId="urn:microsoft.com/office/officeart/2005/8/layout/list1"/>
    <dgm:cxn modelId="{AA64FFC6-BA9E-4816-B509-EAE7FA03EEAF}" type="presParOf" srcId="{180CE50F-5554-4C76-BBC9-6C453D34EE73}" destId="{8387FC2A-284F-4604-9233-11B12AA2D118}" srcOrd="7" destOrd="0" presId="urn:microsoft.com/office/officeart/2005/8/layout/list1"/>
    <dgm:cxn modelId="{8851B0B4-CD39-4F6E-8E11-F3BC1B2CD090}" type="presParOf" srcId="{180CE50F-5554-4C76-BBC9-6C453D34EE73}" destId="{B186B5E0-3DEE-4A68-978B-994D52976479}" srcOrd="8" destOrd="0" presId="urn:microsoft.com/office/officeart/2005/8/layout/list1"/>
    <dgm:cxn modelId="{CBFF919C-38F4-4700-AEE7-2E092A250558}" type="presParOf" srcId="{B186B5E0-3DEE-4A68-978B-994D52976479}" destId="{36AE6B6C-DED7-45CF-97A1-691C061E9DEE}" srcOrd="0" destOrd="0" presId="urn:microsoft.com/office/officeart/2005/8/layout/list1"/>
    <dgm:cxn modelId="{823755AB-EC40-480F-A90F-DEE3AE649C63}" type="presParOf" srcId="{B186B5E0-3DEE-4A68-978B-994D52976479}" destId="{26B6FC12-5E41-45AE-ABE5-134CD9243C32}" srcOrd="1" destOrd="0" presId="urn:microsoft.com/office/officeart/2005/8/layout/list1"/>
    <dgm:cxn modelId="{CC23F482-7087-4D81-88AD-7F2C1B03CE13}" type="presParOf" srcId="{180CE50F-5554-4C76-BBC9-6C453D34EE73}" destId="{FC731B9C-894A-4950-9D6E-DC728BA82C0F}" srcOrd="9" destOrd="0" presId="urn:microsoft.com/office/officeart/2005/8/layout/list1"/>
    <dgm:cxn modelId="{7DEA1755-E494-4FA4-B8C7-60DC464DA729}" type="presParOf" srcId="{180CE50F-5554-4C76-BBC9-6C453D34EE73}" destId="{7AC94D09-5951-4B3F-91C1-A96A6E997B86}" srcOrd="10" destOrd="0" presId="urn:microsoft.com/office/officeart/2005/8/layout/list1"/>
    <dgm:cxn modelId="{46139E98-C730-4A6E-B65D-BBAAED24913D}" type="presParOf" srcId="{180CE50F-5554-4C76-BBC9-6C453D34EE73}" destId="{DFC6F665-E0D8-4AAD-AF1F-74C9A1B4FD08}" srcOrd="11" destOrd="0" presId="urn:microsoft.com/office/officeart/2005/8/layout/list1"/>
    <dgm:cxn modelId="{0E2238ED-5FB5-40CE-98AD-0E4683790E67}" type="presParOf" srcId="{180CE50F-5554-4C76-BBC9-6C453D34EE73}" destId="{86941F4A-4972-4002-B3B0-8E0B1FCD66F0}" srcOrd="12" destOrd="0" presId="urn:microsoft.com/office/officeart/2005/8/layout/list1"/>
    <dgm:cxn modelId="{E12834D4-397A-4427-8D9B-B52DBDD00EC7}" type="presParOf" srcId="{86941F4A-4972-4002-B3B0-8E0B1FCD66F0}" destId="{FBA716BF-3FF2-4788-8791-45B68C23EBBB}" srcOrd="0" destOrd="0" presId="urn:microsoft.com/office/officeart/2005/8/layout/list1"/>
    <dgm:cxn modelId="{C79BD335-3BF9-44D0-B604-40861EF06A96}" type="presParOf" srcId="{86941F4A-4972-4002-B3B0-8E0B1FCD66F0}" destId="{23F5CB7B-5AF3-45B9-8362-40C84F4180C5}" srcOrd="1" destOrd="0" presId="urn:microsoft.com/office/officeart/2005/8/layout/list1"/>
    <dgm:cxn modelId="{406697B4-B43D-4457-8A8F-653C56ED0BFB}" type="presParOf" srcId="{180CE50F-5554-4C76-BBC9-6C453D34EE73}" destId="{2EFEE28B-ED5A-473F-9B25-5994166557B5}" srcOrd="13" destOrd="0" presId="urn:microsoft.com/office/officeart/2005/8/layout/list1"/>
    <dgm:cxn modelId="{32155440-68AC-4D90-91E3-47CDF7275BC6}" type="presParOf" srcId="{180CE50F-5554-4C76-BBC9-6C453D34EE73}" destId="{717F4A5C-CCF0-4C2D-90AB-3E390319ACEA}" srcOrd="14" destOrd="0" presId="urn:microsoft.com/office/officeart/2005/8/layout/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0CD2F2-D521-494A-9FE5-74349AFAD5BB}">
      <dsp:nvSpPr>
        <dsp:cNvPr id="0" name=""/>
        <dsp:cNvSpPr/>
      </dsp:nvSpPr>
      <dsp:spPr>
        <a:xfrm>
          <a:off x="0" y="221255"/>
          <a:ext cx="5181600" cy="2772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17EDC43-DBD9-4C3B-B544-388833534F2D}">
      <dsp:nvSpPr>
        <dsp:cNvPr id="0" name=""/>
        <dsp:cNvSpPr/>
      </dsp:nvSpPr>
      <dsp:spPr>
        <a:xfrm>
          <a:off x="259080" y="58895"/>
          <a:ext cx="3627120" cy="3247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097" tIns="0" rIns="137097" bIns="0" numCol="1" spcCol="1270" anchor="ctr" anchorCtr="0">
          <a:noAutofit/>
        </a:bodyPr>
        <a:lstStyle/>
        <a:p>
          <a:pPr marL="0" lvl="0" indent="0" algn="l" defTabSz="533400">
            <a:lnSpc>
              <a:spcPct val="90000"/>
            </a:lnSpc>
            <a:spcBef>
              <a:spcPct val="0"/>
            </a:spcBef>
            <a:spcAft>
              <a:spcPct val="35000"/>
            </a:spcAft>
            <a:buNone/>
          </a:pPr>
          <a:r>
            <a:rPr lang="en-US" sz="1200" b="1" kern="1200"/>
            <a:t>Customer Impact</a:t>
          </a:r>
          <a:endParaRPr lang="en-US" sz="1200" kern="1200"/>
        </a:p>
      </dsp:txBody>
      <dsp:txXfrm>
        <a:off x="274932" y="74747"/>
        <a:ext cx="3595416" cy="293016"/>
      </dsp:txXfrm>
    </dsp:sp>
    <dsp:sp modelId="{3961D80A-D986-4989-AAF5-DDD485598750}">
      <dsp:nvSpPr>
        <dsp:cNvPr id="0" name=""/>
        <dsp:cNvSpPr/>
      </dsp:nvSpPr>
      <dsp:spPr>
        <a:xfrm>
          <a:off x="0" y="720215"/>
          <a:ext cx="5181600" cy="121275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2150" tIns="229108" rIns="402150" bIns="56896" numCol="1" spcCol="1270" anchor="t" anchorCtr="0">
          <a:noAutofit/>
        </a:bodyPr>
        <a:lstStyle/>
        <a:p>
          <a:pPr marL="57150" lvl="1" indent="-57150" algn="l" defTabSz="444500">
            <a:lnSpc>
              <a:spcPct val="90000"/>
            </a:lnSpc>
            <a:spcBef>
              <a:spcPct val="0"/>
            </a:spcBef>
            <a:spcAft>
              <a:spcPct val="15000"/>
            </a:spcAft>
            <a:buChar char="•"/>
          </a:pPr>
          <a:r>
            <a:rPr lang="en-US" sz="1000" b="1" kern="1200"/>
            <a:t>1,395 customers impacted</a:t>
          </a:r>
          <a:r>
            <a:rPr lang="en-US" sz="1000" kern="1200"/>
            <a:t> by complaint-handling failures.</a:t>
          </a:r>
        </a:p>
        <a:p>
          <a:pPr marL="57150" lvl="1" indent="-57150" algn="l" defTabSz="444500">
            <a:lnSpc>
              <a:spcPct val="90000"/>
            </a:lnSpc>
            <a:spcBef>
              <a:spcPct val="0"/>
            </a:spcBef>
            <a:spcAft>
              <a:spcPct val="15000"/>
            </a:spcAft>
            <a:buChar char="•"/>
          </a:pPr>
          <a:r>
            <a:rPr lang="en-US" sz="1000" b="1" kern="1200"/>
            <a:t>706 vulnerable customers affected.</a:t>
          </a:r>
          <a:endParaRPr lang="en-US" sz="1000" kern="1200"/>
        </a:p>
        <a:p>
          <a:pPr marL="57150" lvl="1" indent="-57150" algn="l" defTabSz="444500">
            <a:lnSpc>
              <a:spcPct val="90000"/>
            </a:lnSpc>
            <a:spcBef>
              <a:spcPct val="0"/>
            </a:spcBef>
            <a:spcAft>
              <a:spcPct val="15000"/>
            </a:spcAft>
            <a:buChar char="•"/>
          </a:pPr>
          <a:r>
            <a:rPr lang="en-US" sz="1000" kern="1200"/>
            <a:t>Some complaints remained unresolved for </a:t>
          </a:r>
          <a:r>
            <a:rPr lang="en-US" sz="1000" b="1" kern="1200"/>
            <a:t>up to 18 months</a:t>
          </a:r>
          <a:r>
            <a:rPr lang="en-US" sz="1000" kern="1200"/>
            <a:t>.</a:t>
          </a:r>
        </a:p>
        <a:p>
          <a:pPr marL="57150" lvl="1" indent="-57150" algn="l" defTabSz="444500">
            <a:lnSpc>
              <a:spcPct val="90000"/>
            </a:lnSpc>
            <a:spcBef>
              <a:spcPct val="0"/>
            </a:spcBef>
            <a:spcAft>
              <a:spcPct val="15000"/>
            </a:spcAft>
            <a:buChar char="•"/>
          </a:pPr>
          <a:r>
            <a:rPr lang="en-US" sz="1000" kern="1200"/>
            <a:t>Demonstrates how delayed issue identification can directly impact vulnerable customers.</a:t>
          </a:r>
        </a:p>
        <a:p>
          <a:pPr marL="57150" lvl="1" indent="-57150" algn="l" defTabSz="355600">
            <a:lnSpc>
              <a:spcPct val="90000"/>
            </a:lnSpc>
            <a:spcBef>
              <a:spcPct val="0"/>
            </a:spcBef>
            <a:spcAft>
              <a:spcPct val="15000"/>
            </a:spcAft>
            <a:buFont typeface="Wingdings" panose="05000000000000000000" pitchFamily="2" charset="2"/>
            <a:buChar char="q"/>
          </a:pPr>
          <a:r>
            <a:rPr lang="en-US" sz="800" b="1" kern="1200">
              <a:solidFill>
                <a:srgbClr val="00263E"/>
              </a:solidFill>
              <a:latin typeface="Aptos"/>
              <a:ea typeface="+mn-ea"/>
              <a:cs typeface="+mn-cs"/>
            </a:rPr>
            <a:t>Source: Ofgem (2024)</a:t>
          </a:r>
          <a:endParaRPr lang="en-US" sz="1000" kern="1200"/>
        </a:p>
      </dsp:txBody>
      <dsp:txXfrm>
        <a:off x="0" y="720215"/>
        <a:ext cx="5181600" cy="1212750"/>
      </dsp:txXfrm>
    </dsp:sp>
    <dsp:sp modelId="{100EABE9-CABA-413E-AF6B-56D03774A761}">
      <dsp:nvSpPr>
        <dsp:cNvPr id="0" name=""/>
        <dsp:cNvSpPr/>
      </dsp:nvSpPr>
      <dsp:spPr>
        <a:xfrm>
          <a:off x="259080" y="557855"/>
          <a:ext cx="3627120" cy="3247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097" tIns="0" rIns="137097" bIns="0" numCol="1" spcCol="1270" anchor="ctr" anchorCtr="0">
          <a:noAutofit/>
        </a:bodyPr>
        <a:lstStyle/>
        <a:p>
          <a:pPr marL="0" lvl="0" indent="0" algn="l" defTabSz="488950">
            <a:lnSpc>
              <a:spcPct val="90000"/>
            </a:lnSpc>
            <a:spcBef>
              <a:spcPct val="0"/>
            </a:spcBef>
            <a:spcAft>
              <a:spcPct val="35000"/>
            </a:spcAft>
            <a:buNone/>
          </a:pPr>
          <a:r>
            <a:rPr lang="en-US" sz="1100" b="1" kern="1200"/>
            <a:t>OVO Complaint Handling Case (2024)</a:t>
          </a:r>
          <a:endParaRPr lang="en-US" sz="1100" kern="1200"/>
        </a:p>
      </dsp:txBody>
      <dsp:txXfrm>
        <a:off x="274932" y="573707"/>
        <a:ext cx="3595416" cy="293016"/>
      </dsp:txXfrm>
    </dsp:sp>
    <dsp:sp modelId="{AEF54E70-4DE5-4543-A7BF-12D2A25CD938}">
      <dsp:nvSpPr>
        <dsp:cNvPr id="0" name=""/>
        <dsp:cNvSpPr/>
      </dsp:nvSpPr>
      <dsp:spPr>
        <a:xfrm>
          <a:off x="0" y="2154725"/>
          <a:ext cx="5181600" cy="883575"/>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2150" tIns="229108" rIns="402150" bIns="71120" numCol="1" spcCol="1270" anchor="t" anchorCtr="0">
          <a:noAutofit/>
        </a:bodyPr>
        <a:lstStyle/>
        <a:p>
          <a:pPr marL="57150" lvl="1" indent="0" algn="l" defTabSz="444500">
            <a:lnSpc>
              <a:spcPct val="90000"/>
            </a:lnSpc>
            <a:spcBef>
              <a:spcPct val="0"/>
            </a:spcBef>
            <a:spcAft>
              <a:spcPct val="15000"/>
            </a:spcAft>
            <a:buChar char="•"/>
          </a:pPr>
          <a:r>
            <a:rPr lang="en-US" sz="1000" kern="1200"/>
            <a:t>Only </a:t>
          </a:r>
          <a:r>
            <a:rPr lang="en-US" sz="1000" b="1" kern="1200"/>
            <a:t>44% of customers</a:t>
          </a:r>
          <a:r>
            <a:rPr lang="en-US" sz="1000" kern="1200"/>
            <a:t> were satisfied with how their complaint was handled.</a:t>
          </a:r>
        </a:p>
        <a:p>
          <a:pPr marL="57150" lvl="1" indent="0" algn="l" defTabSz="444500">
            <a:lnSpc>
              <a:spcPct val="90000"/>
            </a:lnSpc>
            <a:spcBef>
              <a:spcPct val="0"/>
            </a:spcBef>
            <a:spcAft>
              <a:spcPct val="15000"/>
            </a:spcAft>
            <a:buChar char="•"/>
          </a:pPr>
          <a:r>
            <a:rPr lang="en-US" sz="1000" kern="1200"/>
            <a:t>More than half of complainants reported </a:t>
          </a:r>
          <a:r>
            <a:rPr lang="en-US" sz="1000" kern="1200">
              <a:solidFill>
                <a:prstClr val="black">
                  <a:hueOff val="0"/>
                  <a:satOff val="0"/>
                  <a:lumOff val="0"/>
                  <a:alphaOff val="0"/>
                </a:prstClr>
              </a:solidFill>
              <a:latin typeface="Aptos"/>
              <a:ea typeface="+mn-ea"/>
              <a:cs typeface="+mn-cs"/>
            </a:rPr>
            <a:t>dissatisfaction</a:t>
          </a:r>
          <a:r>
            <a:rPr lang="en-US" sz="1000" kern="1200"/>
            <a:t> with complaint resolution.</a:t>
          </a:r>
        </a:p>
        <a:p>
          <a:pPr marL="57150" lvl="1" indent="-57150" algn="l" defTabSz="355600">
            <a:lnSpc>
              <a:spcPct val="90000"/>
            </a:lnSpc>
            <a:spcBef>
              <a:spcPct val="0"/>
            </a:spcBef>
            <a:spcAft>
              <a:spcPct val="15000"/>
            </a:spcAft>
            <a:buFont typeface="Wingdings" panose="05000000000000000000" pitchFamily="2" charset="2"/>
            <a:buChar char="q"/>
          </a:pPr>
          <a:r>
            <a:rPr lang="en-US" sz="800" b="1" kern="1200">
              <a:solidFill>
                <a:srgbClr val="00263E"/>
              </a:solidFill>
              <a:latin typeface="Aptos"/>
              <a:ea typeface="+mn-ea"/>
              <a:cs typeface="+mn-cs"/>
            </a:rPr>
            <a:t>Source: Ofgem Energy Consumer Satisfaction Survey (2025)</a:t>
          </a:r>
        </a:p>
      </dsp:txBody>
      <dsp:txXfrm>
        <a:off x="0" y="2154725"/>
        <a:ext cx="5181600" cy="883575"/>
      </dsp:txXfrm>
    </dsp:sp>
    <dsp:sp modelId="{9AA88F4C-2871-4FD1-9A92-9842F744CC18}">
      <dsp:nvSpPr>
        <dsp:cNvPr id="0" name=""/>
        <dsp:cNvSpPr/>
      </dsp:nvSpPr>
      <dsp:spPr>
        <a:xfrm>
          <a:off x="259080" y="1992365"/>
          <a:ext cx="3627120" cy="3247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097" tIns="0" rIns="137097" bIns="0" numCol="1" spcCol="1270" anchor="ctr" anchorCtr="0">
          <a:noAutofit/>
        </a:bodyPr>
        <a:lstStyle/>
        <a:p>
          <a:pPr marL="0" lvl="0" indent="0" algn="l" defTabSz="488950">
            <a:lnSpc>
              <a:spcPct val="90000"/>
            </a:lnSpc>
            <a:spcBef>
              <a:spcPct val="0"/>
            </a:spcBef>
            <a:spcAft>
              <a:spcPct val="35000"/>
            </a:spcAft>
            <a:buNone/>
          </a:pPr>
          <a:r>
            <a:rPr lang="en-US" sz="1100" b="1" kern="1200"/>
            <a:t>Consumer Satisfaction</a:t>
          </a:r>
          <a:endParaRPr lang="en-US" sz="1100" kern="1200"/>
        </a:p>
      </dsp:txBody>
      <dsp:txXfrm>
        <a:off x="274932" y="2008217"/>
        <a:ext cx="3595416" cy="293016"/>
      </dsp:txXfrm>
    </dsp:sp>
    <dsp:sp modelId="{D13AF780-C1E1-44BB-9442-E241D3F40D4A}">
      <dsp:nvSpPr>
        <dsp:cNvPr id="0" name=""/>
        <dsp:cNvSpPr/>
      </dsp:nvSpPr>
      <dsp:spPr>
        <a:xfrm>
          <a:off x="0" y="3260060"/>
          <a:ext cx="5181600" cy="710325"/>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2150" tIns="229108" rIns="402150" bIns="56896" numCol="1" spcCol="1270" anchor="t" anchorCtr="0">
          <a:noAutofit/>
        </a:bodyPr>
        <a:lstStyle/>
        <a:p>
          <a:pPr marL="57150" lvl="1" indent="-57150" algn="l" defTabSz="444500">
            <a:lnSpc>
              <a:spcPct val="90000"/>
            </a:lnSpc>
            <a:spcBef>
              <a:spcPct val="0"/>
            </a:spcBef>
            <a:spcAft>
              <a:spcPct val="15000"/>
            </a:spcAft>
            <a:buChar char="•"/>
          </a:pPr>
          <a:r>
            <a:rPr lang="en-US" sz="1000" b="1" kern="1200"/>
            <a:t>34% of customers</a:t>
          </a:r>
          <a:r>
            <a:rPr lang="en-US" sz="1000" kern="1200"/>
            <a:t> reporting smart-meter issues stated that their problem was still unresolved or under investigation.</a:t>
          </a:r>
        </a:p>
        <a:p>
          <a:pPr marL="57150" lvl="1" indent="-57150" algn="l" defTabSz="355600">
            <a:lnSpc>
              <a:spcPct val="90000"/>
            </a:lnSpc>
            <a:spcBef>
              <a:spcPct val="0"/>
            </a:spcBef>
            <a:spcAft>
              <a:spcPct val="15000"/>
            </a:spcAft>
            <a:buFont typeface="Wingdings" panose="05000000000000000000" pitchFamily="2" charset="2"/>
            <a:buChar char="q"/>
          </a:pPr>
          <a:r>
            <a:rPr lang="en-US" sz="800" b="1" kern="1200">
              <a:solidFill>
                <a:srgbClr val="00263E"/>
              </a:solidFill>
              <a:latin typeface="Aptos"/>
              <a:ea typeface="+mn-ea"/>
              <a:cs typeface="+mn-cs"/>
            </a:rPr>
            <a:t>Source: Ofgem (2024)</a:t>
          </a:r>
          <a:endParaRPr lang="en-US" sz="800" kern="1200"/>
        </a:p>
      </dsp:txBody>
      <dsp:txXfrm>
        <a:off x="0" y="3260060"/>
        <a:ext cx="5181600" cy="710325"/>
      </dsp:txXfrm>
    </dsp:sp>
    <dsp:sp modelId="{EE927680-B863-4661-AA70-445BD21D1153}">
      <dsp:nvSpPr>
        <dsp:cNvPr id="0" name=""/>
        <dsp:cNvSpPr/>
      </dsp:nvSpPr>
      <dsp:spPr>
        <a:xfrm>
          <a:off x="259080" y="3097700"/>
          <a:ext cx="3627120" cy="3247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097" tIns="0" rIns="137097" bIns="0" numCol="1" spcCol="1270" anchor="ctr" anchorCtr="0">
          <a:noAutofit/>
        </a:bodyPr>
        <a:lstStyle/>
        <a:p>
          <a:pPr marL="0" lvl="0" indent="0" algn="l" defTabSz="488950">
            <a:lnSpc>
              <a:spcPct val="90000"/>
            </a:lnSpc>
            <a:spcBef>
              <a:spcPct val="0"/>
            </a:spcBef>
            <a:spcAft>
              <a:spcPct val="35000"/>
            </a:spcAft>
            <a:buNone/>
          </a:pPr>
          <a:r>
            <a:rPr lang="en-US" sz="1100" b="1" kern="1200"/>
            <a:t>Unresolved Customer Issues</a:t>
          </a:r>
          <a:endParaRPr lang="en-US" sz="1100" kern="1200"/>
        </a:p>
      </dsp:txBody>
      <dsp:txXfrm>
        <a:off x="274932" y="3113552"/>
        <a:ext cx="3595416" cy="293016"/>
      </dsp:txXfrm>
    </dsp:sp>
    <dsp:sp modelId="{8364B185-9250-4C92-B384-F28843992C81}">
      <dsp:nvSpPr>
        <dsp:cNvPr id="0" name=""/>
        <dsp:cNvSpPr/>
      </dsp:nvSpPr>
      <dsp:spPr>
        <a:xfrm>
          <a:off x="0" y="4192145"/>
          <a:ext cx="5181600" cy="2772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AE1B171-4620-45F7-BE20-F17422F95C17}">
      <dsp:nvSpPr>
        <dsp:cNvPr id="0" name=""/>
        <dsp:cNvSpPr/>
      </dsp:nvSpPr>
      <dsp:spPr>
        <a:xfrm>
          <a:off x="259080" y="4029785"/>
          <a:ext cx="3627120" cy="3247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097" tIns="0" rIns="137097" bIns="0" numCol="1" spcCol="1270" anchor="ctr" anchorCtr="0">
          <a:noAutofit/>
        </a:bodyPr>
        <a:lstStyle/>
        <a:p>
          <a:pPr marL="0" lvl="0" indent="0" algn="l" defTabSz="488950">
            <a:lnSpc>
              <a:spcPct val="90000"/>
            </a:lnSpc>
            <a:spcBef>
              <a:spcPct val="0"/>
            </a:spcBef>
            <a:spcAft>
              <a:spcPct val="35000"/>
            </a:spcAft>
            <a:buNone/>
          </a:pPr>
          <a:r>
            <a:rPr lang="en-US" sz="1100" b="1" kern="1200"/>
            <a:t>Source:</a:t>
          </a:r>
          <a:r>
            <a:rPr lang="en-US" sz="1100" kern="1200"/>
            <a:t> Ofgem Survey (2024)</a:t>
          </a:r>
        </a:p>
      </dsp:txBody>
      <dsp:txXfrm>
        <a:off x="274932" y="4045637"/>
        <a:ext cx="3595416" cy="2930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61BB1F-EB71-416E-814A-5B9AC78A32C0}">
      <dsp:nvSpPr>
        <dsp:cNvPr id="0" name=""/>
        <dsp:cNvSpPr/>
      </dsp:nvSpPr>
      <dsp:spPr>
        <a:xfrm>
          <a:off x="0" y="241378"/>
          <a:ext cx="5181600" cy="3276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8B0FFE6-B10C-4FC8-BAF3-3A26E8C5FE16}">
      <dsp:nvSpPr>
        <dsp:cNvPr id="0" name=""/>
        <dsp:cNvSpPr/>
      </dsp:nvSpPr>
      <dsp:spPr>
        <a:xfrm>
          <a:off x="259080" y="49498"/>
          <a:ext cx="3627120" cy="38376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097" tIns="0" rIns="137097" bIns="0" numCol="1" spcCol="1270" anchor="ctr" anchorCtr="0">
          <a:noAutofit/>
        </a:bodyPr>
        <a:lstStyle/>
        <a:p>
          <a:pPr marL="0" lvl="0" indent="0" algn="l" defTabSz="533400">
            <a:lnSpc>
              <a:spcPct val="90000"/>
            </a:lnSpc>
            <a:spcBef>
              <a:spcPct val="0"/>
            </a:spcBef>
            <a:spcAft>
              <a:spcPct val="35000"/>
            </a:spcAft>
            <a:buNone/>
          </a:pPr>
          <a:r>
            <a:rPr lang="en-US" sz="1200" b="1" kern="1200">
              <a:effectLst/>
            </a:rPr>
            <a:t>Business Impact</a:t>
          </a:r>
          <a:endParaRPr lang="en-US" sz="1200" kern="1200"/>
        </a:p>
      </dsp:txBody>
      <dsp:txXfrm>
        <a:off x="277814" y="68232"/>
        <a:ext cx="3589652" cy="346292"/>
      </dsp:txXfrm>
    </dsp:sp>
    <dsp:sp modelId="{97D32938-A651-48D8-9A9E-1EDE5BC77941}">
      <dsp:nvSpPr>
        <dsp:cNvPr id="0" name=""/>
        <dsp:cNvSpPr/>
      </dsp:nvSpPr>
      <dsp:spPr>
        <a:xfrm>
          <a:off x="0" y="831058"/>
          <a:ext cx="5181600" cy="1208025"/>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2150" tIns="270764" rIns="402150" bIns="56896" numCol="1" spcCol="1270" anchor="t" anchorCtr="0">
          <a:noAutofit/>
        </a:bodyPr>
        <a:lstStyle/>
        <a:p>
          <a:pPr marL="114300" lvl="1" indent="0" algn="l" defTabSz="533400">
            <a:lnSpc>
              <a:spcPct val="90000"/>
            </a:lnSpc>
            <a:spcBef>
              <a:spcPct val="0"/>
            </a:spcBef>
            <a:spcAft>
              <a:spcPct val="15000"/>
            </a:spcAft>
            <a:buChar char="•"/>
          </a:pPr>
          <a:r>
            <a:rPr lang="en-US" sz="1200" kern="1200">
              <a:effectLst/>
            </a:rPr>
            <a:t>OVO paid </a:t>
          </a:r>
          <a:r>
            <a:rPr lang="en-US" sz="1200" b="1" kern="1200">
              <a:effectLst/>
            </a:rPr>
            <a:t>£378,512 directly to affected customers</a:t>
          </a:r>
          <a:r>
            <a:rPr lang="en-US" sz="1200" kern="1200">
              <a:effectLst/>
            </a:rPr>
            <a:t>.</a:t>
          </a:r>
          <a:endParaRPr lang="en-US" sz="1200" kern="1200"/>
        </a:p>
        <a:p>
          <a:pPr marL="114300" lvl="1" indent="0" algn="l" defTabSz="533400">
            <a:lnSpc>
              <a:spcPct val="90000"/>
            </a:lnSpc>
            <a:spcBef>
              <a:spcPct val="0"/>
            </a:spcBef>
            <a:spcAft>
              <a:spcPct val="15000"/>
            </a:spcAft>
            <a:buChar char="•"/>
          </a:pPr>
          <a:r>
            <a:rPr lang="en-US" sz="1200" kern="1200">
              <a:effectLst/>
            </a:rPr>
            <a:t>Additional </a:t>
          </a:r>
          <a:r>
            <a:rPr lang="en-US" sz="1200" b="1" kern="1200">
              <a:effectLst/>
            </a:rPr>
            <a:t>£2 million contribution</a:t>
          </a:r>
          <a:r>
            <a:rPr lang="en-US" sz="1200" kern="1200">
              <a:effectLst/>
            </a:rPr>
            <a:t> made to the Energy Industry Voluntary Redress Scheme.</a:t>
          </a:r>
        </a:p>
        <a:p>
          <a:pPr marL="114300" lvl="1" indent="0" algn="l" defTabSz="533400">
            <a:lnSpc>
              <a:spcPct val="90000"/>
            </a:lnSpc>
            <a:spcBef>
              <a:spcPct val="0"/>
            </a:spcBef>
            <a:spcAft>
              <a:spcPct val="15000"/>
            </a:spcAft>
            <a:buChar char="•"/>
          </a:pPr>
          <a:r>
            <a:rPr lang="en-US" sz="1200" kern="1200">
              <a:effectLst/>
            </a:rPr>
            <a:t>Total remediation cost exceeded </a:t>
          </a:r>
          <a:r>
            <a:rPr lang="en-US" sz="1200" b="1" kern="1200">
              <a:effectLst/>
            </a:rPr>
            <a:t>£2.37 million</a:t>
          </a:r>
          <a:r>
            <a:rPr lang="en-US" sz="1200" kern="1200">
              <a:effectLst/>
            </a:rPr>
            <a:t>.</a:t>
          </a:r>
        </a:p>
        <a:p>
          <a:pPr marL="57150" lvl="1" indent="-57150" algn="l" defTabSz="355600">
            <a:lnSpc>
              <a:spcPct val="90000"/>
            </a:lnSpc>
            <a:spcBef>
              <a:spcPct val="0"/>
            </a:spcBef>
            <a:spcAft>
              <a:spcPct val="15000"/>
            </a:spcAft>
            <a:buFont typeface="Wingdings" panose="05000000000000000000" pitchFamily="2" charset="2"/>
            <a:buChar char="q"/>
          </a:pPr>
          <a:r>
            <a:rPr lang="en-US" sz="800" b="1" kern="1200">
              <a:solidFill>
                <a:srgbClr val="00263E"/>
              </a:solidFill>
              <a:latin typeface="Aptos"/>
              <a:ea typeface="+mn-ea"/>
              <a:cs typeface="+mn-cs"/>
            </a:rPr>
            <a:t>Source: Ofgem Enforcement Action</a:t>
          </a:r>
        </a:p>
      </dsp:txBody>
      <dsp:txXfrm>
        <a:off x="0" y="831058"/>
        <a:ext cx="5181600" cy="1208025"/>
      </dsp:txXfrm>
    </dsp:sp>
    <dsp:sp modelId="{5049F503-F2B2-4EE4-AD5B-0F6383BFC45A}">
      <dsp:nvSpPr>
        <dsp:cNvPr id="0" name=""/>
        <dsp:cNvSpPr/>
      </dsp:nvSpPr>
      <dsp:spPr>
        <a:xfrm>
          <a:off x="259080" y="639178"/>
          <a:ext cx="3627120" cy="38376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097" tIns="0" rIns="137097" bIns="0" numCol="1" spcCol="1270" anchor="ctr" anchorCtr="0">
          <a:noAutofit/>
        </a:bodyPr>
        <a:lstStyle/>
        <a:p>
          <a:pPr marL="0" lvl="0" indent="0" algn="l" defTabSz="577850">
            <a:lnSpc>
              <a:spcPct val="90000"/>
            </a:lnSpc>
            <a:spcBef>
              <a:spcPct val="0"/>
            </a:spcBef>
            <a:spcAft>
              <a:spcPct val="35000"/>
            </a:spcAft>
            <a:buNone/>
          </a:pPr>
          <a:r>
            <a:rPr lang="en-US" sz="1300" b="1" kern="1200">
              <a:effectLst/>
            </a:rPr>
            <a:t>Financial Penalties</a:t>
          </a:r>
          <a:endParaRPr lang="en-US" sz="1300" kern="1200"/>
        </a:p>
      </dsp:txBody>
      <dsp:txXfrm>
        <a:off x="277814" y="657912"/>
        <a:ext cx="3589652" cy="346292"/>
      </dsp:txXfrm>
    </dsp:sp>
    <dsp:sp modelId="{7AC94D09-5951-4B3F-91C1-A96A6E997B86}">
      <dsp:nvSpPr>
        <dsp:cNvPr id="0" name=""/>
        <dsp:cNvSpPr/>
      </dsp:nvSpPr>
      <dsp:spPr>
        <a:xfrm>
          <a:off x="0" y="2301164"/>
          <a:ext cx="5181600" cy="9828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2150" tIns="270764" rIns="402150" bIns="56896" numCol="1" spcCol="1270" anchor="t" anchorCtr="0">
          <a:noAutofit/>
        </a:bodyPr>
        <a:lstStyle/>
        <a:p>
          <a:pPr marL="114300" lvl="1" indent="0" algn="l" defTabSz="533400">
            <a:lnSpc>
              <a:spcPct val="90000"/>
            </a:lnSpc>
            <a:spcBef>
              <a:spcPct val="0"/>
            </a:spcBef>
            <a:spcAft>
              <a:spcPct val="15000"/>
            </a:spcAft>
            <a:buChar char="•"/>
          </a:pPr>
          <a:r>
            <a:rPr lang="en-US" sz="1200" b="1" kern="1200">
              <a:effectLst/>
            </a:rPr>
            <a:t>1.2 million energy customers</a:t>
          </a:r>
          <a:r>
            <a:rPr lang="en-US" sz="1200" kern="1200">
              <a:effectLst/>
            </a:rPr>
            <a:t> were estimated to be </a:t>
          </a:r>
          <a:r>
            <a:rPr lang="en-US" sz="1200" b="1" kern="1200">
              <a:effectLst/>
            </a:rPr>
            <a:t>£166 million worse off</a:t>
          </a:r>
          <a:r>
            <a:rPr lang="en-US" sz="1200" kern="1200">
              <a:effectLst/>
            </a:rPr>
            <a:t> after abandoning attempts to resolve issues with their supplier.</a:t>
          </a:r>
          <a:endParaRPr lang="en-US" sz="1200" kern="1200"/>
        </a:p>
        <a:p>
          <a:pPr marL="57150" lvl="1" indent="-57150" algn="l" defTabSz="355600">
            <a:lnSpc>
              <a:spcPct val="90000"/>
            </a:lnSpc>
            <a:spcBef>
              <a:spcPct val="0"/>
            </a:spcBef>
            <a:spcAft>
              <a:spcPct val="15000"/>
            </a:spcAft>
            <a:buFont typeface="Wingdings" panose="05000000000000000000" pitchFamily="2" charset="2"/>
            <a:buChar char="q"/>
          </a:pPr>
          <a:r>
            <a:rPr lang="en-US" sz="800" b="1" kern="1200">
              <a:solidFill>
                <a:srgbClr val="00263E"/>
              </a:solidFill>
              <a:latin typeface="Aptos"/>
              <a:ea typeface="+mn-ea"/>
              <a:cs typeface="+mn-cs"/>
            </a:rPr>
            <a:t>Source: UK Government consultation response</a:t>
          </a:r>
        </a:p>
      </dsp:txBody>
      <dsp:txXfrm>
        <a:off x="0" y="2301164"/>
        <a:ext cx="5181600" cy="982800"/>
      </dsp:txXfrm>
    </dsp:sp>
    <dsp:sp modelId="{26B6FC12-5E41-45AE-ABE5-134CD9243C32}">
      <dsp:nvSpPr>
        <dsp:cNvPr id="0" name=""/>
        <dsp:cNvSpPr/>
      </dsp:nvSpPr>
      <dsp:spPr>
        <a:xfrm>
          <a:off x="259080" y="2109283"/>
          <a:ext cx="3627120" cy="38376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097" tIns="0" rIns="137097" bIns="0" numCol="1" spcCol="1270" anchor="ctr" anchorCtr="0">
          <a:noAutofit/>
        </a:bodyPr>
        <a:lstStyle/>
        <a:p>
          <a:pPr marL="0" lvl="0" indent="0" algn="l" defTabSz="577850">
            <a:lnSpc>
              <a:spcPct val="90000"/>
            </a:lnSpc>
            <a:spcBef>
              <a:spcPct val="0"/>
            </a:spcBef>
            <a:spcAft>
              <a:spcPct val="35000"/>
            </a:spcAft>
            <a:buNone/>
          </a:pPr>
          <a:r>
            <a:rPr lang="en-US" sz="1300" b="1" kern="1200">
              <a:effectLst/>
            </a:rPr>
            <a:t>Customer Churn &amp; Revenue Risk</a:t>
          </a:r>
          <a:endParaRPr lang="en-US" sz="1300" kern="1200"/>
        </a:p>
      </dsp:txBody>
      <dsp:txXfrm>
        <a:off x="277814" y="2128017"/>
        <a:ext cx="3589652" cy="346292"/>
      </dsp:txXfrm>
    </dsp:sp>
    <dsp:sp modelId="{717F4A5C-CCF0-4C2D-90AB-3E390319ACEA}">
      <dsp:nvSpPr>
        <dsp:cNvPr id="0" name=""/>
        <dsp:cNvSpPr/>
      </dsp:nvSpPr>
      <dsp:spPr>
        <a:xfrm>
          <a:off x="0" y="3546044"/>
          <a:ext cx="5181600" cy="94185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2150" tIns="270764" rIns="402150"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a:effectLst/>
            </a:rPr>
            <a:t>Customers spent an estimated </a:t>
          </a:r>
          <a:r>
            <a:rPr lang="en-US" sz="1300" b="1" kern="1200">
              <a:effectLst/>
            </a:rPr>
            <a:t>13.9 million hours</a:t>
          </a:r>
          <a:r>
            <a:rPr lang="en-US" sz="1300" kern="1200">
              <a:effectLst/>
            </a:rPr>
            <a:t> dealing with energy-service issues.</a:t>
          </a:r>
          <a:endParaRPr lang="en-US" sz="1300" kern="1200"/>
        </a:p>
        <a:p>
          <a:pPr marL="114300" lvl="1" indent="-114300" algn="l" defTabSz="577850">
            <a:lnSpc>
              <a:spcPct val="90000"/>
            </a:lnSpc>
            <a:spcBef>
              <a:spcPct val="0"/>
            </a:spcBef>
            <a:spcAft>
              <a:spcPct val="15000"/>
            </a:spcAft>
            <a:buChar char="•"/>
          </a:pPr>
          <a:r>
            <a:rPr lang="en-US" sz="1300" kern="1200">
              <a:effectLst/>
            </a:rPr>
            <a:t>Equivalent to roughly </a:t>
          </a:r>
          <a:r>
            <a:rPr lang="en-US" sz="1300" b="1" kern="1200">
              <a:effectLst/>
            </a:rPr>
            <a:t>1,600 years of customer time lost</a:t>
          </a:r>
          <a:r>
            <a:rPr lang="en-US" sz="1300" kern="1200">
              <a:effectLst/>
            </a:rPr>
            <a:t>.</a:t>
          </a:r>
        </a:p>
      </dsp:txBody>
      <dsp:txXfrm>
        <a:off x="0" y="3546044"/>
        <a:ext cx="5181600" cy="941850"/>
      </dsp:txXfrm>
    </dsp:sp>
    <dsp:sp modelId="{23F5CB7B-5AF3-45B9-8362-40C84F4180C5}">
      <dsp:nvSpPr>
        <dsp:cNvPr id="0" name=""/>
        <dsp:cNvSpPr/>
      </dsp:nvSpPr>
      <dsp:spPr>
        <a:xfrm>
          <a:off x="259080" y="3354164"/>
          <a:ext cx="3627120" cy="38376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097" tIns="0" rIns="137097" bIns="0" numCol="1" spcCol="1270" anchor="ctr" anchorCtr="0">
          <a:noAutofit/>
        </a:bodyPr>
        <a:lstStyle/>
        <a:p>
          <a:pPr marL="0" lvl="0" indent="0" algn="l" defTabSz="577850">
            <a:lnSpc>
              <a:spcPct val="90000"/>
            </a:lnSpc>
            <a:spcBef>
              <a:spcPct val="0"/>
            </a:spcBef>
            <a:spcAft>
              <a:spcPct val="35000"/>
            </a:spcAft>
            <a:buNone/>
          </a:pPr>
          <a:r>
            <a:rPr lang="en-US" sz="1300" b="1" kern="1200">
              <a:effectLst/>
            </a:rPr>
            <a:t>Operational Cost</a:t>
          </a:r>
          <a:endParaRPr lang="en-US" sz="1300" kern="1200"/>
        </a:p>
      </dsp:txBody>
      <dsp:txXfrm>
        <a:off x="277814" y="3372898"/>
        <a:ext cx="3589652" cy="34629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3C12CE-E56D-9B9D-54B8-372E91786BCB}"/>
              </a:ext>
            </a:extLst>
          </p:cNvPr>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3409BBD2-8ECB-2039-6E0B-8FA34430AB32}"/>
              </a:ext>
            </a:extLst>
          </p:cNvPr>
          <p:cNvSpPr>
            <a:spLocks noGrp="1"/>
          </p:cNvSpPr>
          <p:nvPr>
            <p:ph type="dt" sz="quarter" idx="1"/>
          </p:nvPr>
        </p:nvSpPr>
        <p:spPr>
          <a:xfrm>
            <a:off x="3884613" y="0"/>
            <a:ext cx="2971800" cy="611188"/>
          </a:xfrm>
          <a:prstGeom prst="rect">
            <a:avLst/>
          </a:prstGeom>
        </p:spPr>
        <p:txBody>
          <a:bodyPr vert="horz" lIns="91440" tIns="45720" rIns="91440" bIns="45720" rtlCol="0"/>
          <a:lstStyle>
            <a:lvl1pPr algn="r">
              <a:defRPr sz="1200"/>
            </a:lvl1pPr>
          </a:lstStyle>
          <a:p>
            <a:fld id="{CCBC65C4-8F6F-407F-80BE-163B006CA4B1}" type="datetimeFigureOut">
              <a:rPr lang="en-IN" smtClean="0"/>
              <a:t>21-08-2026</a:t>
            </a:fld>
            <a:endParaRPr lang="en-IN"/>
          </a:p>
        </p:txBody>
      </p:sp>
      <p:sp>
        <p:nvSpPr>
          <p:cNvPr id="4" name="Footer Placeholder 3">
            <a:extLst>
              <a:ext uri="{FF2B5EF4-FFF2-40B4-BE49-F238E27FC236}">
                <a16:creationId xmlns:a16="http://schemas.microsoft.com/office/drawing/2014/main" id="{86EE81E3-EFD4-8DCC-C5EC-C8D96A320B41}"/>
              </a:ext>
            </a:extLst>
          </p:cNvPr>
          <p:cNvSpPr>
            <a:spLocks noGrp="1"/>
          </p:cNvSpPr>
          <p:nvPr>
            <p:ph type="ftr" sz="quarter" idx="2"/>
          </p:nvPr>
        </p:nvSpPr>
        <p:spPr>
          <a:xfrm>
            <a:off x="0" y="11580813"/>
            <a:ext cx="2971800" cy="6111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23EE7F93-139E-E175-90BC-268616FA176B}"/>
              </a:ext>
            </a:extLst>
          </p:cNvPr>
          <p:cNvSpPr>
            <a:spLocks noGrp="1"/>
          </p:cNvSpPr>
          <p:nvPr>
            <p:ph type="sldNum" sz="quarter" idx="3"/>
          </p:nvPr>
        </p:nvSpPr>
        <p:spPr>
          <a:xfrm>
            <a:off x="3884613" y="11580813"/>
            <a:ext cx="2971800" cy="611187"/>
          </a:xfrm>
          <a:prstGeom prst="rect">
            <a:avLst/>
          </a:prstGeom>
        </p:spPr>
        <p:txBody>
          <a:bodyPr vert="horz" lIns="91440" tIns="45720" rIns="91440" bIns="45720" rtlCol="0" anchor="b"/>
          <a:lstStyle>
            <a:lvl1pPr algn="r">
              <a:defRPr sz="1200"/>
            </a:lvl1pPr>
          </a:lstStyle>
          <a:p>
            <a:fld id="{5E8DA641-B0A8-449E-B363-F9021BA2453F}" type="slidenum">
              <a:rPr lang="en-IN" smtClean="0"/>
              <a:t>‹#›</a:t>
            </a:fld>
            <a:endParaRPr lang="en-IN"/>
          </a:p>
        </p:txBody>
      </p:sp>
    </p:spTree>
    <p:extLst>
      <p:ext uri="{BB962C8B-B14F-4D97-AF65-F5344CB8AC3E}">
        <p14:creationId xmlns:p14="http://schemas.microsoft.com/office/powerpoint/2010/main" val="13237472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8/21/2026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[Sources]
- First slide requested to follow the hackathon reference-image style provided by the user.
- Visual on this slide was generated with Microsoft Copilot.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Sources
- Updated from the detailed reviewer feedback provided by Rahul Gupta in the chat.
- Scenario values are synthetic working-demo numbers from Rahul Gupta feedback: 50,000 customer records, Complaint Rate 1,200 to 1,650, 1,200 to 1,650 complaint cases, 4 hours to 5 minutes, 87% confidence, 9 tables and related impact metrics.
- Content uses the uploaded AI_Operations_Intelligence_Agent_2.pptx as the base storyline.
- Visual on this slide was generated with Microsoft Copilot.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Sources</a:t>
            </a:r>
          </a:p>
          <a:p>
            <a:r>
              <a:t>- Updated per Rahul Gupta request: Business Problem slide now contains only the heading and main business problem points, without complaint-specific or complaint-specific metrics.</a:t>
            </a:r>
          </a:p>
          <a:p>
            <a:r>
              <a:t>- Content is a business framing suggestion for the UK utilities AI Operations Intelligence Agent deck.</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Sources</a:t>
            </a:r>
          </a:p>
          <a:p>
            <a:r>
              <a:t>- Added per Rahul Gupta request after the Business Problem slide to show the old/manual way of analysis.</a:t>
            </a:r>
          </a:p>
          <a:p>
            <a:r>
              <a:t>- Flow and pain points are proposed business framing for the UK utilities AI Operations Intelligence Agent deck.</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Sources
- Updated from the detailed reviewer feedback provided by Rahul Gupta in the chat.
- Scenario values are synthetic working-demo numbers from Rahul Gupta feedback: 50,000 customer records, Complaint Rate 1,200 to 1,650, 1,200 to 1,650 complaint cases, 4 hours to 5 minutes, 87% confidence, 9 tables and related impact metrics.
- Content uses the uploaded AI_Operations_Intelligence_Agent_2.pptx as the base storyline.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t>Sources</a:t>
            </a:r>
          </a:p>
          <a:p>
            <a:r>
              <a:t>- Updated from the detailed reviewer feedback provided by Rahul Gupta in the chat.</a:t>
            </a:r>
          </a:p>
          <a:p>
            <a:r>
              <a:t>- Scenario values are synthetic working-demo numbers from Rahul Gupta feedback: 50,000 customer records, Complaint Rate 1,200 to 1,650, 1,200 to 1,650 complaint cases, 4 hours to 5 minutes, 87% confidence, 9 tables and related impact metrics.</a:t>
            </a:r>
          </a:p>
          <a:p>
            <a:r>
              <a:t>- Content uses the uploaded AI_Operations_Intelligence_Agent_2.pptx as the base storyline.</a:t>
            </a:r>
          </a:p>
          <a:p>
            <a:r>
              <a:t>- Visual on this slide was generated with Microsoft Copilot.</a:t>
            </a:r>
          </a:p>
          <a:p>
            <a:r>
              <a:t>- Dashboard-style images removed and replaced with editable PowerPoint charts using illustrative complaint-case scenario values provided in this conversation.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D51F6-B97F-3B95-5CF7-4F9DF17C18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AFEA74-3063-0A05-2E05-B4AF862DD51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71F54BE-DE1E-4BC3-AF4E-C374124C5C1D}"/>
              </a:ext>
            </a:extLst>
          </p:cNvPr>
          <p:cNvSpPr>
            <a:spLocks noGrp="1"/>
          </p:cNvSpPr>
          <p:nvPr>
            <p:ph type="body" idx="1"/>
          </p:nvPr>
        </p:nvSpPr>
        <p:spPr/>
        <p:txBody>
          <a:bodyPr/>
          <a:lstStyle/>
          <a:p>
            <a:r>
              <a:t>Sources</a:t>
            </a:r>
          </a:p>
          <a:p>
            <a:r>
              <a:t>- Technical architecture elements are based on AI_Technical_Architecture_Slide.pptx: Architecture flow, Processing &amp; AI Engine, Application &amp; Delivery, and architecture components.</a:t>
            </a:r>
          </a:p>
          <a:p>
            <a:r>
              <a:t>- Source specifies Business Users → Insight Forge Investigation Portal (Streamlit on Cloud Run) → AI Investigation Agent → Investigation Engines → BigQuery Reporting &amp; Analytics Layer → Enterprise Operational Data Platform.</a:t>
            </a:r>
          </a:p>
          <a:p>
            <a:r>
              <a:t>- Source also specifies BigQuery approved reporting datasets, Cloud Run hosting/autoscaling, Secret Manager credentials, and IAM role-based access control.</a:t>
            </a:r>
          </a:p>
        </p:txBody>
      </p:sp>
      <p:sp>
        <p:nvSpPr>
          <p:cNvPr id="4" name="Slide Number Placeholder 3">
            <a:extLst>
              <a:ext uri="{FF2B5EF4-FFF2-40B4-BE49-F238E27FC236}">
                <a16:creationId xmlns:a16="http://schemas.microsoft.com/office/drawing/2014/main" id="{6BE9F284-86A5-0778-B38F-CC625D8A0758}"/>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1313527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a:t>
            </a:r>
          </a:p>
          <a:p>
            <a:r>
              <a:t>- Uploaded architecture image from Rahul Gupta: Designer (3).png.</a:t>
            </a:r>
          </a:p>
          <a:p>
            <a:r>
              <a:t>- Slide created in the same deck style and positioned after New Way of Analysis to bridge architecture into feasibility, compliance and deployment content.</a:t>
            </a:r>
          </a:p>
          <a:p>
            <a:r>
              <a:t>- Suggested placement: after Slide 7 because Slide 7 introduces the AI investigation flow and this image provides the full high-level integrated architecture view.</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Sources</a:t>
            </a:r>
          </a:p>
          <a:p>
            <a:r>
              <a:t>- Based on AI_Technical_Architecture_Slide.pptx: Deployment Plan and Integration sections mention direct integration with BigQuery datasets, reuse of existing KPI calculations, connection to Complaint, Billing, Meter &amp; Customer data, Cloud Run for Streamlit &amp; AI Agent, and OpenAI/Claude API integration.</a:t>
            </a:r>
          </a:p>
          <a:p>
            <a:r>
              <a:t>- Tool calling and AI engine details are from the Processing &amp; AI Engine section.</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 Content synthesizes the two slide screenshots provided by the user in this chat.
- Key concepts retained: dashboard vs automation vs InsightForge, dynamic investigation, evidence comparison, explainability, business action and reusable pattern.
- Added user-provided positioning: InsightForge is not a standalone product; it integrates with existing dashboards/reports and creates role-based action items for business, consumer-service and sales/operations users.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Sources</a:t>
            </a:r>
          </a:p>
          <a:p>
            <a:r>
              <a:t>- Based on AI_Technical_Architecture_Slide.pptx: Security &amp; Compliance section mentions read-only dataset access, IAM role-based access control, and Secret Manager for credentials.</a:t>
            </a:r>
          </a:p>
          <a:p>
            <a:r>
              <a:t>- Architecture Components mention BigQuery approved reporting datasets, Cloud Run, Secret Manager and IAM.</a:t>
            </a:r>
          </a:p>
          <a:p>
            <a:r>
              <a:t>- Metric-only exposure through tools is based on the user-provided requirement in this chat.</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Sources</a:t>
            </a:r>
          </a:p>
          <a:p>
            <a:r>
              <a:t>- Based on AI_Technical_Architecture_Slide.pptx: Deployment Plan mentions GCP cloud-native deployment, Cloud Run for Streamlit and AI Agent, BigQuery reporting layer, Dev/UAT/Production environments, and auto-scaling serverless architecture.</a:t>
            </a:r>
          </a:p>
          <a:p>
            <a:r>
              <a:t>- Rollout phases are adapted from the source rollout approach: PoC, Business Pilot, Enterprise Rollout, and Multi KPI Expansion.</a:t>
            </a:r>
          </a:p>
          <a:p>
            <a:r>
              <a:t>- Ownership and support points are based on the source roles: Analytics Team, Data Engineering and Cloud Team.</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Sources
- Updated from the detailed reviewer feedback provided by Rahul Gupta in the chat.
- Scenario values are synthetic working-demo numbers from Rahul Gupta feedback: 50,000 customer records, Complaint Rate 1,200 to 1,650, 1,200 to 1,650 complaint cases, 4 hours to 5 minutes, 87% confidence, 9 tables and related impact metrics.
- Content uses the uploaded AI_Operations_Intelligence_Agent_2.pptx as the base storyline.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00241-2A2D-15B2-A1DB-EB4A25C97A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E10D70-E5AF-9E76-A78B-8FF6BB5F85C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7E8B55E-79F6-DD40-DD19-22485E8E0F94}"/>
              </a:ext>
            </a:extLst>
          </p:cNvPr>
          <p:cNvSpPr>
            <a:spLocks noGrp="1"/>
          </p:cNvSpPr>
          <p:nvPr>
            <p:ph type="body" idx="1"/>
          </p:nvPr>
        </p:nvSpPr>
        <p:spPr/>
        <p:txBody>
          <a:bodyPr/>
          <a:lstStyle/>
          <a:p>
            <a:r>
              <a:rPr lang="en-US"/>
              <a:t>Sources
- Updated from the detailed reviewer feedback provided by Rahul Gupta in the chat.
- Scenario values are synthetic working-demo numbers from Rahul Gupta feedback: 50,000 customer records, Complaint Rate 1,200 to 1,650, 1,200 to 1,650 complaint cases, 4 hours to 5 minutes, 87% confidence, 9 tables and related impact metrics.
- Content uses the uploaded AI_Operations_Intelligence_Agent_2.pptx as the base storyline.</a:t>
            </a:r>
          </a:p>
        </p:txBody>
      </p:sp>
      <p:sp>
        <p:nvSpPr>
          <p:cNvPr id="4" name="Slide Number Placeholder 3">
            <a:extLst>
              <a:ext uri="{FF2B5EF4-FFF2-40B4-BE49-F238E27FC236}">
                <a16:creationId xmlns:a16="http://schemas.microsoft.com/office/drawing/2014/main" id="{3535BA3E-0B35-2CE5-1B2A-51E887B111CD}"/>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4826939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C5DB1-74CE-69DD-C377-8DED6408C1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669D4C-21D4-5EF6-9F8F-F722B5C6B40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CE7706D-5C9A-4378-04E9-95715E288C83}"/>
              </a:ext>
            </a:extLst>
          </p:cNvPr>
          <p:cNvSpPr>
            <a:spLocks noGrp="1"/>
          </p:cNvSpPr>
          <p:nvPr>
            <p:ph type="body" idx="1"/>
          </p:nvPr>
        </p:nvSpPr>
        <p:spPr/>
        <p:txBody>
          <a:bodyPr/>
          <a:lstStyle/>
          <a:p>
            <a:r>
              <a:rPr lang="en-US"/>
              <a:t>[Sources]
- First slide requested to follow the hackathon reference-image style provided by the user.
- Visual on this slide was generated with Microsoft Copilot.</a:t>
            </a:r>
          </a:p>
        </p:txBody>
      </p:sp>
      <p:sp>
        <p:nvSpPr>
          <p:cNvPr id="4" name="Slide Number Placeholder 3">
            <a:extLst>
              <a:ext uri="{FF2B5EF4-FFF2-40B4-BE49-F238E27FC236}">
                <a16:creationId xmlns:a16="http://schemas.microsoft.com/office/drawing/2014/main" id="{27563818-ECDB-AF3B-9574-6E737B160076}"/>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983109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0"/>
          </a:xfrm>
          <a:prstGeom prst="line">
            <a:avLst/>
          </a:prstGeom>
          <a:noFill/>
          <a:ln w="50800">
            <a:solidFill>
              <a:srgbClr val="FB4D0A"/>
            </a:solidFill>
            <a:prstDash val="solid"/>
          </a:ln>
        </p:spPr>
        <p:txBody>
          <a:bodyPr/>
          <a:lstStyle/>
          <a:p>
            <a:endParaRPr lang="en-IN"/>
          </a:p>
        </p:txBody>
      </p:sp>
      <p:sp>
        <p:nvSpPr>
          <p:cNvPr id="3" name="Text 1"/>
          <p:cNvSpPr/>
          <p:nvPr/>
        </p:nvSpPr>
        <p:spPr>
          <a:xfrm>
            <a:off x="274320" y="6483096"/>
            <a:ext cx="3291840" cy="128016"/>
          </a:xfrm>
          <a:prstGeom prst="rect">
            <a:avLst/>
          </a:prstGeom>
          <a:noFill/>
          <a:ln/>
        </p:spPr>
        <p:txBody>
          <a:bodyPr wrap="square" lIns="0" tIns="0" rIns="0" bIns="0" rtlCol="0" anchor="ctr"/>
          <a:lstStyle/>
          <a:p>
            <a:pPr marL="0" indent="0">
              <a:buNone/>
            </a:pPr>
            <a:r>
              <a:rPr lang="en-US" sz="550">
                <a:solidFill>
                  <a:srgbClr val="6A7785"/>
                </a:solidFill>
              </a:rPr>
              <a:t>InsightForge-AI | AI Operations Intelligence Agent</a:t>
            </a:r>
            <a:endParaRPr lang="en-US" sz="55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svg"/><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 Id="rId8" Type="http://schemas.openxmlformats.org/officeDocument/2006/relationships/diagramData" Target="../diagrams/data2.xml"/><Relationship Id="rId9" Type="http://schemas.openxmlformats.org/officeDocument/2006/relationships/diagramLayout" Target="../diagrams/layout2.xml"/><Relationship Id="rId10" Type="http://schemas.openxmlformats.org/officeDocument/2006/relationships/diagramQuickStyle" Target="../diagrams/quickStyle2.xml"/><Relationship Id="rId11" Type="http://schemas.openxmlformats.org/officeDocument/2006/relationships/diagramColors" Target="../diagrams/colors2.xml"/><Relationship Id="rId12" Type="http://schemas.microsoft.com/office/2007/relationships/diagramDrawing" Target="../diagrams/drawing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pic>
        <p:nvPicPr>
          <p:cNvPr id="2" name="Image 0" descr="/mnt/data/bad2969133.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128016"/>
            <a:ext cx="12191999" cy="6729984"/>
          </a:xfrm>
          <a:prstGeom prst="rect">
            <a:avLst/>
          </a:prstGeom>
          <a:solidFill>
            <a:srgbClr val="001A2B">
              <a:alpha val="87000"/>
            </a:srgbClr>
          </a:solidFill>
          <a:ln w="12700">
            <a:solidFill>
              <a:srgbClr val="001A2B">
                <a:alpha val="0"/>
              </a:srgbClr>
            </a:solidFill>
            <a:prstDash val="solid"/>
          </a:ln>
        </p:spPr>
        <p:txBody>
          <a:bodyPr/>
          <a:lstStyle/>
          <a:p>
            <a:r>
              <a:rPr lang="en-IN">
                <a:solidFill>
                  <a:schemeClr val="bg1"/>
                </a:solidFill>
              </a:rPr>
              <a:t>InsightForge-AI</a:t>
            </a:r>
          </a:p>
        </p:txBody>
      </p:sp>
      <p:sp>
        <p:nvSpPr>
          <p:cNvPr id="4" name="Shape 1"/>
          <p:cNvSpPr/>
          <p:nvPr/>
        </p:nvSpPr>
        <p:spPr>
          <a:xfrm>
            <a:off x="0" y="0"/>
            <a:ext cx="12191695" cy="36000"/>
          </a:xfrm>
          <a:prstGeom prst="rect">
            <a:avLst/>
          </a:prstGeom>
          <a:solidFill>
            <a:srgbClr val="FB4D0A"/>
          </a:solidFill>
          <a:ln w="12700">
            <a:solidFill>
              <a:srgbClr val="FB4D0A"/>
            </a:solidFill>
            <a:prstDash val="solid"/>
          </a:ln>
        </p:spPr>
        <p:txBody>
          <a:bodyPr/>
          <a:lstStyle/>
          <a:p>
            <a:endParaRPr lang="en-IN"/>
          </a:p>
        </p:txBody>
      </p:sp>
      <p:sp>
        <p:nvSpPr>
          <p:cNvPr id="5" name="Text 2"/>
          <p:cNvSpPr/>
          <p:nvPr/>
        </p:nvSpPr>
        <p:spPr>
          <a:xfrm>
            <a:off x="475488" y="438912"/>
            <a:ext cx="1325880" cy="347472"/>
          </a:xfrm>
          <a:prstGeom prst="rect">
            <a:avLst/>
          </a:prstGeom>
          <a:noFill/>
          <a:ln/>
        </p:spPr>
        <p:txBody>
          <a:bodyPr wrap="square" lIns="0" tIns="0" rIns="0" bIns="0" rtlCol="0" anchor="ctr"/>
          <a:lstStyle/>
          <a:p>
            <a:pPr marL="0" indent="0">
              <a:buNone/>
            </a:pPr>
            <a:r>
              <a:rPr lang="en-US" sz="2500" b="1">
                <a:solidFill>
                  <a:srgbClr val="FB4D0A"/>
                </a:solidFill>
                <a:latin typeface="Calibri" pitchFamily="34" charset="0"/>
                <a:ea typeface="Calibri" pitchFamily="34" charset="-122"/>
                <a:cs typeface="Calibri" pitchFamily="34" charset="-120"/>
              </a:rPr>
              <a:t>EXL</a:t>
            </a:r>
            <a:endParaRPr lang="en-US" sz="2500"/>
          </a:p>
        </p:txBody>
      </p:sp>
      <p:sp>
        <p:nvSpPr>
          <p:cNvPr id="6" name="Text 3"/>
          <p:cNvSpPr/>
          <p:nvPr/>
        </p:nvSpPr>
        <p:spPr>
          <a:xfrm>
            <a:off x="475488" y="1143000"/>
            <a:ext cx="5440680" cy="685800"/>
          </a:xfrm>
          <a:prstGeom prst="rect">
            <a:avLst/>
          </a:prstGeom>
          <a:noFill/>
          <a:ln/>
        </p:spPr>
        <p:txBody>
          <a:bodyPr wrap="square" lIns="0" tIns="0" rIns="0" bIns="0" rtlCol="0" anchor="ctr">
            <a:normAutofit lnSpcReduction="10000"/>
          </a:bodyPr>
          <a:lstStyle/>
          <a:p>
            <a:pPr marL="0" indent="0">
              <a:buNone/>
            </a:pPr>
            <a:r>
              <a:rPr lang="en-US" sz="4800" b="1">
                <a:solidFill>
                  <a:srgbClr val="FFFFFF"/>
                </a:solidFill>
                <a:latin typeface="Calibri" pitchFamily="34" charset="0"/>
                <a:ea typeface="Calibri" pitchFamily="34" charset="-122"/>
                <a:cs typeface="Calibri" pitchFamily="34" charset="-120"/>
              </a:rPr>
              <a:t>HACKATHON</a:t>
            </a:r>
            <a:endParaRPr lang="en-US" sz="4800"/>
          </a:p>
        </p:txBody>
      </p:sp>
      <p:sp>
        <p:nvSpPr>
          <p:cNvPr id="7" name="Shape 4"/>
          <p:cNvSpPr/>
          <p:nvPr/>
        </p:nvSpPr>
        <p:spPr>
          <a:xfrm>
            <a:off x="502920" y="2011680"/>
            <a:ext cx="822960" cy="1"/>
          </a:xfrm>
          <a:prstGeom prst="line">
            <a:avLst/>
          </a:prstGeom>
          <a:noFill/>
          <a:ln w="27940">
            <a:solidFill>
              <a:srgbClr val="FB4D0A"/>
            </a:solidFill>
            <a:prstDash val="solid"/>
          </a:ln>
        </p:spPr>
        <p:txBody>
          <a:bodyPr/>
          <a:lstStyle/>
          <a:p>
            <a:endParaRPr lang="en-IN"/>
          </a:p>
        </p:txBody>
      </p:sp>
      <p:sp>
        <p:nvSpPr>
          <p:cNvPr id="8" name="Text 5"/>
          <p:cNvSpPr/>
          <p:nvPr/>
        </p:nvSpPr>
        <p:spPr>
          <a:xfrm>
            <a:off x="484378" y="2102947"/>
            <a:ext cx="4206240" cy="246888"/>
          </a:xfrm>
          <a:prstGeom prst="rect">
            <a:avLst/>
          </a:prstGeom>
          <a:noFill/>
          <a:ln/>
        </p:spPr>
        <p:txBody>
          <a:bodyPr wrap="square" lIns="0" tIns="0" rIns="0" bIns="0" rtlCol="0" anchor="ctr">
            <a:normAutofit fontScale="92500" lnSpcReduction="10000"/>
          </a:bodyPr>
          <a:lstStyle/>
          <a:p>
            <a:pPr marL="0" indent="0">
              <a:buNone/>
            </a:pPr>
            <a:r>
              <a:rPr lang="en-US" sz="1800" b="1">
                <a:solidFill>
                  <a:srgbClr val="FFFFFF"/>
                </a:solidFill>
                <a:latin typeface="Calibri" pitchFamily="34" charset="0"/>
                <a:ea typeface="Calibri" pitchFamily="34" charset="-122"/>
                <a:cs typeface="Calibri" pitchFamily="34" charset="-120"/>
              </a:rPr>
              <a:t>BUILD BOLD SOLUTIONS.</a:t>
            </a:r>
            <a:endParaRPr lang="en-US" sz="1800"/>
          </a:p>
        </p:txBody>
      </p:sp>
      <p:sp>
        <p:nvSpPr>
          <p:cNvPr id="9" name="Text 6"/>
          <p:cNvSpPr/>
          <p:nvPr/>
        </p:nvSpPr>
        <p:spPr>
          <a:xfrm>
            <a:off x="502920" y="2587752"/>
            <a:ext cx="4572000" cy="283464"/>
          </a:xfrm>
          <a:prstGeom prst="rect">
            <a:avLst/>
          </a:prstGeom>
          <a:noFill/>
          <a:ln/>
        </p:spPr>
        <p:txBody>
          <a:bodyPr wrap="square" lIns="0" tIns="0" rIns="0" bIns="0" rtlCol="0" anchor="ctr">
            <a:normAutofit lnSpcReduction="10000"/>
          </a:bodyPr>
          <a:lstStyle/>
          <a:p>
            <a:pPr marL="0" indent="0">
              <a:buNone/>
            </a:pPr>
            <a:r>
              <a:rPr lang="en-US" sz="2000" b="1">
                <a:solidFill>
                  <a:srgbClr val="FB4D0A"/>
                </a:solidFill>
                <a:latin typeface="Calibri" pitchFamily="34" charset="0"/>
                <a:ea typeface="Calibri" pitchFamily="34" charset="-122"/>
                <a:cs typeface="Calibri" pitchFamily="34" charset="-120"/>
              </a:rPr>
              <a:t>CREATE REAL-WORLD IMPACT.</a:t>
            </a:r>
            <a:endParaRPr lang="en-US" sz="2000"/>
          </a:p>
        </p:txBody>
      </p:sp>
      <p:sp>
        <p:nvSpPr>
          <p:cNvPr id="10" name="Shape 7"/>
          <p:cNvSpPr/>
          <p:nvPr/>
        </p:nvSpPr>
        <p:spPr>
          <a:xfrm>
            <a:off x="658368" y="3127248"/>
            <a:ext cx="256032" cy="256032"/>
          </a:xfrm>
          <a:prstGeom prst="arc">
            <a:avLst/>
          </a:prstGeom>
          <a:noFill/>
          <a:ln w="15240">
            <a:solidFill>
              <a:srgbClr val="FB4D0A"/>
            </a:solidFill>
            <a:prstDash val="solid"/>
          </a:ln>
        </p:spPr>
        <p:txBody>
          <a:bodyPr/>
          <a:lstStyle/>
          <a:p>
            <a:endParaRPr lang="en-IN"/>
          </a:p>
        </p:txBody>
      </p:sp>
      <p:sp>
        <p:nvSpPr>
          <p:cNvPr id="11" name="Text 8"/>
          <p:cNvSpPr/>
          <p:nvPr/>
        </p:nvSpPr>
        <p:spPr>
          <a:xfrm>
            <a:off x="402336" y="3456432"/>
            <a:ext cx="914400" cy="118872"/>
          </a:xfrm>
          <a:prstGeom prst="rect">
            <a:avLst/>
          </a:prstGeom>
          <a:noFill/>
          <a:ln/>
        </p:spPr>
        <p:txBody>
          <a:bodyPr wrap="square" lIns="0" tIns="0" rIns="0" bIns="0" rtlCol="0" anchor="ctr"/>
          <a:lstStyle/>
          <a:p>
            <a:pPr marL="0" indent="0" algn="ctr">
              <a:buNone/>
            </a:pPr>
            <a:r>
              <a:rPr lang="en-US" sz="760" b="1">
                <a:solidFill>
                  <a:srgbClr val="FFFFFF"/>
                </a:solidFill>
                <a:latin typeface="Calibri" pitchFamily="34" charset="0"/>
                <a:ea typeface="Calibri" pitchFamily="34" charset="-122"/>
                <a:cs typeface="Calibri" pitchFamily="34" charset="-120"/>
              </a:rPr>
              <a:t>INNOVATE</a:t>
            </a:r>
            <a:endParaRPr lang="en-US" sz="760"/>
          </a:p>
        </p:txBody>
      </p:sp>
      <p:sp>
        <p:nvSpPr>
          <p:cNvPr id="12" name="Shape 9"/>
          <p:cNvSpPr/>
          <p:nvPr/>
        </p:nvSpPr>
        <p:spPr>
          <a:xfrm>
            <a:off x="1453896" y="3447288"/>
            <a:ext cx="1" cy="201168"/>
          </a:xfrm>
          <a:prstGeom prst="line">
            <a:avLst/>
          </a:prstGeom>
          <a:noFill/>
          <a:ln w="13970">
            <a:solidFill>
              <a:srgbClr val="FB4D0A"/>
            </a:solidFill>
            <a:prstDash val="solid"/>
          </a:ln>
        </p:spPr>
        <p:txBody>
          <a:bodyPr/>
          <a:lstStyle/>
          <a:p>
            <a:endParaRPr lang="en-IN"/>
          </a:p>
        </p:txBody>
      </p:sp>
      <p:sp>
        <p:nvSpPr>
          <p:cNvPr id="13" name="Shape 10"/>
          <p:cNvSpPr/>
          <p:nvPr/>
        </p:nvSpPr>
        <p:spPr>
          <a:xfrm>
            <a:off x="2029968" y="3127248"/>
            <a:ext cx="256032" cy="256032"/>
          </a:xfrm>
          <a:prstGeom prst="arc">
            <a:avLst/>
          </a:prstGeom>
          <a:noFill/>
          <a:ln w="15240">
            <a:solidFill>
              <a:srgbClr val="FB4D0A"/>
            </a:solidFill>
            <a:prstDash val="solid"/>
          </a:ln>
        </p:spPr>
        <p:txBody>
          <a:bodyPr/>
          <a:lstStyle/>
          <a:p>
            <a:endParaRPr lang="en-IN"/>
          </a:p>
        </p:txBody>
      </p:sp>
      <p:sp>
        <p:nvSpPr>
          <p:cNvPr id="14" name="Text 11"/>
          <p:cNvSpPr/>
          <p:nvPr/>
        </p:nvSpPr>
        <p:spPr>
          <a:xfrm>
            <a:off x="1773936" y="3456432"/>
            <a:ext cx="914400" cy="118872"/>
          </a:xfrm>
          <a:prstGeom prst="rect">
            <a:avLst/>
          </a:prstGeom>
          <a:noFill/>
          <a:ln/>
        </p:spPr>
        <p:txBody>
          <a:bodyPr wrap="square" lIns="0" tIns="0" rIns="0" bIns="0" rtlCol="0" anchor="ctr"/>
          <a:lstStyle/>
          <a:p>
            <a:pPr marL="0" indent="0" algn="ctr">
              <a:buNone/>
            </a:pPr>
            <a:r>
              <a:rPr lang="en-US" sz="760" b="1">
                <a:solidFill>
                  <a:srgbClr val="FFFFFF"/>
                </a:solidFill>
                <a:latin typeface="Calibri" pitchFamily="34" charset="0"/>
                <a:ea typeface="Calibri" pitchFamily="34" charset="-122"/>
                <a:cs typeface="Calibri" pitchFamily="34" charset="-120"/>
              </a:rPr>
              <a:t>SOLVE</a:t>
            </a:r>
            <a:endParaRPr lang="en-US" sz="760"/>
          </a:p>
        </p:txBody>
      </p:sp>
      <p:sp>
        <p:nvSpPr>
          <p:cNvPr id="15" name="Shape 12"/>
          <p:cNvSpPr/>
          <p:nvPr/>
        </p:nvSpPr>
        <p:spPr>
          <a:xfrm>
            <a:off x="2825496" y="3447288"/>
            <a:ext cx="1" cy="201168"/>
          </a:xfrm>
          <a:prstGeom prst="line">
            <a:avLst/>
          </a:prstGeom>
          <a:noFill/>
          <a:ln w="13970">
            <a:solidFill>
              <a:srgbClr val="FB4D0A"/>
            </a:solidFill>
            <a:prstDash val="solid"/>
          </a:ln>
        </p:spPr>
        <p:txBody>
          <a:bodyPr/>
          <a:lstStyle/>
          <a:p>
            <a:endParaRPr lang="en-IN"/>
          </a:p>
        </p:txBody>
      </p:sp>
      <p:sp>
        <p:nvSpPr>
          <p:cNvPr id="16" name="Shape 13"/>
          <p:cNvSpPr/>
          <p:nvPr/>
        </p:nvSpPr>
        <p:spPr>
          <a:xfrm>
            <a:off x="3328416" y="3127248"/>
            <a:ext cx="256032" cy="256032"/>
          </a:xfrm>
          <a:prstGeom prst="arc">
            <a:avLst/>
          </a:prstGeom>
          <a:noFill/>
          <a:ln w="15240">
            <a:solidFill>
              <a:srgbClr val="FB4D0A"/>
            </a:solidFill>
            <a:prstDash val="solid"/>
          </a:ln>
        </p:spPr>
        <p:txBody>
          <a:bodyPr/>
          <a:lstStyle/>
          <a:p>
            <a:endParaRPr lang="en-IN"/>
          </a:p>
        </p:txBody>
      </p:sp>
      <p:sp>
        <p:nvSpPr>
          <p:cNvPr id="17" name="Text 14"/>
          <p:cNvSpPr/>
          <p:nvPr/>
        </p:nvSpPr>
        <p:spPr>
          <a:xfrm>
            <a:off x="3072384" y="3456432"/>
            <a:ext cx="914400" cy="118872"/>
          </a:xfrm>
          <a:prstGeom prst="rect">
            <a:avLst/>
          </a:prstGeom>
          <a:noFill/>
          <a:ln/>
        </p:spPr>
        <p:txBody>
          <a:bodyPr wrap="square" lIns="0" tIns="0" rIns="0" bIns="0" rtlCol="0" anchor="ctr"/>
          <a:lstStyle/>
          <a:p>
            <a:pPr marL="0" indent="0" algn="ctr">
              <a:buNone/>
            </a:pPr>
            <a:r>
              <a:rPr lang="en-US" sz="760" b="1">
                <a:solidFill>
                  <a:srgbClr val="FFFFFF"/>
                </a:solidFill>
                <a:latin typeface="Calibri" pitchFamily="34" charset="0"/>
                <a:ea typeface="Calibri" pitchFamily="34" charset="-122"/>
                <a:cs typeface="Calibri" pitchFamily="34" charset="-120"/>
              </a:rPr>
              <a:t>TRANSFORM</a:t>
            </a:r>
            <a:endParaRPr lang="en-US" sz="760"/>
          </a:p>
        </p:txBody>
      </p:sp>
      <p:sp>
        <p:nvSpPr>
          <p:cNvPr id="18" name="Shape 15"/>
          <p:cNvSpPr/>
          <p:nvPr/>
        </p:nvSpPr>
        <p:spPr>
          <a:xfrm>
            <a:off x="4123944" y="3447288"/>
            <a:ext cx="1" cy="201168"/>
          </a:xfrm>
          <a:prstGeom prst="line">
            <a:avLst/>
          </a:prstGeom>
          <a:noFill/>
          <a:ln w="13970">
            <a:solidFill>
              <a:srgbClr val="FB4D0A"/>
            </a:solidFill>
            <a:prstDash val="solid"/>
          </a:ln>
        </p:spPr>
        <p:txBody>
          <a:bodyPr/>
          <a:lstStyle/>
          <a:p>
            <a:endParaRPr lang="en-IN"/>
          </a:p>
        </p:txBody>
      </p:sp>
      <p:sp>
        <p:nvSpPr>
          <p:cNvPr id="19" name="Shape 16"/>
          <p:cNvSpPr/>
          <p:nvPr/>
        </p:nvSpPr>
        <p:spPr>
          <a:xfrm>
            <a:off x="4892040" y="3127248"/>
            <a:ext cx="256032" cy="256032"/>
          </a:xfrm>
          <a:prstGeom prst="arc">
            <a:avLst/>
          </a:prstGeom>
          <a:noFill/>
          <a:ln w="15240">
            <a:solidFill>
              <a:srgbClr val="FB4D0A"/>
            </a:solidFill>
            <a:prstDash val="solid"/>
          </a:ln>
        </p:spPr>
        <p:txBody>
          <a:bodyPr/>
          <a:lstStyle/>
          <a:p>
            <a:endParaRPr lang="en-IN"/>
          </a:p>
        </p:txBody>
      </p:sp>
      <p:sp>
        <p:nvSpPr>
          <p:cNvPr id="20" name="Text 17"/>
          <p:cNvSpPr/>
          <p:nvPr/>
        </p:nvSpPr>
        <p:spPr>
          <a:xfrm>
            <a:off x="4636008" y="3456432"/>
            <a:ext cx="914400" cy="118872"/>
          </a:xfrm>
          <a:prstGeom prst="rect">
            <a:avLst/>
          </a:prstGeom>
          <a:noFill/>
          <a:ln/>
        </p:spPr>
        <p:txBody>
          <a:bodyPr wrap="square" lIns="0" tIns="0" rIns="0" bIns="0" rtlCol="0" anchor="ctr"/>
          <a:lstStyle/>
          <a:p>
            <a:pPr marL="0" indent="0" algn="ctr">
              <a:buNone/>
            </a:pPr>
            <a:r>
              <a:rPr lang="en-US" sz="760" b="1">
                <a:solidFill>
                  <a:srgbClr val="FFFFFF"/>
                </a:solidFill>
                <a:latin typeface="Calibri" pitchFamily="34" charset="0"/>
                <a:ea typeface="Calibri" pitchFamily="34" charset="-122"/>
                <a:cs typeface="Calibri" pitchFamily="34" charset="-120"/>
              </a:rPr>
              <a:t>IMPACT</a:t>
            </a:r>
            <a:endParaRPr lang="en-US" sz="760"/>
          </a:p>
        </p:txBody>
      </p:sp>
      <p:sp>
        <p:nvSpPr>
          <p:cNvPr id="21" name="Text 18"/>
          <p:cNvSpPr/>
          <p:nvPr/>
        </p:nvSpPr>
        <p:spPr>
          <a:xfrm>
            <a:off x="475488" y="3785423"/>
            <a:ext cx="1641471" cy="434637"/>
          </a:xfrm>
          <a:prstGeom prst="rect">
            <a:avLst/>
          </a:prstGeom>
          <a:noFill/>
          <a:ln/>
        </p:spPr>
        <p:txBody>
          <a:bodyPr wrap="square" lIns="0" tIns="0" rIns="0" bIns="0" rtlCol="0" anchor="ctr"/>
          <a:lstStyle/>
          <a:p>
            <a:pPr marL="0" indent="0">
              <a:buNone/>
            </a:pPr>
            <a:r>
              <a:rPr lang="en-US" sz="1600" b="1">
                <a:solidFill>
                  <a:srgbClr val="FFFFFF"/>
                </a:solidFill>
                <a:latin typeface="Calibri" pitchFamily="34" charset="0"/>
                <a:ea typeface="Calibri" pitchFamily="34" charset="-122"/>
                <a:cs typeface="Calibri" pitchFamily="34" charset="-120"/>
              </a:rPr>
              <a:t>Hackathon name:</a:t>
            </a:r>
            <a:endParaRPr lang="en-US" sz="1600" b="1"/>
          </a:p>
        </p:txBody>
      </p:sp>
      <p:sp>
        <p:nvSpPr>
          <p:cNvPr id="22" name="Shape 19"/>
          <p:cNvSpPr/>
          <p:nvPr/>
        </p:nvSpPr>
        <p:spPr>
          <a:xfrm>
            <a:off x="2062988" y="4076098"/>
            <a:ext cx="2556000" cy="1"/>
          </a:xfrm>
          <a:prstGeom prst="line">
            <a:avLst/>
          </a:prstGeom>
          <a:noFill/>
          <a:ln w="11430">
            <a:solidFill>
              <a:srgbClr val="FFFFFF">
                <a:alpha val="90000"/>
              </a:srgbClr>
            </a:solidFill>
            <a:prstDash val="solid"/>
          </a:ln>
        </p:spPr>
        <p:txBody>
          <a:bodyPr/>
          <a:lstStyle/>
          <a:p>
            <a:endParaRPr lang="en-IN"/>
          </a:p>
        </p:txBody>
      </p:sp>
      <p:sp>
        <p:nvSpPr>
          <p:cNvPr id="23" name="Text 20"/>
          <p:cNvSpPr/>
          <p:nvPr/>
        </p:nvSpPr>
        <p:spPr>
          <a:xfrm>
            <a:off x="2062988" y="3892731"/>
            <a:ext cx="3246120" cy="192511"/>
          </a:xfrm>
          <a:prstGeom prst="rect">
            <a:avLst/>
          </a:prstGeom>
          <a:noFill/>
          <a:ln/>
        </p:spPr>
        <p:txBody>
          <a:bodyPr wrap="square" lIns="0" tIns="0" rIns="0" bIns="0" rtlCol="0" anchor="ctr"/>
          <a:lstStyle/>
          <a:p>
            <a:r>
              <a:rPr lang="en-IN" b="1">
                <a:solidFill>
                  <a:schemeClr val="bg1"/>
                </a:solidFill>
              </a:rPr>
              <a:t>Hackathon Dragon's Den</a:t>
            </a:r>
            <a:endParaRPr>
              <a:solidFill>
                <a:schemeClr val="bg1"/>
              </a:solidFill>
            </a:endParaRPr>
          </a:p>
        </p:txBody>
      </p:sp>
      <p:sp>
        <p:nvSpPr>
          <p:cNvPr id="24" name="Text 21"/>
          <p:cNvSpPr/>
          <p:nvPr/>
        </p:nvSpPr>
        <p:spPr>
          <a:xfrm>
            <a:off x="475488" y="4448025"/>
            <a:ext cx="1325880" cy="145373"/>
          </a:xfrm>
          <a:prstGeom prst="rect">
            <a:avLst/>
          </a:prstGeom>
          <a:noFill/>
          <a:ln/>
        </p:spPr>
        <p:txBody>
          <a:bodyPr wrap="square" lIns="0" tIns="0" rIns="0" bIns="0" rtlCol="0" anchor="ctr"/>
          <a:lstStyle/>
          <a:p>
            <a:pPr marL="0" indent="0">
              <a:buNone/>
            </a:pPr>
            <a:r>
              <a:rPr lang="en-US" sz="1600" b="1">
                <a:solidFill>
                  <a:srgbClr val="FFFFFF"/>
                </a:solidFill>
                <a:latin typeface="Calibri" pitchFamily="34" charset="0"/>
                <a:ea typeface="Calibri" pitchFamily="34" charset="-122"/>
                <a:cs typeface="Calibri" pitchFamily="34" charset="-120"/>
              </a:rPr>
              <a:t>Solution name:</a:t>
            </a:r>
            <a:endParaRPr lang="en-US" sz="1600"/>
          </a:p>
        </p:txBody>
      </p:sp>
      <p:sp>
        <p:nvSpPr>
          <p:cNvPr id="25" name="Shape 22"/>
          <p:cNvSpPr/>
          <p:nvPr/>
        </p:nvSpPr>
        <p:spPr>
          <a:xfrm>
            <a:off x="2065274" y="4607814"/>
            <a:ext cx="3375406" cy="1"/>
          </a:xfrm>
          <a:prstGeom prst="line">
            <a:avLst/>
          </a:prstGeom>
          <a:noFill/>
          <a:ln w="11430">
            <a:solidFill>
              <a:srgbClr val="FFFFFF">
                <a:alpha val="90000"/>
              </a:srgbClr>
            </a:solidFill>
            <a:prstDash val="solid"/>
          </a:ln>
        </p:spPr>
        <p:txBody>
          <a:bodyPr/>
          <a:lstStyle/>
          <a:p>
            <a:endParaRPr lang="en-IN"/>
          </a:p>
        </p:txBody>
      </p:sp>
      <p:sp>
        <p:nvSpPr>
          <p:cNvPr id="26" name="Text 23"/>
          <p:cNvSpPr/>
          <p:nvPr/>
        </p:nvSpPr>
        <p:spPr>
          <a:xfrm>
            <a:off x="2076990" y="4423396"/>
            <a:ext cx="4093907" cy="153426"/>
          </a:xfrm>
          <a:prstGeom prst="rect">
            <a:avLst/>
          </a:prstGeom>
          <a:noFill/>
          <a:ln/>
        </p:spPr>
        <p:txBody>
          <a:bodyPr wrap="square" lIns="0" tIns="0" rIns="0" bIns="0" rtlCol="0" anchor="ctr"/>
          <a:lstStyle/>
          <a:p>
            <a:r>
              <a:rPr b="1">
                <a:solidFill>
                  <a:schemeClr val="bg1"/>
                </a:solidFill>
              </a:rPr>
              <a:t>InsightForge | AI Operations Intelligence</a:t>
            </a:r>
          </a:p>
        </p:txBody>
      </p:sp>
      <p:sp>
        <p:nvSpPr>
          <p:cNvPr id="27" name="Text 24"/>
          <p:cNvSpPr/>
          <p:nvPr/>
        </p:nvSpPr>
        <p:spPr>
          <a:xfrm>
            <a:off x="479850" y="4951805"/>
            <a:ext cx="1040002" cy="153813"/>
          </a:xfrm>
          <a:prstGeom prst="rect">
            <a:avLst/>
          </a:prstGeom>
          <a:noFill/>
          <a:ln/>
        </p:spPr>
        <p:txBody>
          <a:bodyPr wrap="square" lIns="0" tIns="0" rIns="0" bIns="0" rtlCol="0" anchor="ctr"/>
          <a:lstStyle/>
          <a:p>
            <a:pPr marL="0" indent="0">
              <a:buNone/>
            </a:pPr>
            <a:r>
              <a:rPr lang="en-US" sz="1600" b="1">
                <a:solidFill>
                  <a:srgbClr val="FFFFFF"/>
                </a:solidFill>
                <a:latin typeface="Calibri" pitchFamily="34" charset="0"/>
                <a:ea typeface="Calibri" pitchFamily="34" charset="-122"/>
                <a:cs typeface="Calibri" pitchFamily="34" charset="-120"/>
              </a:rPr>
              <a:t>Team name:</a:t>
            </a:r>
            <a:endParaRPr lang="en-US" sz="1600"/>
          </a:p>
        </p:txBody>
      </p:sp>
      <p:sp>
        <p:nvSpPr>
          <p:cNvPr id="28" name="Shape 25"/>
          <p:cNvSpPr/>
          <p:nvPr/>
        </p:nvSpPr>
        <p:spPr>
          <a:xfrm>
            <a:off x="2028974" y="5147056"/>
            <a:ext cx="1584300" cy="1"/>
          </a:xfrm>
          <a:prstGeom prst="line">
            <a:avLst/>
          </a:prstGeom>
          <a:noFill/>
          <a:ln w="10160">
            <a:solidFill>
              <a:srgbClr val="FFFFFF">
                <a:alpha val="90000"/>
              </a:srgbClr>
            </a:solidFill>
            <a:prstDash val="solid"/>
          </a:ln>
        </p:spPr>
        <p:txBody>
          <a:bodyPr/>
          <a:lstStyle/>
          <a:p>
            <a:endParaRPr lang="en-IN"/>
          </a:p>
        </p:txBody>
      </p:sp>
      <p:sp>
        <p:nvSpPr>
          <p:cNvPr id="30" name="Text 27"/>
          <p:cNvSpPr/>
          <p:nvPr/>
        </p:nvSpPr>
        <p:spPr>
          <a:xfrm>
            <a:off x="479850" y="5598076"/>
            <a:ext cx="1310118" cy="363812"/>
          </a:xfrm>
          <a:prstGeom prst="rect">
            <a:avLst/>
          </a:prstGeom>
          <a:noFill/>
          <a:ln/>
        </p:spPr>
        <p:txBody>
          <a:bodyPr wrap="square" lIns="0" tIns="0" rIns="0" bIns="0" rtlCol="0" anchor="ctr"/>
          <a:lstStyle/>
          <a:p>
            <a:pPr marL="0" indent="0">
              <a:buNone/>
            </a:pPr>
            <a:r>
              <a:rPr lang="en-US" sz="1600" b="1">
                <a:solidFill>
                  <a:srgbClr val="FFFFFF"/>
                </a:solidFill>
                <a:latin typeface="Calibri" pitchFamily="34" charset="0"/>
                <a:ea typeface="Calibri" pitchFamily="34" charset="-122"/>
                <a:cs typeface="Calibri" pitchFamily="34" charset="-120"/>
              </a:rPr>
              <a:t>Team members:</a:t>
            </a:r>
            <a:endParaRPr lang="en-US" sz="1600"/>
          </a:p>
        </p:txBody>
      </p:sp>
      <p:sp>
        <p:nvSpPr>
          <p:cNvPr id="31" name="Shape 28"/>
          <p:cNvSpPr/>
          <p:nvPr/>
        </p:nvSpPr>
        <p:spPr>
          <a:xfrm flipV="1">
            <a:off x="2058920" y="5569264"/>
            <a:ext cx="1075395" cy="10159"/>
          </a:xfrm>
          <a:prstGeom prst="line">
            <a:avLst/>
          </a:prstGeom>
          <a:noFill/>
          <a:ln w="10160">
            <a:solidFill>
              <a:srgbClr val="FFFFFF">
                <a:alpha val="90000"/>
              </a:srgbClr>
            </a:solidFill>
            <a:prstDash val="solid"/>
          </a:ln>
        </p:spPr>
        <p:txBody>
          <a:bodyPr/>
          <a:lstStyle/>
          <a:p>
            <a:endParaRPr lang="en-IN"/>
          </a:p>
        </p:txBody>
      </p:sp>
      <p:sp>
        <p:nvSpPr>
          <p:cNvPr id="32" name="Shape 29"/>
          <p:cNvSpPr/>
          <p:nvPr/>
        </p:nvSpPr>
        <p:spPr>
          <a:xfrm>
            <a:off x="2058920" y="5872098"/>
            <a:ext cx="1152000" cy="1"/>
          </a:xfrm>
          <a:prstGeom prst="line">
            <a:avLst/>
          </a:prstGeom>
          <a:noFill/>
          <a:ln w="10160">
            <a:solidFill>
              <a:srgbClr val="FFFFFF">
                <a:alpha val="90000"/>
              </a:srgbClr>
            </a:solidFill>
            <a:prstDash val="solid"/>
          </a:ln>
        </p:spPr>
        <p:txBody>
          <a:bodyPr/>
          <a:lstStyle/>
          <a:p>
            <a:endParaRPr lang="en-IN"/>
          </a:p>
        </p:txBody>
      </p:sp>
      <p:sp>
        <p:nvSpPr>
          <p:cNvPr id="33" name="Shape 30"/>
          <p:cNvSpPr/>
          <p:nvPr/>
        </p:nvSpPr>
        <p:spPr>
          <a:xfrm>
            <a:off x="2053590" y="6150098"/>
            <a:ext cx="1530858" cy="1"/>
          </a:xfrm>
          <a:prstGeom prst="line">
            <a:avLst/>
          </a:prstGeom>
          <a:noFill/>
          <a:ln w="10160">
            <a:solidFill>
              <a:srgbClr val="FFFFFF">
                <a:alpha val="90000"/>
              </a:srgbClr>
            </a:solidFill>
            <a:prstDash val="solid"/>
          </a:ln>
        </p:spPr>
        <p:txBody>
          <a:bodyPr/>
          <a:lstStyle/>
          <a:p>
            <a:endParaRPr lang="en-IN"/>
          </a:p>
        </p:txBody>
      </p:sp>
      <p:sp>
        <p:nvSpPr>
          <p:cNvPr id="34" name="Text 31"/>
          <p:cNvSpPr/>
          <p:nvPr/>
        </p:nvSpPr>
        <p:spPr>
          <a:xfrm>
            <a:off x="1737360" y="5495544"/>
            <a:ext cx="3246120" cy="109728"/>
          </a:xfrm>
          <a:prstGeom prst="rect">
            <a:avLst/>
          </a:prstGeom>
          <a:noFill/>
          <a:ln/>
        </p:spPr>
        <p:txBody>
          <a:bodyPr wrap="square" lIns="0" tIns="0" rIns="0" bIns="0" rtlCol="0" anchor="ctr"/>
          <a:lstStyle/>
          <a:p>
            <a:endParaRPr>
              <a:solidFill>
                <a:schemeClr val="bg1"/>
              </a:solidFill>
            </a:endParaRPr>
          </a:p>
        </p:txBody>
      </p:sp>
      <p:sp>
        <p:nvSpPr>
          <p:cNvPr id="35" name="Text 32"/>
          <p:cNvSpPr/>
          <p:nvPr/>
        </p:nvSpPr>
        <p:spPr>
          <a:xfrm>
            <a:off x="7973568" y="5522976"/>
            <a:ext cx="2377440" cy="219456"/>
          </a:xfrm>
          <a:prstGeom prst="rect">
            <a:avLst/>
          </a:prstGeom>
          <a:noFill/>
          <a:ln/>
        </p:spPr>
        <p:txBody>
          <a:bodyPr wrap="square" lIns="0" tIns="0" rIns="0" bIns="0" rtlCol="0" anchor="ctr">
            <a:normAutofit fontScale="92500" lnSpcReduction="20000"/>
          </a:bodyPr>
          <a:lstStyle/>
          <a:p>
            <a:pPr marL="0" indent="0">
              <a:buNone/>
            </a:pPr>
            <a:r>
              <a:rPr lang="en-US" sz="1700" i="1">
                <a:solidFill>
                  <a:srgbClr val="FFFFFF"/>
                </a:solidFill>
                <a:latin typeface="Calibri" pitchFamily="34" charset="0"/>
                <a:ea typeface="Calibri" pitchFamily="34" charset="-122"/>
                <a:cs typeface="Calibri" pitchFamily="34" charset="-120"/>
              </a:rPr>
              <a:t>Idea. Build. Scale.</a:t>
            </a:r>
            <a:endParaRPr lang="en-US" sz="1700"/>
          </a:p>
        </p:txBody>
      </p:sp>
      <p:sp>
        <p:nvSpPr>
          <p:cNvPr id="36" name="Text 33"/>
          <p:cNvSpPr/>
          <p:nvPr/>
        </p:nvSpPr>
        <p:spPr>
          <a:xfrm>
            <a:off x="8549640" y="5879592"/>
            <a:ext cx="2194560" cy="164592"/>
          </a:xfrm>
          <a:prstGeom prst="rect">
            <a:avLst/>
          </a:prstGeom>
          <a:noFill/>
          <a:ln/>
        </p:spPr>
        <p:txBody>
          <a:bodyPr wrap="square" lIns="0" tIns="0" rIns="0" bIns="0" rtlCol="0" anchor="ctr">
            <a:normAutofit fontScale="92500" lnSpcReduction="20000"/>
          </a:bodyPr>
          <a:lstStyle/>
          <a:p>
            <a:pPr marL="0" indent="0" algn="ctr">
              <a:buNone/>
            </a:pPr>
            <a:r>
              <a:rPr lang="en-US" sz="1300" b="1">
                <a:solidFill>
                  <a:srgbClr val="FFFFFF"/>
                </a:solidFill>
                <a:latin typeface="Calibri" pitchFamily="34" charset="0"/>
                <a:ea typeface="Calibri" pitchFamily="34" charset="-122"/>
                <a:cs typeface="Calibri" pitchFamily="34" charset="-120"/>
              </a:rPr>
              <a:t>LET'S BUILD TOMORROW,</a:t>
            </a:r>
            <a:endParaRPr lang="en-US" sz="1300"/>
          </a:p>
        </p:txBody>
      </p:sp>
      <p:sp>
        <p:nvSpPr>
          <p:cNvPr id="37" name="Text 34"/>
          <p:cNvSpPr/>
          <p:nvPr/>
        </p:nvSpPr>
        <p:spPr>
          <a:xfrm>
            <a:off x="8942832" y="6126480"/>
            <a:ext cx="1691640" cy="164592"/>
          </a:xfrm>
          <a:prstGeom prst="rect">
            <a:avLst/>
          </a:prstGeom>
          <a:noFill/>
          <a:ln/>
        </p:spPr>
        <p:txBody>
          <a:bodyPr wrap="square" lIns="0" tIns="0" rIns="0" bIns="0" rtlCol="0" anchor="ctr">
            <a:normAutofit fontScale="77500" lnSpcReduction="20000"/>
          </a:bodyPr>
          <a:lstStyle/>
          <a:p>
            <a:pPr marL="0" indent="0" algn="ctr">
              <a:buNone/>
            </a:pPr>
            <a:r>
              <a:rPr lang="en-US" sz="1600" b="1">
                <a:solidFill>
                  <a:srgbClr val="FB4D0A"/>
                </a:solidFill>
                <a:latin typeface="Calibri" pitchFamily="34" charset="0"/>
                <a:ea typeface="Calibri" pitchFamily="34" charset="-122"/>
                <a:cs typeface="Calibri" pitchFamily="34" charset="-120"/>
              </a:rPr>
              <a:t>TOGETHER.</a:t>
            </a:r>
            <a:endParaRPr lang="en-US" sz="1600"/>
          </a:p>
        </p:txBody>
      </p:sp>
      <p:sp>
        <p:nvSpPr>
          <p:cNvPr id="39" name="Text 23">
            <a:extLst>
              <a:ext uri="{FF2B5EF4-FFF2-40B4-BE49-F238E27FC236}">
                <a16:creationId xmlns:a16="http://schemas.microsoft.com/office/drawing/2014/main" id="{6255465E-1704-E899-922B-592EAEBB7BEB}"/>
              </a:ext>
            </a:extLst>
          </p:cNvPr>
          <p:cNvSpPr/>
          <p:nvPr/>
        </p:nvSpPr>
        <p:spPr>
          <a:xfrm>
            <a:off x="2029968" y="4911915"/>
            <a:ext cx="3246120" cy="291020"/>
          </a:xfrm>
          <a:prstGeom prst="rect">
            <a:avLst/>
          </a:prstGeom>
          <a:noFill/>
          <a:ln/>
        </p:spPr>
        <p:txBody>
          <a:bodyPr wrap="square" lIns="0" tIns="0" rIns="0" bIns="0" rtlCol="0" anchor="ctr"/>
          <a:lstStyle/>
          <a:p>
            <a:r>
              <a:rPr lang="en-IN" b="1">
                <a:solidFill>
                  <a:schemeClr val="bg1"/>
                </a:solidFill>
              </a:rPr>
              <a:t>InsightForge-AI</a:t>
            </a:r>
          </a:p>
        </p:txBody>
      </p:sp>
      <p:sp>
        <p:nvSpPr>
          <p:cNvPr id="41" name="Text 23">
            <a:extLst>
              <a:ext uri="{FF2B5EF4-FFF2-40B4-BE49-F238E27FC236}">
                <a16:creationId xmlns:a16="http://schemas.microsoft.com/office/drawing/2014/main" id="{105F2D9B-72EE-7E97-1D17-9ADE441C6BE8}"/>
              </a:ext>
            </a:extLst>
          </p:cNvPr>
          <p:cNvSpPr/>
          <p:nvPr/>
        </p:nvSpPr>
        <p:spPr>
          <a:xfrm>
            <a:off x="2050596" y="5399843"/>
            <a:ext cx="1277820" cy="179581"/>
          </a:xfrm>
          <a:prstGeom prst="rect">
            <a:avLst/>
          </a:prstGeom>
          <a:noFill/>
          <a:ln/>
        </p:spPr>
        <p:txBody>
          <a:bodyPr wrap="square" lIns="0" tIns="0" rIns="0" bIns="0" rtlCol="0" anchor="ctr"/>
          <a:lstStyle/>
          <a:p>
            <a:r>
              <a:rPr lang="en-IN" sz="1600" b="1">
                <a:solidFill>
                  <a:schemeClr val="bg1"/>
                </a:solidFill>
              </a:rPr>
              <a:t>Manish Dua</a:t>
            </a:r>
          </a:p>
        </p:txBody>
      </p:sp>
      <p:sp>
        <p:nvSpPr>
          <p:cNvPr id="45" name="Shape 28">
            <a:extLst>
              <a:ext uri="{FF2B5EF4-FFF2-40B4-BE49-F238E27FC236}">
                <a16:creationId xmlns:a16="http://schemas.microsoft.com/office/drawing/2014/main" id="{2AB8C1AC-65DA-5003-813F-82F1AE020F20}"/>
              </a:ext>
            </a:extLst>
          </p:cNvPr>
          <p:cNvSpPr/>
          <p:nvPr/>
        </p:nvSpPr>
        <p:spPr>
          <a:xfrm flipV="1">
            <a:off x="3195828" y="5564185"/>
            <a:ext cx="1310979" cy="10160"/>
          </a:xfrm>
          <a:prstGeom prst="line">
            <a:avLst/>
          </a:prstGeom>
          <a:noFill/>
          <a:ln w="10160">
            <a:solidFill>
              <a:srgbClr val="FFFFFF">
                <a:alpha val="90000"/>
              </a:srgbClr>
            </a:solidFill>
            <a:prstDash val="solid"/>
          </a:ln>
        </p:spPr>
        <p:txBody>
          <a:bodyPr/>
          <a:lstStyle/>
          <a:p>
            <a:endParaRPr lang="en-IN"/>
          </a:p>
        </p:txBody>
      </p:sp>
      <p:sp>
        <p:nvSpPr>
          <p:cNvPr id="47" name="Text 23">
            <a:extLst>
              <a:ext uri="{FF2B5EF4-FFF2-40B4-BE49-F238E27FC236}">
                <a16:creationId xmlns:a16="http://schemas.microsoft.com/office/drawing/2014/main" id="{E7F9E813-EBFC-AFB3-CD11-C8F1A60AE946}"/>
              </a:ext>
            </a:extLst>
          </p:cNvPr>
          <p:cNvSpPr/>
          <p:nvPr/>
        </p:nvSpPr>
        <p:spPr>
          <a:xfrm>
            <a:off x="3195828" y="5402922"/>
            <a:ext cx="1494790" cy="173421"/>
          </a:xfrm>
          <a:prstGeom prst="rect">
            <a:avLst/>
          </a:prstGeom>
          <a:noFill/>
          <a:ln/>
        </p:spPr>
        <p:txBody>
          <a:bodyPr wrap="square" lIns="0" tIns="0" rIns="0" bIns="0" rtlCol="0" anchor="ctr"/>
          <a:lstStyle/>
          <a:p>
            <a:r>
              <a:rPr lang="en-IN" sz="1600" b="1">
                <a:solidFill>
                  <a:schemeClr val="bg1"/>
                </a:solidFill>
              </a:rPr>
              <a:t>Mukesh Yadav</a:t>
            </a:r>
          </a:p>
        </p:txBody>
      </p:sp>
      <p:sp>
        <p:nvSpPr>
          <p:cNvPr id="49" name="Text 23">
            <a:extLst>
              <a:ext uri="{FF2B5EF4-FFF2-40B4-BE49-F238E27FC236}">
                <a16:creationId xmlns:a16="http://schemas.microsoft.com/office/drawing/2014/main" id="{2FE9EA2D-9E22-EFE9-E6EC-D7C1106F0ACF}"/>
              </a:ext>
            </a:extLst>
          </p:cNvPr>
          <p:cNvSpPr/>
          <p:nvPr/>
        </p:nvSpPr>
        <p:spPr>
          <a:xfrm>
            <a:off x="2050596" y="5686990"/>
            <a:ext cx="1868874" cy="179581"/>
          </a:xfrm>
          <a:prstGeom prst="rect">
            <a:avLst/>
          </a:prstGeom>
          <a:noFill/>
          <a:ln/>
        </p:spPr>
        <p:txBody>
          <a:bodyPr wrap="square" lIns="0" tIns="0" rIns="0" bIns="0" rtlCol="0" anchor="ctr"/>
          <a:lstStyle/>
          <a:p>
            <a:r>
              <a:rPr lang="en-IN" sz="1600" b="1">
                <a:solidFill>
                  <a:schemeClr val="bg1"/>
                </a:solidFill>
              </a:rPr>
              <a:t>Rahul Gupta</a:t>
            </a:r>
          </a:p>
        </p:txBody>
      </p:sp>
      <p:sp>
        <p:nvSpPr>
          <p:cNvPr id="51" name="Shape 29">
            <a:extLst>
              <a:ext uri="{FF2B5EF4-FFF2-40B4-BE49-F238E27FC236}">
                <a16:creationId xmlns:a16="http://schemas.microsoft.com/office/drawing/2014/main" id="{EB5653CC-01FC-5401-EA4E-33AD79141E07}"/>
              </a:ext>
            </a:extLst>
          </p:cNvPr>
          <p:cNvSpPr/>
          <p:nvPr/>
        </p:nvSpPr>
        <p:spPr>
          <a:xfrm>
            <a:off x="3227053" y="5872097"/>
            <a:ext cx="1489407" cy="5527"/>
          </a:xfrm>
          <a:prstGeom prst="line">
            <a:avLst/>
          </a:prstGeom>
          <a:noFill/>
          <a:ln w="10160">
            <a:solidFill>
              <a:srgbClr val="FFFFFF">
                <a:alpha val="90000"/>
              </a:srgbClr>
            </a:solidFill>
            <a:prstDash val="solid"/>
          </a:ln>
        </p:spPr>
        <p:txBody>
          <a:bodyPr/>
          <a:lstStyle/>
          <a:p>
            <a:endParaRPr lang="en-IN"/>
          </a:p>
        </p:txBody>
      </p:sp>
      <p:sp>
        <p:nvSpPr>
          <p:cNvPr id="53" name="Text 23">
            <a:extLst>
              <a:ext uri="{FF2B5EF4-FFF2-40B4-BE49-F238E27FC236}">
                <a16:creationId xmlns:a16="http://schemas.microsoft.com/office/drawing/2014/main" id="{3000C3D8-F67B-7C7C-D823-676AD7A0A44E}"/>
              </a:ext>
            </a:extLst>
          </p:cNvPr>
          <p:cNvSpPr/>
          <p:nvPr/>
        </p:nvSpPr>
        <p:spPr>
          <a:xfrm>
            <a:off x="3222791" y="5696933"/>
            <a:ext cx="1676843" cy="182659"/>
          </a:xfrm>
          <a:prstGeom prst="rect">
            <a:avLst/>
          </a:prstGeom>
          <a:noFill/>
          <a:ln/>
        </p:spPr>
        <p:txBody>
          <a:bodyPr wrap="square" lIns="0" tIns="0" rIns="0" bIns="0" rtlCol="0" anchor="ctr"/>
          <a:lstStyle/>
          <a:p>
            <a:r>
              <a:rPr lang="en-IN" sz="1600" b="1">
                <a:solidFill>
                  <a:schemeClr val="bg1"/>
                </a:solidFill>
              </a:rPr>
              <a:t>Shivam Rajawat</a:t>
            </a:r>
          </a:p>
        </p:txBody>
      </p:sp>
      <p:sp>
        <p:nvSpPr>
          <p:cNvPr id="55" name="Text 23">
            <a:extLst>
              <a:ext uri="{FF2B5EF4-FFF2-40B4-BE49-F238E27FC236}">
                <a16:creationId xmlns:a16="http://schemas.microsoft.com/office/drawing/2014/main" id="{4244558B-A8C9-E9EC-D875-DFE4E29D89FC}"/>
              </a:ext>
            </a:extLst>
          </p:cNvPr>
          <p:cNvSpPr/>
          <p:nvPr/>
        </p:nvSpPr>
        <p:spPr>
          <a:xfrm>
            <a:off x="2036058" y="5968104"/>
            <a:ext cx="1982150" cy="179581"/>
          </a:xfrm>
          <a:prstGeom prst="rect">
            <a:avLst/>
          </a:prstGeom>
          <a:noFill/>
          <a:ln/>
        </p:spPr>
        <p:txBody>
          <a:bodyPr wrap="square" lIns="0" tIns="0" rIns="0" bIns="0" rtlCol="0" anchor="ctr"/>
          <a:lstStyle/>
          <a:p>
            <a:r>
              <a:rPr lang="en-IN" sz="1600" b="1">
                <a:solidFill>
                  <a:schemeClr val="bg1"/>
                </a:solidFill>
              </a:rPr>
              <a:t>Kartik Chaudhari</a:t>
            </a:r>
          </a:p>
        </p:txBody>
      </p:sp>
      <p:sp>
        <p:nvSpPr>
          <p:cNvPr id="57" name="Shape 30">
            <a:extLst>
              <a:ext uri="{FF2B5EF4-FFF2-40B4-BE49-F238E27FC236}">
                <a16:creationId xmlns:a16="http://schemas.microsoft.com/office/drawing/2014/main" id="{FE6EDFBC-290F-CCC6-603F-14F428D5703C}"/>
              </a:ext>
            </a:extLst>
          </p:cNvPr>
          <p:cNvSpPr/>
          <p:nvPr/>
        </p:nvSpPr>
        <p:spPr>
          <a:xfrm>
            <a:off x="3613274" y="6150098"/>
            <a:ext cx="1908000" cy="1"/>
          </a:xfrm>
          <a:prstGeom prst="line">
            <a:avLst/>
          </a:prstGeom>
          <a:noFill/>
          <a:ln w="10160">
            <a:solidFill>
              <a:srgbClr val="FFFFFF">
                <a:alpha val="90000"/>
              </a:srgbClr>
            </a:solidFill>
            <a:prstDash val="solid"/>
          </a:ln>
        </p:spPr>
        <p:txBody>
          <a:bodyPr/>
          <a:lstStyle/>
          <a:p>
            <a:endParaRPr lang="en-IN"/>
          </a:p>
        </p:txBody>
      </p:sp>
      <p:sp>
        <p:nvSpPr>
          <p:cNvPr id="59" name="Text 23">
            <a:extLst>
              <a:ext uri="{FF2B5EF4-FFF2-40B4-BE49-F238E27FC236}">
                <a16:creationId xmlns:a16="http://schemas.microsoft.com/office/drawing/2014/main" id="{5DD00A1A-8CD6-6859-0F0C-45D78F8C9F66}"/>
              </a:ext>
            </a:extLst>
          </p:cNvPr>
          <p:cNvSpPr/>
          <p:nvPr/>
        </p:nvSpPr>
        <p:spPr>
          <a:xfrm>
            <a:off x="3936870" y="6226897"/>
            <a:ext cx="2754577" cy="179581"/>
          </a:xfrm>
          <a:prstGeom prst="rect">
            <a:avLst/>
          </a:prstGeom>
          <a:noFill/>
          <a:ln/>
        </p:spPr>
        <p:txBody>
          <a:bodyPr wrap="square" lIns="0" tIns="0" rIns="0" bIns="0" rtlCol="0" anchor="ctr"/>
          <a:lstStyle/>
          <a:p>
            <a:endParaRPr lang="en-IN" sz="1600" b="1">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00263E"/>
        </a:solidFill>
        <a:effectLst/>
      </p:bgPr>
    </p:bg>
    <p:spTree>
      <p:nvGrpSpPr>
        <p:cNvPr id="1" name=""/>
        <p:cNvGrpSpPr/>
        <p:nvPr/>
      </p:nvGrpSpPr>
      <p:grpSpPr>
        <a:xfrm>
          <a:off x="0" y="0"/>
          <a:ext cx="1" cy="1"/>
          <a:chOff x="0" y="0"/>
          <a:chExt cx="1" cy="1"/>
        </a:xfrm>
      </p:grpSpPr>
      <p:pic>
        <p:nvPicPr>
          <p:cNvPr id="2" name="Image 0" descr="/mnt/data/a35235fd38.png"/>
          <p:cNvPicPr>
            <a:picLocks noChangeAspect="1"/>
          </p:cNvPicPr>
          <p:nvPr/>
        </p:nvPicPr>
        <p:blipFill>
          <a:blip r:embed="rId3"/>
          <a:srcRect t="7811" b="7811"/>
          <a:stretch/>
        </p:blipFill>
        <p:spPr>
          <a:xfrm>
            <a:off x="0" y="0"/>
            <a:ext cx="12191695" cy="6858000"/>
          </a:xfrm>
          <a:prstGeom prst="rect">
            <a:avLst/>
          </a:prstGeom>
        </p:spPr>
      </p:pic>
      <p:sp>
        <p:nvSpPr>
          <p:cNvPr id="3" name="Shape 0"/>
          <p:cNvSpPr/>
          <p:nvPr/>
        </p:nvSpPr>
        <p:spPr>
          <a:xfrm>
            <a:off x="0" y="0"/>
            <a:ext cx="12192000" cy="6858000"/>
          </a:xfrm>
          <a:prstGeom prst="rect">
            <a:avLst/>
          </a:prstGeom>
          <a:solidFill>
            <a:srgbClr val="001B2C">
              <a:alpha val="86000"/>
            </a:srgbClr>
          </a:solidFill>
          <a:ln w="12700">
            <a:solidFill>
              <a:srgbClr val="001B2C">
                <a:alpha val="0"/>
              </a:srgbClr>
            </a:solidFill>
            <a:prstDash val="solid"/>
          </a:ln>
        </p:spPr>
        <p:txBody>
          <a:bodyPr/>
          <a:lstStyle/>
          <a:p>
            <a:endParaRPr lang="en-IN"/>
          </a:p>
        </p:txBody>
      </p:sp>
      <p:sp>
        <p:nvSpPr>
          <p:cNvPr id="4" name="Shape 1"/>
          <p:cNvSpPr/>
          <p:nvPr/>
        </p:nvSpPr>
        <p:spPr>
          <a:xfrm>
            <a:off x="0" y="0"/>
            <a:ext cx="12191695" cy="36000"/>
          </a:xfrm>
          <a:prstGeom prst="rect">
            <a:avLst/>
          </a:prstGeom>
          <a:solidFill>
            <a:srgbClr val="FB4D0A"/>
          </a:solidFill>
          <a:ln w="12700">
            <a:solidFill>
              <a:srgbClr val="FB4D0A"/>
            </a:solidFill>
            <a:prstDash val="solid"/>
          </a:ln>
        </p:spPr>
        <p:txBody>
          <a:bodyPr/>
          <a:lstStyle/>
          <a:p>
            <a:endParaRPr lang="en-IN"/>
          </a:p>
        </p:txBody>
      </p:sp>
      <p:sp>
        <p:nvSpPr>
          <p:cNvPr id="5" name="Text 2"/>
          <p:cNvSpPr/>
          <p:nvPr/>
        </p:nvSpPr>
        <p:spPr>
          <a:xfrm>
            <a:off x="457200" y="713232"/>
            <a:ext cx="6400800" cy="411480"/>
          </a:xfrm>
          <a:prstGeom prst="rect">
            <a:avLst/>
          </a:prstGeom>
          <a:noFill/>
          <a:ln/>
        </p:spPr>
        <p:txBody>
          <a:bodyPr wrap="square" lIns="254" tIns="254" rIns="254" bIns="254" rtlCol="0" anchor="ctr">
            <a:noAutofit/>
          </a:bodyPr>
          <a:lstStyle/>
          <a:p>
            <a:pPr marL="0" indent="0">
              <a:buNone/>
            </a:pPr>
            <a:r>
              <a:rPr lang="en-US" sz="4000" b="1">
                <a:solidFill>
                  <a:srgbClr val="FFFFFF"/>
                </a:solidFill>
                <a:latin typeface="Aptos Display" pitchFamily="34" charset="0"/>
                <a:ea typeface="Aptos Display" pitchFamily="34" charset="-122"/>
                <a:cs typeface="Aptos Display" pitchFamily="34" charset="-120"/>
              </a:rPr>
              <a:t>InsightForge | AI Operations Intelligence</a:t>
            </a:r>
            <a:endParaRPr lang="en-US" sz="4000"/>
          </a:p>
        </p:txBody>
      </p:sp>
      <p:sp>
        <p:nvSpPr>
          <p:cNvPr id="6" name="Text 3"/>
          <p:cNvSpPr/>
          <p:nvPr/>
        </p:nvSpPr>
        <p:spPr>
          <a:xfrm>
            <a:off x="505335" y="1857959"/>
            <a:ext cx="3657600" cy="182880"/>
          </a:xfrm>
          <a:prstGeom prst="rect">
            <a:avLst/>
          </a:prstGeom>
          <a:noFill/>
          <a:ln/>
        </p:spPr>
        <p:txBody>
          <a:bodyPr wrap="square" lIns="508" tIns="508" rIns="508" bIns="508" rtlCol="0" anchor="ctr">
            <a:noAutofit/>
          </a:bodyPr>
          <a:lstStyle/>
          <a:p>
            <a:pPr marL="0" indent="0" algn="l">
              <a:buNone/>
            </a:pPr>
            <a:r>
              <a:rPr lang="en-US" sz="1600" b="1">
                <a:solidFill>
                  <a:srgbClr val="DDEAF3"/>
                </a:solidFill>
                <a:latin typeface="Aptos" pitchFamily="34" charset="0"/>
                <a:ea typeface="Aptos" pitchFamily="34" charset="-122"/>
                <a:cs typeface="Aptos" pitchFamily="34" charset="-120"/>
              </a:rPr>
              <a:t>InsightForge-AI | Dragon's Den pitch</a:t>
            </a:r>
            <a:endParaRPr lang="en-US" sz="1600"/>
          </a:p>
        </p:txBody>
      </p:sp>
      <p:sp>
        <p:nvSpPr>
          <p:cNvPr id="7" name="Shape 4"/>
          <p:cNvSpPr/>
          <p:nvPr/>
        </p:nvSpPr>
        <p:spPr>
          <a:xfrm>
            <a:off x="505335" y="2539355"/>
            <a:ext cx="5257800" cy="1463040"/>
          </a:xfrm>
          <a:prstGeom prst="roundRect">
            <a:avLst>
              <a:gd name="adj" fmla="val 5000"/>
            </a:avLst>
          </a:prstGeom>
          <a:solidFill>
            <a:srgbClr val="FFFFFF"/>
          </a:solidFill>
          <a:ln w="8890">
            <a:solidFill>
              <a:srgbClr val="FFFFFF"/>
            </a:solidFill>
            <a:prstDash val="solid"/>
          </a:ln>
          <a:effectLst>
            <a:outerShdw blurRad="12700" dist="7620" dir="2700000" algn="bl" rotWithShape="0">
              <a:srgbClr val="000000">
                <a:alpha val="12000"/>
              </a:srgbClr>
            </a:outerShdw>
          </a:effectLst>
        </p:spPr>
        <p:txBody>
          <a:bodyPr/>
          <a:lstStyle/>
          <a:p>
            <a:endParaRPr lang="en-IN" sz="2800"/>
          </a:p>
        </p:txBody>
      </p:sp>
      <p:sp>
        <p:nvSpPr>
          <p:cNvPr id="8" name="Text 5"/>
          <p:cNvSpPr/>
          <p:nvPr/>
        </p:nvSpPr>
        <p:spPr>
          <a:xfrm>
            <a:off x="724791" y="2767955"/>
            <a:ext cx="1234440" cy="128016"/>
          </a:xfrm>
          <a:prstGeom prst="rect">
            <a:avLst/>
          </a:prstGeom>
          <a:noFill/>
          <a:ln/>
        </p:spPr>
        <p:txBody>
          <a:bodyPr wrap="square" lIns="508" tIns="508" rIns="508" bIns="508" rtlCol="0" anchor="ctr">
            <a:noAutofit/>
          </a:bodyPr>
          <a:lstStyle/>
          <a:p>
            <a:pPr marL="0" indent="0" algn="l">
              <a:buNone/>
            </a:pPr>
            <a:r>
              <a:rPr lang="en-US" sz="1000" b="1">
                <a:solidFill>
                  <a:srgbClr val="FB4D0A"/>
                </a:solidFill>
                <a:latin typeface="Aptos" pitchFamily="34" charset="0"/>
                <a:ea typeface="Aptos" pitchFamily="34" charset="-122"/>
                <a:cs typeface="Aptos" pitchFamily="34" charset="-120"/>
              </a:rPr>
              <a:t>CORE MESSAGE</a:t>
            </a:r>
            <a:endParaRPr lang="en-US" sz="1000"/>
          </a:p>
        </p:txBody>
      </p:sp>
      <p:sp>
        <p:nvSpPr>
          <p:cNvPr id="9" name="Text 6"/>
          <p:cNvSpPr/>
          <p:nvPr/>
        </p:nvSpPr>
        <p:spPr>
          <a:xfrm>
            <a:off x="724791" y="3078851"/>
            <a:ext cx="4590288" cy="755162"/>
          </a:xfrm>
          <a:prstGeom prst="rect">
            <a:avLst/>
          </a:prstGeom>
          <a:noFill/>
          <a:ln/>
        </p:spPr>
        <p:txBody>
          <a:bodyPr wrap="square" lIns="508" tIns="508" rIns="508" bIns="508" rtlCol="0" anchor="ctr">
            <a:noAutofit/>
          </a:bodyPr>
          <a:lstStyle/>
          <a:p>
            <a:r>
              <a:rPr lang="en-US" sz="1600" b="1">
                <a:solidFill>
                  <a:srgbClr val="00263E"/>
                </a:solidFill>
                <a:ea typeface="+mn-lt"/>
                <a:cs typeface="+mn-lt"/>
              </a:rPr>
              <a:t>Dashboards show what changed. InsightForge investigates why, identifies who is impacted, and recommends what to do next — with evidence.</a:t>
            </a:r>
            <a:r>
              <a:rPr lang="en-US" sz="1600" b="1" err="1">
                <a:solidFill>
                  <a:srgbClr val="00263E"/>
                </a:solidFill>
                <a:ea typeface="+mn-lt"/>
                <a:cs typeface="+mn-lt"/>
              </a:rPr>
              <a:t/>
            </a:r>
            <a:r>
              <a:rPr lang="en-US" sz="1600" b="1">
                <a:solidFill>
                  <a:srgbClr val="00263E"/>
                </a:solidFill>
                <a:ea typeface="+mn-lt"/>
                <a:cs typeface="+mn-lt"/>
              </a:rPr>
              <a:t/>
            </a:r>
            <a:endParaRPr lang="en-US" b="1">
              <a:ea typeface="+mn-lt"/>
              <a:cs typeface="+mn-lt"/>
            </a:endParaRPr>
          </a:p>
        </p:txBody>
      </p:sp>
      <p:sp>
        <p:nvSpPr>
          <p:cNvPr id="10" name="Shape 7"/>
          <p:cNvSpPr/>
          <p:nvPr/>
        </p:nvSpPr>
        <p:spPr>
          <a:xfrm>
            <a:off x="1279319" y="4679539"/>
            <a:ext cx="2412000" cy="288000"/>
          </a:xfrm>
          <a:prstGeom prst="roundRect">
            <a:avLst>
              <a:gd name="adj" fmla="val 26667"/>
            </a:avLst>
          </a:prstGeom>
          <a:solidFill>
            <a:srgbClr val="003C5F"/>
          </a:solidFill>
          <a:ln w="12700">
            <a:solidFill>
              <a:srgbClr val="003C5F"/>
            </a:solidFill>
            <a:prstDash val="solid"/>
          </a:ln>
        </p:spPr>
        <p:txBody>
          <a:bodyPr/>
          <a:lstStyle/>
          <a:p>
            <a:endParaRPr lang="en-IN" sz="4000"/>
          </a:p>
        </p:txBody>
      </p:sp>
      <p:sp>
        <p:nvSpPr>
          <p:cNvPr id="11" name="Text 8"/>
          <p:cNvSpPr/>
          <p:nvPr/>
        </p:nvSpPr>
        <p:spPr>
          <a:xfrm>
            <a:off x="1625063" y="4761348"/>
            <a:ext cx="1645920" cy="109728"/>
          </a:xfrm>
          <a:prstGeom prst="rect">
            <a:avLst/>
          </a:prstGeom>
          <a:noFill/>
          <a:ln/>
        </p:spPr>
        <p:txBody>
          <a:bodyPr wrap="square" lIns="508" tIns="508" rIns="508" bIns="508" rtlCol="0" anchor="ctr">
            <a:noAutofit/>
          </a:bodyPr>
          <a:lstStyle/>
          <a:p>
            <a:pPr marL="0" indent="0" algn="ctr">
              <a:buNone/>
            </a:pPr>
            <a:r>
              <a:rPr lang="en-US" sz="1200" b="1">
                <a:solidFill>
                  <a:srgbClr val="FFFFFF"/>
                </a:solidFill>
                <a:latin typeface="Aptos" pitchFamily="34" charset="0"/>
                <a:ea typeface="Aptos" pitchFamily="34" charset="-122"/>
                <a:cs typeface="Aptos" pitchFamily="34" charset="-120"/>
              </a:rPr>
              <a:t>Not another dashboard</a:t>
            </a:r>
            <a:endParaRPr lang="en-US" sz="1200"/>
          </a:p>
        </p:txBody>
      </p:sp>
      <p:sp>
        <p:nvSpPr>
          <p:cNvPr id="12" name="Shape 9"/>
          <p:cNvSpPr/>
          <p:nvPr/>
        </p:nvSpPr>
        <p:spPr>
          <a:xfrm>
            <a:off x="3787923" y="4680689"/>
            <a:ext cx="2422800" cy="288000"/>
          </a:xfrm>
          <a:prstGeom prst="roundRect">
            <a:avLst>
              <a:gd name="adj" fmla="val 26667"/>
            </a:avLst>
          </a:prstGeom>
          <a:solidFill>
            <a:srgbClr val="FB4D0A"/>
          </a:solidFill>
          <a:ln w="12700">
            <a:solidFill>
              <a:srgbClr val="FB4D0A"/>
            </a:solidFill>
            <a:prstDash val="solid"/>
          </a:ln>
        </p:spPr>
        <p:txBody>
          <a:bodyPr/>
          <a:lstStyle/>
          <a:p>
            <a:endParaRPr lang="en-IN" sz="4000"/>
          </a:p>
        </p:txBody>
      </p:sp>
      <p:sp>
        <p:nvSpPr>
          <p:cNvPr id="13" name="Text 10"/>
          <p:cNvSpPr/>
          <p:nvPr/>
        </p:nvSpPr>
        <p:spPr>
          <a:xfrm>
            <a:off x="4031361" y="4761348"/>
            <a:ext cx="1965960" cy="109728"/>
          </a:xfrm>
          <a:prstGeom prst="rect">
            <a:avLst/>
          </a:prstGeom>
          <a:noFill/>
          <a:ln/>
        </p:spPr>
        <p:txBody>
          <a:bodyPr wrap="square" lIns="508" tIns="508" rIns="508" bIns="508" rtlCol="0" anchor="ctr">
            <a:noAutofit/>
          </a:bodyPr>
          <a:lstStyle/>
          <a:p>
            <a:pPr marL="0" indent="0" algn="ctr">
              <a:buNone/>
            </a:pPr>
            <a:r>
              <a:rPr lang="en-US" sz="1200" b="1">
                <a:solidFill>
                  <a:srgbClr val="FFFFFF"/>
                </a:solidFill>
                <a:latin typeface="Aptos" pitchFamily="34" charset="0"/>
                <a:ea typeface="Aptos" pitchFamily="34" charset="-122"/>
                <a:cs typeface="Aptos" pitchFamily="34" charset="-120"/>
              </a:rPr>
              <a:t>AI-led root-cause investigation</a:t>
            </a:r>
            <a:endParaRPr lang="en-US" sz="1200"/>
          </a:p>
        </p:txBody>
      </p:sp>
      <p:sp>
        <p:nvSpPr>
          <p:cNvPr id="14" name="Shape 11"/>
          <p:cNvSpPr/>
          <p:nvPr/>
        </p:nvSpPr>
        <p:spPr>
          <a:xfrm>
            <a:off x="6307327" y="4680689"/>
            <a:ext cx="2422125" cy="294334"/>
          </a:xfrm>
          <a:prstGeom prst="roundRect">
            <a:avLst>
              <a:gd name="adj" fmla="val 26667"/>
            </a:avLst>
          </a:prstGeom>
          <a:solidFill>
            <a:srgbClr val="16A34A"/>
          </a:solidFill>
          <a:ln w="12700">
            <a:solidFill>
              <a:srgbClr val="16A34A"/>
            </a:solidFill>
            <a:prstDash val="solid"/>
          </a:ln>
        </p:spPr>
        <p:txBody>
          <a:bodyPr/>
          <a:lstStyle/>
          <a:p>
            <a:endParaRPr lang="en-IN" sz="4000"/>
          </a:p>
        </p:txBody>
      </p:sp>
      <p:sp>
        <p:nvSpPr>
          <p:cNvPr id="15" name="Text 12"/>
          <p:cNvSpPr/>
          <p:nvPr/>
        </p:nvSpPr>
        <p:spPr>
          <a:xfrm>
            <a:off x="6307327" y="4727102"/>
            <a:ext cx="2422125" cy="210312"/>
          </a:xfrm>
          <a:prstGeom prst="rect">
            <a:avLst/>
          </a:prstGeom>
          <a:noFill/>
          <a:ln/>
        </p:spPr>
        <p:txBody>
          <a:bodyPr wrap="square" lIns="508" tIns="508" rIns="508" bIns="508" rtlCol="0" anchor="ctr">
            <a:noAutofit/>
          </a:bodyPr>
          <a:lstStyle/>
          <a:p>
            <a:pPr marL="0" indent="0" algn="ctr">
              <a:buNone/>
            </a:pPr>
            <a:r>
              <a:rPr lang="en-US" sz="1200" b="1">
                <a:solidFill>
                  <a:srgbClr val="FFFFFF"/>
                </a:solidFill>
                <a:latin typeface="Aptos" pitchFamily="34" charset="0"/>
                <a:ea typeface="Aptos" pitchFamily="34" charset="-122"/>
                <a:cs typeface="Aptos" pitchFamily="34" charset="-120"/>
              </a:rPr>
              <a:t>Evidence + recommended actions</a:t>
            </a:r>
            <a:endParaRPr lang="en-US" sz="1200"/>
          </a:p>
        </p:txBody>
      </p:sp>
      <p:sp>
        <p:nvSpPr>
          <p:cNvPr id="16" name="Text 13"/>
          <p:cNvSpPr/>
          <p:nvPr/>
        </p:nvSpPr>
        <p:spPr>
          <a:xfrm>
            <a:off x="724790" y="5708270"/>
            <a:ext cx="8263935" cy="436497"/>
          </a:xfrm>
          <a:prstGeom prst="rect">
            <a:avLst/>
          </a:prstGeom>
          <a:noFill/>
          <a:ln/>
        </p:spPr>
        <p:txBody>
          <a:bodyPr wrap="square" lIns="508" tIns="508" rIns="508" bIns="508" rtlCol="0" anchor="ctr">
            <a:normAutofit/>
          </a:bodyPr>
          <a:lstStyle/>
          <a:p>
            <a:pPr marL="0" indent="0" algn="l">
              <a:buNone/>
            </a:pPr>
            <a:r>
              <a:rPr lang="en-US" sz="1400" b="1">
                <a:solidFill>
                  <a:srgbClr val="FFFFFF"/>
                </a:solidFill>
                <a:latin typeface="Aptos" pitchFamily="34" charset="0"/>
                <a:ea typeface="Aptos" pitchFamily="34" charset="-122"/>
                <a:cs typeface="Aptos" pitchFamily="34" charset="-120"/>
              </a:rPr>
              <a:t>PoC scenario: 25,000 customer records | Complaint cases: 1,200 → 1,650 | Illustrative investigation workflow</a:t>
            </a:r>
            <a:endParaRPr lang="en-US" sz="1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Rectangle 1"/>
          <p:cNvSpPr/>
          <p:nvPr/>
        </p:nvSpPr>
        <p:spPr>
          <a:xfrm>
            <a:off x="0" y="0"/>
            <a:ext cx="12192000" cy="36000"/>
          </a:xfrm>
          <a:prstGeom prst="rect">
            <a:avLst/>
          </a:prstGeom>
          <a:solidFill>
            <a:srgbClr val="FB4D0A"/>
          </a:solidFill>
          <a:ln>
            <a:solidFill>
              <a:srgbClr val="FB4D0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5" name="Group 4">
            <a:extLst>
              <a:ext uri="{FF2B5EF4-FFF2-40B4-BE49-F238E27FC236}">
                <a16:creationId xmlns:a16="http://schemas.microsoft.com/office/drawing/2014/main" id="{7EE70D54-1509-70BE-9501-7903A932D25C}"/>
              </a:ext>
            </a:extLst>
          </p:cNvPr>
          <p:cNvGrpSpPr/>
          <p:nvPr/>
        </p:nvGrpSpPr>
        <p:grpSpPr>
          <a:xfrm>
            <a:off x="438912" y="1325880"/>
            <a:ext cx="11292840" cy="1024128"/>
            <a:chOff x="438912" y="1325880"/>
            <a:chExt cx="11292840" cy="1024128"/>
          </a:xfrm>
        </p:grpSpPr>
        <p:sp>
          <p:nvSpPr>
            <p:cNvPr id="6" name="Rounded Rectangle 5"/>
            <p:cNvSpPr/>
            <p:nvPr/>
          </p:nvSpPr>
          <p:spPr>
            <a:xfrm>
              <a:off x="438912" y="1325880"/>
              <a:ext cx="11292840" cy="1024128"/>
            </a:xfrm>
            <a:prstGeom prst="roundRect">
              <a:avLst/>
            </a:prstGeom>
            <a:solidFill>
              <a:srgbClr val="00263E"/>
            </a:solidFill>
            <a:ln w="10160">
              <a:solidFill>
                <a:srgbClr val="002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799" y="1428607"/>
              <a:ext cx="2652624" cy="221599"/>
            </a:xfrm>
            <a:prstGeom prst="rect">
              <a:avLst/>
            </a:prstGeom>
            <a:noFill/>
          </p:spPr>
          <p:txBody>
            <a:bodyPr wrap="square" lIns="36576" tIns="18288" rIns="36576" bIns="18288">
              <a:spAutoFit/>
            </a:bodyPr>
            <a:lstStyle/>
            <a:p>
              <a:r>
                <a:rPr sz="1200" b="1">
                  <a:solidFill>
                    <a:srgbClr val="FB4D0A"/>
                  </a:solidFill>
                  <a:latin typeface="Aptos"/>
                </a:rPr>
                <a:t>Main business problem</a:t>
              </a:r>
            </a:p>
          </p:txBody>
        </p:sp>
        <p:sp>
          <p:nvSpPr>
            <p:cNvPr id="8" name="TextBox 7"/>
            <p:cNvSpPr txBox="1"/>
            <p:nvPr/>
          </p:nvSpPr>
          <p:spPr>
            <a:xfrm>
              <a:off x="685799" y="1673352"/>
              <a:ext cx="10482309" cy="498598"/>
            </a:xfrm>
            <a:prstGeom prst="rect">
              <a:avLst/>
            </a:prstGeom>
            <a:noFill/>
          </p:spPr>
          <p:txBody>
            <a:bodyPr wrap="square" lIns="36576" tIns="18288" rIns="36576" bIns="18288">
              <a:spAutoFit/>
            </a:bodyPr>
            <a:lstStyle/>
            <a:p>
              <a:r>
                <a:rPr lang="en-US" sz="1500" b="1">
                  <a:solidFill>
                    <a:srgbClr val="FFFFFF"/>
                  </a:solidFill>
                  <a:latin typeface="Aptos Display"/>
                </a:rPr>
                <a:t>Utility teams can see operational KPIs changing in existing dashboards, but they cannot quickly understand the real business reason, impacted customer groups, and priority action required for each user group.</a:t>
              </a:r>
            </a:p>
          </p:txBody>
        </p:sp>
      </p:grpSp>
      <p:grpSp>
        <p:nvGrpSpPr>
          <p:cNvPr id="3" name="Group 2">
            <a:extLst>
              <a:ext uri="{FF2B5EF4-FFF2-40B4-BE49-F238E27FC236}">
                <a16:creationId xmlns:a16="http://schemas.microsoft.com/office/drawing/2014/main" id="{BF4E2158-429F-07D1-F7EE-4DB44E3E354B}"/>
              </a:ext>
            </a:extLst>
          </p:cNvPr>
          <p:cNvGrpSpPr/>
          <p:nvPr/>
        </p:nvGrpSpPr>
        <p:grpSpPr>
          <a:xfrm>
            <a:off x="438912" y="2743200"/>
            <a:ext cx="5440680" cy="2331720"/>
            <a:chOff x="438912" y="2743200"/>
            <a:chExt cx="5440680" cy="2331720"/>
          </a:xfrm>
        </p:grpSpPr>
        <p:sp>
          <p:nvSpPr>
            <p:cNvPr id="9" name="Rounded Rectangle 8"/>
            <p:cNvSpPr/>
            <p:nvPr/>
          </p:nvSpPr>
          <p:spPr>
            <a:xfrm>
              <a:off x="438912" y="2743200"/>
              <a:ext cx="5440680" cy="2331720"/>
            </a:xfrm>
            <a:prstGeom prst="roundRect">
              <a:avLst/>
            </a:prstGeom>
            <a:solidFill>
              <a:srgbClr val="F4F7FA"/>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944368"/>
              <a:ext cx="1645920" cy="164592"/>
            </a:xfrm>
            <a:prstGeom prst="rect">
              <a:avLst/>
            </a:prstGeom>
            <a:noFill/>
          </p:spPr>
          <p:txBody>
            <a:bodyPr wrap="none" lIns="36576" tIns="18288" rIns="36576" bIns="18288">
              <a:spAutoFit/>
            </a:bodyPr>
            <a:lstStyle/>
            <a:p>
              <a:r>
                <a:rPr sz="1200" b="1">
                  <a:solidFill>
                    <a:srgbClr val="FB4D0A"/>
                  </a:solidFill>
                  <a:latin typeface="Aptos"/>
                </a:rPr>
                <a:t>Key challenges</a:t>
              </a:r>
            </a:p>
          </p:txBody>
        </p:sp>
        <p:sp>
          <p:nvSpPr>
            <p:cNvPr id="11" name="TextBox 10"/>
            <p:cNvSpPr txBox="1"/>
            <p:nvPr/>
          </p:nvSpPr>
          <p:spPr>
            <a:xfrm>
              <a:off x="685799" y="3273552"/>
              <a:ext cx="5102525" cy="1620957"/>
            </a:xfrm>
            <a:prstGeom prst="rect">
              <a:avLst/>
            </a:prstGeom>
            <a:noFill/>
          </p:spPr>
          <p:txBody>
            <a:bodyPr wrap="square" lIns="45720" tIns="18288" rIns="45720" bIns="18288">
              <a:spAutoFit/>
            </a:bodyPr>
            <a:lstStyle/>
            <a:p>
              <a:pPr>
                <a:spcAft>
                  <a:spcPts val="400"/>
                </a:spcAft>
                <a:defRPr sz="1120">
                  <a:solidFill>
                    <a:srgbClr val="3B4652"/>
                  </a:solidFill>
                  <a:latin typeface="Aptos"/>
                </a:defRPr>
              </a:pPr>
              <a:r>
                <a:rPr lang="en-US"/>
                <a:t>• Root-cause visibility is fragmented across multiple operational processes and systems.</a:t>
              </a:r>
            </a:p>
            <a:p>
              <a:pPr>
                <a:spcAft>
                  <a:spcPts val="400"/>
                </a:spcAft>
                <a:defRPr sz="1120">
                  <a:solidFill>
                    <a:srgbClr val="3B4652"/>
                  </a:solidFill>
                  <a:latin typeface="Aptos"/>
                </a:defRPr>
              </a:pPr>
              <a:r>
                <a:rPr lang="en-US"/>
                <a:t>• Business teams spend too much time interpreting data before action can begin.</a:t>
              </a:r>
            </a:p>
            <a:p>
              <a:pPr>
                <a:spcAft>
                  <a:spcPts val="400"/>
                </a:spcAft>
                <a:defRPr sz="1120">
                  <a:solidFill>
                    <a:srgbClr val="3B4652"/>
                  </a:solidFill>
                  <a:latin typeface="Aptos"/>
                </a:defRPr>
              </a:pPr>
              <a:r>
                <a:rPr lang="en-US"/>
                <a:t>• Different analysts or teams may reach different conclusions from the same KPI movement.</a:t>
              </a:r>
            </a:p>
            <a:p>
              <a:pPr>
                <a:spcAft>
                  <a:spcPts val="400"/>
                </a:spcAft>
                <a:defRPr sz="1120">
                  <a:solidFill>
                    <a:srgbClr val="3B4652"/>
                  </a:solidFill>
                  <a:latin typeface="Aptos"/>
                </a:defRPr>
              </a:pPr>
              <a:r>
                <a:rPr lang="en-US"/>
                <a:t>• Operational decisions become reactive instead of proactive.</a:t>
              </a:r>
              <a:endParaRPr lang="en-US" sz="1120">
                <a:solidFill>
                  <a:srgbClr val="3B4652"/>
                </a:solidFill>
                <a:latin typeface="Aptos"/>
              </a:endParaRPr>
            </a:p>
            <a:p>
              <a:pPr>
                <a:spcAft>
                  <a:spcPts val="400"/>
                </a:spcAft>
                <a:defRPr sz="1120">
                  <a:solidFill>
                    <a:srgbClr val="3B4652"/>
                  </a:solidFill>
                  <a:latin typeface="Aptos"/>
                </a:defRPr>
              </a:pPr>
              <a:r>
                <a:rPr lang="en-US"/>
                <a:t>• </a:t>
              </a:r>
              <a:r>
                <a:rPr lang="en-US" sz="1120">
                  <a:solidFill>
                    <a:srgbClr val="3B4652"/>
                  </a:solidFill>
                  <a:latin typeface="Aptos"/>
                </a:rPr>
                <a:t>Delayed understanding leads to reactive customer and operational management.</a:t>
              </a:r>
            </a:p>
          </p:txBody>
        </p:sp>
      </p:grpSp>
      <p:sp>
        <p:nvSpPr>
          <p:cNvPr id="12" name="Rounded Rectangle 11"/>
          <p:cNvSpPr/>
          <p:nvPr/>
        </p:nvSpPr>
        <p:spPr>
          <a:xfrm>
            <a:off x="6291072" y="2743200"/>
            <a:ext cx="5440680" cy="2331720"/>
          </a:xfrm>
          <a:prstGeom prst="roundRect">
            <a:avLst/>
          </a:prstGeom>
          <a:solidFill>
            <a:srgbClr val="FFFFFF"/>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4" name="Group 3">
            <a:extLst>
              <a:ext uri="{FF2B5EF4-FFF2-40B4-BE49-F238E27FC236}">
                <a16:creationId xmlns:a16="http://schemas.microsoft.com/office/drawing/2014/main" id="{0FCD95FE-3D6F-CA16-065C-296EE466FC76}"/>
              </a:ext>
            </a:extLst>
          </p:cNvPr>
          <p:cNvGrpSpPr/>
          <p:nvPr/>
        </p:nvGrpSpPr>
        <p:grpSpPr>
          <a:xfrm>
            <a:off x="6537960" y="2944368"/>
            <a:ext cx="5120640" cy="1726490"/>
            <a:chOff x="6537960" y="2944368"/>
            <a:chExt cx="5120640" cy="1726490"/>
          </a:xfrm>
        </p:grpSpPr>
        <p:sp>
          <p:nvSpPr>
            <p:cNvPr id="13" name="TextBox 12"/>
            <p:cNvSpPr txBox="1"/>
            <p:nvPr/>
          </p:nvSpPr>
          <p:spPr>
            <a:xfrm>
              <a:off x="6537960" y="2944368"/>
              <a:ext cx="1554480" cy="164592"/>
            </a:xfrm>
            <a:prstGeom prst="rect">
              <a:avLst/>
            </a:prstGeom>
            <a:noFill/>
          </p:spPr>
          <p:txBody>
            <a:bodyPr wrap="none" lIns="36576" tIns="18288" rIns="36576" bIns="18288">
              <a:spAutoFit/>
            </a:bodyPr>
            <a:lstStyle/>
            <a:p>
              <a:r>
                <a:rPr sz="1200" b="1">
                  <a:solidFill>
                    <a:srgbClr val="FB4D0A"/>
                  </a:solidFill>
                  <a:latin typeface="Aptos"/>
                </a:rPr>
                <a:t>Business impact</a:t>
              </a:r>
            </a:p>
          </p:txBody>
        </p:sp>
        <p:sp>
          <p:nvSpPr>
            <p:cNvPr id="14" name="TextBox 13"/>
            <p:cNvSpPr txBox="1"/>
            <p:nvPr/>
          </p:nvSpPr>
          <p:spPr>
            <a:xfrm>
              <a:off x="6537960" y="3273552"/>
              <a:ext cx="5120640" cy="1397306"/>
            </a:xfrm>
            <a:prstGeom prst="rect">
              <a:avLst/>
            </a:prstGeom>
            <a:noFill/>
          </p:spPr>
          <p:txBody>
            <a:bodyPr wrap="square" lIns="45720" tIns="18288" rIns="45720" bIns="18288">
              <a:spAutoFit/>
            </a:bodyPr>
            <a:lstStyle/>
            <a:p>
              <a:pPr>
                <a:spcAft>
                  <a:spcPts val="400"/>
                </a:spcAft>
                <a:defRPr sz="1120">
                  <a:solidFill>
                    <a:srgbClr val="3B4652"/>
                  </a:solidFill>
                  <a:latin typeface="Aptos"/>
                </a:defRPr>
              </a:pPr>
              <a:r>
                <a:rPr lang="en-US"/>
                <a:t>• Customer-impacting issues can escalate before the true driver is identified.</a:t>
              </a:r>
            </a:p>
            <a:p>
              <a:pPr>
                <a:spcAft>
                  <a:spcPts val="400"/>
                </a:spcAft>
                <a:defRPr sz="1120">
                  <a:solidFill>
                    <a:srgbClr val="3B4652"/>
                  </a:solidFill>
                  <a:latin typeface="Aptos"/>
                </a:defRPr>
              </a:pPr>
              <a:r>
                <a:rPr lang="en-US"/>
                <a:t>• High-risk customers, regions, segments or processes may not be prioritized early enough.</a:t>
              </a:r>
            </a:p>
            <a:p>
              <a:pPr>
                <a:spcAft>
                  <a:spcPts val="400"/>
                </a:spcAft>
                <a:defRPr sz="1120">
                  <a:solidFill>
                    <a:srgbClr val="3B4652"/>
                  </a:solidFill>
                  <a:latin typeface="Aptos"/>
                </a:defRPr>
              </a:pPr>
              <a:r>
                <a:rPr lang="en-US"/>
                <a:t>• Leadership receives KPI movement updates without clear evidence or action confidence.</a:t>
              </a:r>
            </a:p>
            <a:p>
              <a:pPr>
                <a:spcAft>
                  <a:spcPts val="400"/>
                </a:spcAft>
                <a:defRPr sz="1120">
                  <a:solidFill>
                    <a:srgbClr val="3B4652"/>
                  </a:solidFill>
                  <a:latin typeface="Aptos"/>
                </a:defRPr>
              </a:pPr>
              <a:r>
                <a:rPr lang="en-US"/>
                <a:t>• Resources are not always focused on the issues with the highest business impact.</a:t>
              </a:r>
            </a:p>
          </p:txBody>
        </p:sp>
      </p:grpSp>
      <p:sp>
        <p:nvSpPr>
          <p:cNvPr id="15" name="Rounded Rectangle 14"/>
          <p:cNvSpPr/>
          <p:nvPr/>
        </p:nvSpPr>
        <p:spPr>
          <a:xfrm>
            <a:off x="438912" y="5532120"/>
            <a:ext cx="11292840" cy="713232"/>
          </a:xfrm>
          <a:prstGeom prst="roundRect">
            <a:avLst/>
          </a:prstGeom>
          <a:solidFill>
            <a:srgbClr val="F4F7FA"/>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60717" y="5742432"/>
            <a:ext cx="1633843" cy="206210"/>
          </a:xfrm>
          <a:prstGeom prst="rect">
            <a:avLst/>
          </a:prstGeom>
          <a:noFill/>
        </p:spPr>
        <p:txBody>
          <a:bodyPr wrap="square" lIns="36576" tIns="18288" rIns="36576" bIns="18288">
            <a:spAutoFit/>
          </a:bodyPr>
          <a:lstStyle/>
          <a:p>
            <a:r>
              <a:rPr sz="1100" b="1">
                <a:solidFill>
                  <a:srgbClr val="FB4D0A"/>
                </a:solidFill>
                <a:latin typeface="Aptos"/>
              </a:rPr>
              <a:t>What needs to change:</a:t>
            </a:r>
          </a:p>
        </p:txBody>
      </p:sp>
      <p:sp>
        <p:nvSpPr>
          <p:cNvPr id="17" name="TextBox 16"/>
          <p:cNvSpPr txBox="1"/>
          <p:nvPr/>
        </p:nvSpPr>
        <p:spPr>
          <a:xfrm>
            <a:off x="2176272" y="5669280"/>
            <a:ext cx="9331366" cy="437043"/>
          </a:xfrm>
          <a:prstGeom prst="rect">
            <a:avLst/>
          </a:prstGeom>
          <a:noFill/>
        </p:spPr>
        <p:txBody>
          <a:bodyPr wrap="square" lIns="36576" tIns="18288" rIns="36576" bIns="18288">
            <a:spAutoFit/>
          </a:bodyPr>
          <a:lstStyle/>
          <a:p>
            <a:r>
              <a:rPr lang="en-US" sz="1300" b="1">
                <a:solidFill>
                  <a:srgbClr val="00263E"/>
                </a:solidFill>
              </a:rPr>
              <a:t>Move from “KPI changed” to decision-ready insight: why it changed, who is impacted, what evidence supports the explanation, and what action should be taken next.</a:t>
            </a:r>
          </a:p>
        </p:txBody>
      </p:sp>
      <p:sp>
        <p:nvSpPr>
          <p:cNvPr id="23" name="Text 1">
            <a:extLst>
              <a:ext uri="{FF2B5EF4-FFF2-40B4-BE49-F238E27FC236}">
                <a16:creationId xmlns:a16="http://schemas.microsoft.com/office/drawing/2014/main" id="{2031AA97-63F0-89E5-6555-E20C2DE3C7E7}"/>
              </a:ext>
            </a:extLst>
          </p:cNvPr>
          <p:cNvSpPr/>
          <p:nvPr/>
        </p:nvSpPr>
        <p:spPr>
          <a:xfrm>
            <a:off x="749808" y="118872"/>
            <a:ext cx="6035040" cy="274320"/>
          </a:xfrm>
          <a:prstGeom prst="rect">
            <a:avLst/>
          </a:prstGeom>
          <a:noFill/>
          <a:ln/>
        </p:spPr>
        <p:txBody>
          <a:bodyPr wrap="square" lIns="254" tIns="254" rIns="254" bIns="254" rtlCol="0" anchor="ctr">
            <a:noAutofit/>
          </a:bodyPr>
          <a:lstStyle/>
          <a:p>
            <a:r>
              <a:rPr lang="en-IN" sz="2400" b="1">
                <a:solidFill>
                  <a:srgbClr val="005071"/>
                </a:solidFill>
                <a:latin typeface="Aptos Display"/>
              </a:rPr>
              <a:t>Business Problem</a:t>
            </a:r>
          </a:p>
        </p:txBody>
      </p:sp>
      <p:sp>
        <p:nvSpPr>
          <p:cNvPr id="27" name="Shape 3">
            <a:extLst>
              <a:ext uri="{FF2B5EF4-FFF2-40B4-BE49-F238E27FC236}">
                <a16:creationId xmlns:a16="http://schemas.microsoft.com/office/drawing/2014/main" id="{27D2F15C-F0D5-722C-2299-01FFAA2CC51A}"/>
              </a:ext>
            </a:extLst>
          </p:cNvPr>
          <p:cNvSpPr/>
          <p:nvPr/>
        </p:nvSpPr>
        <p:spPr>
          <a:xfrm>
            <a:off x="219456" y="731520"/>
            <a:ext cx="11777472" cy="1"/>
          </a:xfrm>
          <a:prstGeom prst="line">
            <a:avLst/>
          </a:prstGeom>
          <a:noFill/>
          <a:ln w="10160">
            <a:solidFill>
              <a:srgbClr val="D8E1EA"/>
            </a:solidFill>
            <a:prstDash val="solid"/>
          </a:ln>
        </p:spPr>
        <p:txBody>
          <a:bodyPr/>
          <a:lstStyle/>
          <a:p>
            <a:endParaRPr lang="en-IN" sz="2800"/>
          </a:p>
        </p:txBody>
      </p:sp>
      <p:sp>
        <p:nvSpPr>
          <p:cNvPr id="29" name="TextBox 28">
            <a:extLst>
              <a:ext uri="{FF2B5EF4-FFF2-40B4-BE49-F238E27FC236}">
                <a16:creationId xmlns:a16="http://schemas.microsoft.com/office/drawing/2014/main" id="{50D48DA4-DD0C-B72D-BF2D-B248169E0EB9}"/>
              </a:ext>
            </a:extLst>
          </p:cNvPr>
          <p:cNvSpPr txBox="1"/>
          <p:nvPr/>
        </p:nvSpPr>
        <p:spPr>
          <a:xfrm>
            <a:off x="749808" y="456128"/>
            <a:ext cx="3829703" cy="198516"/>
          </a:xfrm>
          <a:prstGeom prst="rect">
            <a:avLst/>
          </a:prstGeom>
          <a:noFill/>
        </p:spPr>
        <p:txBody>
          <a:bodyPr wrap="none" lIns="36576" tIns="18288" rIns="36576" bIns="18288">
            <a:spAutoFit/>
          </a:bodyPr>
          <a:lstStyle/>
          <a:p>
            <a:r>
              <a:rPr sz="1050" b="0">
                <a:solidFill>
                  <a:srgbClr val="3B4652"/>
                </a:solidFill>
                <a:latin typeface="Aptos"/>
              </a:rPr>
              <a:t>The core challenge InsightForge is solving</a:t>
            </a:r>
          </a:p>
        </p:txBody>
      </p:sp>
      <p:sp>
        <p:nvSpPr>
          <p:cNvPr id="19" name="Text 35">
            <a:extLst>
              <a:ext uri="{FF2B5EF4-FFF2-40B4-BE49-F238E27FC236}">
                <a16:creationId xmlns:a16="http://schemas.microsoft.com/office/drawing/2014/main" id="{141B488E-9AD8-F71A-9B64-2392D5102C5F}"/>
              </a:ext>
            </a:extLst>
          </p:cNvPr>
          <p:cNvSpPr/>
          <p:nvPr/>
        </p:nvSpPr>
        <p:spPr>
          <a:xfrm>
            <a:off x="292608" y="6473952"/>
            <a:ext cx="3246120" cy="137160"/>
          </a:xfrm>
          <a:prstGeom prst="rect">
            <a:avLst/>
          </a:prstGeom>
          <a:noFill/>
          <a:ln/>
        </p:spPr>
        <p:txBody>
          <a:bodyPr wrap="square" lIns="508" tIns="508" rIns="508" bIns="508" rtlCol="0" anchor="ctr">
            <a:normAutofit/>
          </a:bodyPr>
          <a:lstStyle/>
          <a:p>
            <a:pPr marL="0" indent="0" algn="l">
              <a:buNone/>
            </a:pPr>
            <a:r>
              <a:rPr lang="en-US" sz="700">
                <a:solidFill>
                  <a:srgbClr val="6A7785"/>
                </a:solidFill>
                <a:latin typeface="Aptos" pitchFamily="34" charset="0"/>
                <a:ea typeface="Aptos" pitchFamily="34" charset="-122"/>
                <a:cs typeface="Aptos" pitchFamily="34" charset="-120"/>
              </a:rPr>
              <a:t>InsightForge-AI | AI Operations Intelligence Agent</a:t>
            </a:r>
            <a:endParaRPr lang="en-US" sz="700"/>
          </a:p>
        </p:txBody>
      </p:sp>
      <p:sp>
        <p:nvSpPr>
          <p:cNvPr id="21" name="Text 36">
            <a:extLst>
              <a:ext uri="{FF2B5EF4-FFF2-40B4-BE49-F238E27FC236}">
                <a16:creationId xmlns:a16="http://schemas.microsoft.com/office/drawing/2014/main" id="{5233152D-3B6B-ADE5-30EA-E9BDD432B668}"/>
              </a:ext>
            </a:extLst>
          </p:cNvPr>
          <p:cNvSpPr/>
          <p:nvPr/>
        </p:nvSpPr>
        <p:spPr>
          <a:xfrm>
            <a:off x="11411712" y="6473952"/>
            <a:ext cx="411480" cy="137160"/>
          </a:xfrm>
          <a:prstGeom prst="rect">
            <a:avLst/>
          </a:prstGeom>
          <a:noFill/>
          <a:ln/>
        </p:spPr>
        <p:txBody>
          <a:bodyPr wrap="square" lIns="508" tIns="508" rIns="508" bIns="508" rtlCol="0" anchor="ctr">
            <a:normAutofit/>
          </a:bodyPr>
          <a:lstStyle/>
          <a:p>
            <a:pPr marL="0" indent="0" algn="l">
              <a:buNone/>
            </a:pPr>
            <a:r>
              <a:rPr lang="en-US" sz="700" b="1">
                <a:solidFill>
                  <a:srgbClr val="FB4D0A"/>
                </a:solidFill>
                <a:latin typeface="Aptos" pitchFamily="34" charset="0"/>
                <a:ea typeface="Aptos" pitchFamily="34" charset="-122"/>
                <a:cs typeface="Aptos" pitchFamily="34" charset="-120"/>
              </a:rPr>
              <a:t>EXL</a:t>
            </a:r>
            <a:endParaRPr lang="en-US" sz="7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Rectangle 1"/>
          <p:cNvSpPr/>
          <p:nvPr/>
        </p:nvSpPr>
        <p:spPr>
          <a:xfrm>
            <a:off x="0" y="0"/>
            <a:ext cx="12204000" cy="36000"/>
          </a:xfrm>
          <a:prstGeom prst="rect">
            <a:avLst/>
          </a:prstGeom>
          <a:solidFill>
            <a:srgbClr val="FB4D0A"/>
          </a:solidFill>
          <a:ln>
            <a:solidFill>
              <a:srgbClr val="FB4D0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66344" y="1273049"/>
            <a:ext cx="11247120" cy="9144"/>
          </a:xfrm>
          <a:prstGeom prst="rect">
            <a:avLst/>
          </a:prstGeom>
          <a:solidFill>
            <a:srgbClr val="D8E1EA"/>
          </a:solidFill>
          <a:ln>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11480" y="1234440"/>
            <a:ext cx="11356848" cy="530352"/>
          </a:xfrm>
          <a:prstGeom prst="roundRect">
            <a:avLst/>
          </a:prstGeom>
          <a:solidFill>
            <a:srgbClr val="FFF2EA"/>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1417320"/>
            <a:ext cx="7772400" cy="146304"/>
          </a:xfrm>
          <a:prstGeom prst="rect">
            <a:avLst/>
          </a:prstGeom>
          <a:noFill/>
        </p:spPr>
        <p:txBody>
          <a:bodyPr wrap="none" lIns="36576" tIns="18288" rIns="36576" bIns="18288">
            <a:spAutoFit/>
          </a:bodyPr>
          <a:lstStyle/>
          <a:p>
            <a:r>
              <a:rPr sz="1200" b="1">
                <a:solidFill>
                  <a:srgbClr val="00263E"/>
                </a:solidFill>
                <a:latin typeface="Aptos Display"/>
              </a:rPr>
              <a:t>Today: KPI investigation is fragmented, slow and analyst-dependent</a:t>
            </a:r>
          </a:p>
        </p:txBody>
      </p:sp>
      <p:sp>
        <p:nvSpPr>
          <p:cNvPr id="8" name="Rounded Rectangle 7"/>
          <p:cNvSpPr/>
          <p:nvPr/>
        </p:nvSpPr>
        <p:spPr>
          <a:xfrm>
            <a:off x="502920" y="2011680"/>
            <a:ext cx="1645920" cy="1828800"/>
          </a:xfrm>
          <a:prstGeom prst="roundRect">
            <a:avLst/>
          </a:prstGeom>
          <a:solidFill>
            <a:srgbClr val="FFFFFF"/>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Oval 8"/>
          <p:cNvSpPr/>
          <p:nvPr/>
        </p:nvSpPr>
        <p:spPr>
          <a:xfrm>
            <a:off x="1033271" y="2167128"/>
            <a:ext cx="384048" cy="384048"/>
          </a:xfrm>
          <a:prstGeom prst="ellipse">
            <a:avLst/>
          </a:prstGeom>
          <a:solidFill>
            <a:srgbClr val="FB4D0A"/>
          </a:solidFill>
          <a:ln>
            <a:solidFill>
              <a:srgbClr val="FB4D0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TextBox 9"/>
          <p:cNvSpPr txBox="1"/>
          <p:nvPr/>
        </p:nvSpPr>
        <p:spPr>
          <a:xfrm>
            <a:off x="1157905" y="2276856"/>
            <a:ext cx="134780" cy="175433"/>
          </a:xfrm>
          <a:prstGeom prst="rect">
            <a:avLst/>
          </a:prstGeom>
          <a:noFill/>
        </p:spPr>
        <p:txBody>
          <a:bodyPr wrap="none" lIns="36576" tIns="18288" rIns="36576" bIns="18288">
            <a:spAutoFit/>
          </a:bodyPr>
          <a:lstStyle/>
          <a:p>
            <a:pPr algn="ctr"/>
            <a:r>
              <a:rPr sz="900" b="1">
                <a:solidFill>
                  <a:srgbClr val="FFFFFF"/>
                </a:solidFill>
                <a:latin typeface="Aptos"/>
              </a:rPr>
              <a:t>1</a:t>
            </a:r>
          </a:p>
        </p:txBody>
      </p:sp>
      <p:sp>
        <p:nvSpPr>
          <p:cNvPr id="11" name="TextBox 10"/>
          <p:cNvSpPr txBox="1"/>
          <p:nvPr/>
        </p:nvSpPr>
        <p:spPr>
          <a:xfrm>
            <a:off x="512550" y="2679192"/>
            <a:ext cx="1462068" cy="198516"/>
          </a:xfrm>
          <a:prstGeom prst="rect">
            <a:avLst/>
          </a:prstGeom>
          <a:noFill/>
        </p:spPr>
        <p:txBody>
          <a:bodyPr wrap="none" lIns="36576" tIns="18288" rIns="36576" bIns="18288">
            <a:spAutoFit/>
          </a:bodyPr>
          <a:lstStyle/>
          <a:p>
            <a:pPr algn="ctr"/>
            <a:r>
              <a:rPr sz="1050" b="1">
                <a:solidFill>
                  <a:srgbClr val="FB4D0A"/>
                </a:solidFill>
                <a:latin typeface="Aptos"/>
              </a:rPr>
              <a:t>KPI movement noticed</a:t>
            </a:r>
          </a:p>
        </p:txBody>
      </p:sp>
      <p:sp>
        <p:nvSpPr>
          <p:cNvPr id="12" name="TextBox 11"/>
          <p:cNvSpPr txBox="1"/>
          <p:nvPr/>
        </p:nvSpPr>
        <p:spPr>
          <a:xfrm>
            <a:off x="630936" y="2962656"/>
            <a:ext cx="1243584" cy="683264"/>
          </a:xfrm>
          <a:prstGeom prst="rect">
            <a:avLst/>
          </a:prstGeom>
          <a:noFill/>
        </p:spPr>
        <p:txBody>
          <a:bodyPr wrap="square" lIns="36576" tIns="18288" rIns="36576" bIns="18288">
            <a:spAutoFit/>
          </a:bodyPr>
          <a:lstStyle/>
          <a:p>
            <a:pPr algn="ctr"/>
            <a:r>
              <a:rPr lang="en-US" sz="1050">
                <a:solidFill>
                  <a:srgbClr val="3B4652"/>
                </a:solidFill>
              </a:rPr>
              <a:t>Existing dashboard/report shows KPI movement.</a:t>
            </a:r>
          </a:p>
        </p:txBody>
      </p:sp>
      <p:sp>
        <p:nvSpPr>
          <p:cNvPr id="14" name="Rounded Rectangle 13"/>
          <p:cNvSpPr/>
          <p:nvPr/>
        </p:nvSpPr>
        <p:spPr>
          <a:xfrm>
            <a:off x="2386584" y="2011680"/>
            <a:ext cx="1645920" cy="1828800"/>
          </a:xfrm>
          <a:prstGeom prst="roundRect">
            <a:avLst/>
          </a:prstGeom>
          <a:solidFill>
            <a:srgbClr val="F4F7FA"/>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Oval 14"/>
          <p:cNvSpPr/>
          <p:nvPr/>
        </p:nvSpPr>
        <p:spPr>
          <a:xfrm>
            <a:off x="2916936" y="2167128"/>
            <a:ext cx="384048" cy="384048"/>
          </a:xfrm>
          <a:prstGeom prst="ellipse">
            <a:avLst/>
          </a:prstGeom>
          <a:solidFill>
            <a:srgbClr val="00263E"/>
          </a:solidFill>
          <a:ln>
            <a:solidFill>
              <a:srgbClr val="002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6" name="TextBox 15"/>
          <p:cNvSpPr txBox="1"/>
          <p:nvPr/>
        </p:nvSpPr>
        <p:spPr>
          <a:xfrm>
            <a:off x="3041570" y="2276856"/>
            <a:ext cx="134780" cy="175433"/>
          </a:xfrm>
          <a:prstGeom prst="rect">
            <a:avLst/>
          </a:prstGeom>
          <a:noFill/>
        </p:spPr>
        <p:txBody>
          <a:bodyPr wrap="none" lIns="36576" tIns="18288" rIns="36576" bIns="18288">
            <a:spAutoFit/>
          </a:bodyPr>
          <a:lstStyle/>
          <a:p>
            <a:pPr algn="ctr"/>
            <a:r>
              <a:rPr sz="900" b="1">
                <a:solidFill>
                  <a:srgbClr val="FFFFFF"/>
                </a:solidFill>
                <a:latin typeface="Aptos"/>
              </a:rPr>
              <a:t>2</a:t>
            </a:r>
          </a:p>
        </p:txBody>
      </p:sp>
      <p:sp>
        <p:nvSpPr>
          <p:cNvPr id="17" name="TextBox 16"/>
          <p:cNvSpPr txBox="1"/>
          <p:nvPr/>
        </p:nvSpPr>
        <p:spPr>
          <a:xfrm>
            <a:off x="2380184" y="2679192"/>
            <a:ext cx="1494128" cy="198516"/>
          </a:xfrm>
          <a:prstGeom prst="rect">
            <a:avLst/>
          </a:prstGeom>
          <a:noFill/>
        </p:spPr>
        <p:txBody>
          <a:bodyPr wrap="none" lIns="36576" tIns="18288" rIns="36576" bIns="18288">
            <a:spAutoFit/>
          </a:bodyPr>
          <a:lstStyle/>
          <a:p>
            <a:pPr algn="ctr"/>
            <a:r>
              <a:rPr sz="1050" b="1">
                <a:solidFill>
                  <a:srgbClr val="FB4D0A"/>
                </a:solidFill>
                <a:latin typeface="Aptos"/>
              </a:rPr>
              <a:t>Open multiple systems</a:t>
            </a:r>
          </a:p>
        </p:txBody>
      </p:sp>
      <p:sp>
        <p:nvSpPr>
          <p:cNvPr id="18" name="TextBox 17"/>
          <p:cNvSpPr txBox="1"/>
          <p:nvPr/>
        </p:nvSpPr>
        <p:spPr>
          <a:xfrm>
            <a:off x="2514600" y="2962656"/>
            <a:ext cx="1261872" cy="683264"/>
          </a:xfrm>
          <a:prstGeom prst="rect">
            <a:avLst/>
          </a:prstGeom>
          <a:noFill/>
        </p:spPr>
        <p:txBody>
          <a:bodyPr wrap="square" lIns="36576" tIns="18288" rIns="36576" bIns="18288">
            <a:spAutoFit/>
          </a:bodyPr>
          <a:lstStyle/>
          <a:p>
            <a:pPr algn="ctr"/>
            <a:r>
              <a:rPr sz="1050" b="0">
                <a:solidFill>
                  <a:srgbClr val="3B4652"/>
                </a:solidFill>
                <a:latin typeface="Aptos"/>
              </a:rPr>
              <a:t>Analyst checks dashboards, extracts, SQL tables and operational reports.</a:t>
            </a:r>
          </a:p>
        </p:txBody>
      </p:sp>
      <p:sp>
        <p:nvSpPr>
          <p:cNvPr id="20" name="Rounded Rectangle 19"/>
          <p:cNvSpPr/>
          <p:nvPr/>
        </p:nvSpPr>
        <p:spPr>
          <a:xfrm>
            <a:off x="4270248" y="2011680"/>
            <a:ext cx="1645920" cy="1828800"/>
          </a:xfrm>
          <a:prstGeom prst="roundRect">
            <a:avLst/>
          </a:prstGeom>
          <a:solidFill>
            <a:srgbClr val="FFFFFF"/>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1" name="Oval 20"/>
          <p:cNvSpPr/>
          <p:nvPr/>
        </p:nvSpPr>
        <p:spPr>
          <a:xfrm>
            <a:off x="4800600" y="2167128"/>
            <a:ext cx="384048" cy="384048"/>
          </a:xfrm>
          <a:prstGeom prst="ellipse">
            <a:avLst/>
          </a:prstGeom>
          <a:solidFill>
            <a:srgbClr val="00263E"/>
          </a:solidFill>
          <a:ln>
            <a:solidFill>
              <a:srgbClr val="002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TextBox 21"/>
          <p:cNvSpPr txBox="1"/>
          <p:nvPr/>
        </p:nvSpPr>
        <p:spPr>
          <a:xfrm>
            <a:off x="4925234" y="2276856"/>
            <a:ext cx="134780" cy="175433"/>
          </a:xfrm>
          <a:prstGeom prst="rect">
            <a:avLst/>
          </a:prstGeom>
          <a:noFill/>
        </p:spPr>
        <p:txBody>
          <a:bodyPr wrap="none" lIns="36576" tIns="18288" rIns="36576" bIns="18288">
            <a:spAutoFit/>
          </a:bodyPr>
          <a:lstStyle/>
          <a:p>
            <a:pPr algn="ctr"/>
            <a:r>
              <a:rPr sz="900" b="1">
                <a:solidFill>
                  <a:srgbClr val="FFFFFF"/>
                </a:solidFill>
                <a:latin typeface="Aptos"/>
              </a:rPr>
              <a:t>3</a:t>
            </a:r>
          </a:p>
        </p:txBody>
      </p:sp>
      <p:sp>
        <p:nvSpPr>
          <p:cNvPr id="23" name="TextBox 22"/>
          <p:cNvSpPr txBox="1"/>
          <p:nvPr/>
        </p:nvSpPr>
        <p:spPr>
          <a:xfrm>
            <a:off x="4299917" y="2679192"/>
            <a:ext cx="1421992" cy="198516"/>
          </a:xfrm>
          <a:prstGeom prst="rect">
            <a:avLst/>
          </a:prstGeom>
          <a:noFill/>
        </p:spPr>
        <p:txBody>
          <a:bodyPr wrap="none" lIns="36576" tIns="18288" rIns="36576" bIns="18288">
            <a:spAutoFit/>
          </a:bodyPr>
          <a:lstStyle/>
          <a:p>
            <a:pPr algn="ctr"/>
            <a:r>
              <a:rPr sz="1050" b="1">
                <a:solidFill>
                  <a:srgbClr val="FB4D0A"/>
                </a:solidFill>
                <a:latin typeface="Aptos"/>
              </a:rPr>
              <a:t>Collect data manually</a:t>
            </a:r>
          </a:p>
        </p:txBody>
      </p:sp>
      <p:sp>
        <p:nvSpPr>
          <p:cNvPr id="24" name="TextBox 23"/>
          <p:cNvSpPr txBox="1"/>
          <p:nvPr/>
        </p:nvSpPr>
        <p:spPr>
          <a:xfrm>
            <a:off x="4398264" y="2962656"/>
            <a:ext cx="1261872" cy="844847"/>
          </a:xfrm>
          <a:prstGeom prst="rect">
            <a:avLst/>
          </a:prstGeom>
          <a:noFill/>
        </p:spPr>
        <p:txBody>
          <a:bodyPr wrap="square" lIns="36576" tIns="18288" rIns="36576" bIns="18288">
            <a:spAutoFit/>
          </a:bodyPr>
          <a:lstStyle/>
          <a:p>
            <a:pPr algn="ctr"/>
            <a:r>
              <a:rPr sz="1050">
                <a:solidFill>
                  <a:srgbClr val="3B4652"/>
                </a:solidFill>
                <a:latin typeface="Aptos"/>
              </a:rPr>
              <a:t>Data is stitched together from billing, payments, complaints, calls, meter and account records.</a:t>
            </a:r>
          </a:p>
        </p:txBody>
      </p:sp>
      <p:sp>
        <p:nvSpPr>
          <p:cNvPr id="26" name="Rounded Rectangle 25"/>
          <p:cNvSpPr/>
          <p:nvPr/>
        </p:nvSpPr>
        <p:spPr>
          <a:xfrm>
            <a:off x="6153912" y="2011680"/>
            <a:ext cx="1645920" cy="1828800"/>
          </a:xfrm>
          <a:prstGeom prst="roundRect">
            <a:avLst/>
          </a:prstGeom>
          <a:solidFill>
            <a:srgbClr val="F4F7FA"/>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 name="Oval 26"/>
          <p:cNvSpPr/>
          <p:nvPr/>
        </p:nvSpPr>
        <p:spPr>
          <a:xfrm>
            <a:off x="6684264" y="2167128"/>
            <a:ext cx="384048" cy="384048"/>
          </a:xfrm>
          <a:prstGeom prst="ellipse">
            <a:avLst/>
          </a:prstGeom>
          <a:solidFill>
            <a:srgbClr val="00263E"/>
          </a:solidFill>
          <a:ln>
            <a:solidFill>
              <a:srgbClr val="002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8" name="TextBox 27"/>
          <p:cNvSpPr txBox="1"/>
          <p:nvPr/>
        </p:nvSpPr>
        <p:spPr>
          <a:xfrm>
            <a:off x="6808898" y="2276856"/>
            <a:ext cx="134780" cy="175433"/>
          </a:xfrm>
          <a:prstGeom prst="rect">
            <a:avLst/>
          </a:prstGeom>
          <a:noFill/>
        </p:spPr>
        <p:txBody>
          <a:bodyPr wrap="none" lIns="36576" tIns="18288" rIns="36576" bIns="18288">
            <a:spAutoFit/>
          </a:bodyPr>
          <a:lstStyle/>
          <a:p>
            <a:pPr algn="ctr"/>
            <a:r>
              <a:rPr sz="900" b="1">
                <a:solidFill>
                  <a:srgbClr val="FFFFFF"/>
                </a:solidFill>
                <a:latin typeface="Aptos"/>
              </a:rPr>
              <a:t>4</a:t>
            </a:r>
          </a:p>
        </p:txBody>
      </p:sp>
      <p:sp>
        <p:nvSpPr>
          <p:cNvPr id="29" name="TextBox 28"/>
          <p:cNvSpPr txBox="1"/>
          <p:nvPr/>
        </p:nvSpPr>
        <p:spPr>
          <a:xfrm>
            <a:off x="6218847" y="2679192"/>
            <a:ext cx="1351460" cy="198516"/>
          </a:xfrm>
          <a:prstGeom prst="rect">
            <a:avLst/>
          </a:prstGeom>
          <a:noFill/>
        </p:spPr>
        <p:txBody>
          <a:bodyPr wrap="none" lIns="36576" tIns="18288" rIns="36576" bIns="18288">
            <a:spAutoFit/>
          </a:bodyPr>
          <a:lstStyle/>
          <a:p>
            <a:pPr algn="ctr"/>
            <a:r>
              <a:rPr sz="1050" b="1">
                <a:solidFill>
                  <a:srgbClr val="FB4D0A"/>
                </a:solidFill>
                <a:latin typeface="Aptos"/>
              </a:rPr>
              <a:t>Test possible causes</a:t>
            </a:r>
          </a:p>
        </p:txBody>
      </p:sp>
      <p:sp>
        <p:nvSpPr>
          <p:cNvPr id="30" name="TextBox 29"/>
          <p:cNvSpPr txBox="1"/>
          <p:nvPr/>
        </p:nvSpPr>
        <p:spPr>
          <a:xfrm>
            <a:off x="6281926" y="2962656"/>
            <a:ext cx="1243585" cy="844847"/>
          </a:xfrm>
          <a:prstGeom prst="rect">
            <a:avLst/>
          </a:prstGeom>
          <a:noFill/>
        </p:spPr>
        <p:txBody>
          <a:bodyPr wrap="square" lIns="36576" tIns="18288" rIns="36576" bIns="18288">
            <a:spAutoFit/>
          </a:bodyPr>
          <a:lstStyle/>
          <a:p>
            <a:pPr algn="ctr"/>
            <a:r>
              <a:rPr sz="1050">
                <a:solidFill>
                  <a:srgbClr val="3B4652"/>
                </a:solidFill>
                <a:latin typeface="Aptos"/>
              </a:rPr>
              <a:t>Analyst forms hypotheses and tests them across multiple datasets and views.</a:t>
            </a:r>
          </a:p>
        </p:txBody>
      </p:sp>
      <p:sp>
        <p:nvSpPr>
          <p:cNvPr id="32" name="Rounded Rectangle 31"/>
          <p:cNvSpPr/>
          <p:nvPr/>
        </p:nvSpPr>
        <p:spPr>
          <a:xfrm>
            <a:off x="8037576" y="2011680"/>
            <a:ext cx="1645920" cy="1828800"/>
          </a:xfrm>
          <a:prstGeom prst="roundRect">
            <a:avLst/>
          </a:prstGeom>
          <a:solidFill>
            <a:srgbClr val="FFFFFF"/>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3" name="Oval 32"/>
          <p:cNvSpPr/>
          <p:nvPr/>
        </p:nvSpPr>
        <p:spPr>
          <a:xfrm>
            <a:off x="8567928" y="2167128"/>
            <a:ext cx="384048" cy="384048"/>
          </a:xfrm>
          <a:prstGeom prst="ellipse">
            <a:avLst/>
          </a:prstGeom>
          <a:solidFill>
            <a:srgbClr val="00263E"/>
          </a:solidFill>
          <a:ln>
            <a:solidFill>
              <a:srgbClr val="002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4" name="TextBox 33"/>
          <p:cNvSpPr txBox="1"/>
          <p:nvPr/>
        </p:nvSpPr>
        <p:spPr>
          <a:xfrm>
            <a:off x="8692562" y="2276856"/>
            <a:ext cx="134780" cy="175433"/>
          </a:xfrm>
          <a:prstGeom prst="rect">
            <a:avLst/>
          </a:prstGeom>
          <a:noFill/>
        </p:spPr>
        <p:txBody>
          <a:bodyPr wrap="none" lIns="36576" tIns="18288" rIns="36576" bIns="18288">
            <a:spAutoFit/>
          </a:bodyPr>
          <a:lstStyle/>
          <a:p>
            <a:pPr algn="ctr"/>
            <a:r>
              <a:rPr sz="900" b="1">
                <a:solidFill>
                  <a:srgbClr val="FFFFFF"/>
                </a:solidFill>
                <a:latin typeface="Aptos"/>
              </a:rPr>
              <a:t>5</a:t>
            </a:r>
          </a:p>
        </p:txBody>
      </p:sp>
      <p:sp>
        <p:nvSpPr>
          <p:cNvPr id="35" name="TextBox 34"/>
          <p:cNvSpPr txBox="1"/>
          <p:nvPr/>
        </p:nvSpPr>
        <p:spPr>
          <a:xfrm>
            <a:off x="8219529" y="2679192"/>
            <a:ext cx="1117422" cy="198516"/>
          </a:xfrm>
          <a:prstGeom prst="rect">
            <a:avLst/>
          </a:prstGeom>
          <a:noFill/>
        </p:spPr>
        <p:txBody>
          <a:bodyPr wrap="none" lIns="36576" tIns="18288" rIns="36576" bIns="18288">
            <a:spAutoFit/>
          </a:bodyPr>
          <a:lstStyle/>
          <a:p>
            <a:pPr algn="ctr"/>
            <a:r>
              <a:rPr sz="1050" b="1">
                <a:solidFill>
                  <a:srgbClr val="FB4D0A"/>
                </a:solidFill>
                <a:latin typeface="Aptos"/>
              </a:rPr>
              <a:t>Create RCA story</a:t>
            </a:r>
          </a:p>
        </p:txBody>
      </p:sp>
      <p:sp>
        <p:nvSpPr>
          <p:cNvPr id="36" name="TextBox 35"/>
          <p:cNvSpPr txBox="1"/>
          <p:nvPr/>
        </p:nvSpPr>
        <p:spPr>
          <a:xfrm>
            <a:off x="8165592" y="2962656"/>
            <a:ext cx="1225296" cy="844847"/>
          </a:xfrm>
          <a:prstGeom prst="rect">
            <a:avLst/>
          </a:prstGeom>
          <a:noFill/>
        </p:spPr>
        <p:txBody>
          <a:bodyPr wrap="square" lIns="36576" tIns="18288" rIns="36576" bIns="18288">
            <a:spAutoFit/>
          </a:bodyPr>
          <a:lstStyle/>
          <a:p>
            <a:pPr algn="ctr"/>
            <a:r>
              <a:rPr sz="1050">
                <a:solidFill>
                  <a:srgbClr val="3B4652"/>
                </a:solidFill>
                <a:latin typeface="Aptos"/>
              </a:rPr>
              <a:t>Findings are manually turned into an RCA story, evidence and actions.</a:t>
            </a:r>
          </a:p>
        </p:txBody>
      </p:sp>
      <p:sp>
        <p:nvSpPr>
          <p:cNvPr id="38" name="Rounded Rectangle 37"/>
          <p:cNvSpPr/>
          <p:nvPr/>
        </p:nvSpPr>
        <p:spPr>
          <a:xfrm>
            <a:off x="9921240" y="2011680"/>
            <a:ext cx="1645920" cy="1828800"/>
          </a:xfrm>
          <a:prstGeom prst="roundRect">
            <a:avLst/>
          </a:prstGeom>
          <a:solidFill>
            <a:srgbClr val="F4F7FA"/>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9" name="Oval 38"/>
          <p:cNvSpPr/>
          <p:nvPr/>
        </p:nvSpPr>
        <p:spPr>
          <a:xfrm>
            <a:off x="10451592" y="2167128"/>
            <a:ext cx="384048" cy="384048"/>
          </a:xfrm>
          <a:prstGeom prst="ellipse">
            <a:avLst/>
          </a:prstGeom>
          <a:solidFill>
            <a:srgbClr val="00263E"/>
          </a:solidFill>
          <a:ln>
            <a:solidFill>
              <a:srgbClr val="002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0" name="TextBox 39"/>
          <p:cNvSpPr txBox="1"/>
          <p:nvPr/>
        </p:nvSpPr>
        <p:spPr>
          <a:xfrm>
            <a:off x="10576226" y="2276856"/>
            <a:ext cx="134780" cy="175433"/>
          </a:xfrm>
          <a:prstGeom prst="rect">
            <a:avLst/>
          </a:prstGeom>
          <a:noFill/>
        </p:spPr>
        <p:txBody>
          <a:bodyPr wrap="none" lIns="36576" tIns="18288" rIns="36576" bIns="18288">
            <a:spAutoFit/>
          </a:bodyPr>
          <a:lstStyle/>
          <a:p>
            <a:pPr algn="ctr"/>
            <a:r>
              <a:rPr sz="900" b="1">
                <a:solidFill>
                  <a:srgbClr val="FFFFFF"/>
                </a:solidFill>
                <a:latin typeface="Aptos"/>
              </a:rPr>
              <a:t>6</a:t>
            </a:r>
          </a:p>
        </p:txBody>
      </p:sp>
      <p:sp>
        <p:nvSpPr>
          <p:cNvPr id="41" name="TextBox 40"/>
          <p:cNvSpPr txBox="1"/>
          <p:nvPr/>
        </p:nvSpPr>
        <p:spPr>
          <a:xfrm>
            <a:off x="10128842" y="2679192"/>
            <a:ext cx="1066126" cy="198516"/>
          </a:xfrm>
          <a:prstGeom prst="rect">
            <a:avLst/>
          </a:prstGeom>
          <a:noFill/>
        </p:spPr>
        <p:txBody>
          <a:bodyPr wrap="none" lIns="36576" tIns="18288" rIns="36576" bIns="18288">
            <a:spAutoFit/>
          </a:bodyPr>
          <a:lstStyle/>
          <a:p>
            <a:pPr algn="ctr"/>
            <a:r>
              <a:rPr sz="1050" b="1">
                <a:solidFill>
                  <a:srgbClr val="FB4D0A"/>
                </a:solidFill>
                <a:latin typeface="Aptos"/>
              </a:rPr>
              <a:t>Business review</a:t>
            </a:r>
          </a:p>
        </p:txBody>
      </p:sp>
      <p:sp>
        <p:nvSpPr>
          <p:cNvPr id="42" name="TextBox 41"/>
          <p:cNvSpPr txBox="1"/>
          <p:nvPr/>
        </p:nvSpPr>
        <p:spPr>
          <a:xfrm>
            <a:off x="10049256" y="2962656"/>
            <a:ext cx="1261872" cy="683264"/>
          </a:xfrm>
          <a:prstGeom prst="rect">
            <a:avLst/>
          </a:prstGeom>
          <a:noFill/>
        </p:spPr>
        <p:txBody>
          <a:bodyPr wrap="square" lIns="36576" tIns="18288" rIns="36576" bIns="18288">
            <a:spAutoFit/>
          </a:bodyPr>
          <a:lstStyle/>
          <a:p>
            <a:pPr algn="ctr"/>
            <a:r>
              <a:rPr sz="1050">
                <a:solidFill>
                  <a:srgbClr val="3B4652"/>
                </a:solidFill>
                <a:latin typeface="Aptos"/>
              </a:rPr>
              <a:t>Business reviews the findings before actions are agreed and prioritized.</a:t>
            </a:r>
          </a:p>
        </p:txBody>
      </p:sp>
      <p:sp>
        <p:nvSpPr>
          <p:cNvPr id="43" name="Rounded Rectangle 42"/>
          <p:cNvSpPr/>
          <p:nvPr/>
        </p:nvSpPr>
        <p:spPr>
          <a:xfrm>
            <a:off x="411480" y="3931920"/>
            <a:ext cx="5349240" cy="1600200"/>
          </a:xfrm>
          <a:prstGeom prst="roundRect">
            <a:avLst/>
          </a:prstGeom>
          <a:solidFill>
            <a:srgbClr val="F4F7FA"/>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4" name="TextBox 43"/>
          <p:cNvSpPr txBox="1"/>
          <p:nvPr/>
        </p:nvSpPr>
        <p:spPr>
          <a:xfrm>
            <a:off x="658368" y="4133087"/>
            <a:ext cx="2120902" cy="206210"/>
          </a:xfrm>
          <a:prstGeom prst="rect">
            <a:avLst/>
          </a:prstGeom>
          <a:noFill/>
        </p:spPr>
        <p:txBody>
          <a:bodyPr wrap="none" lIns="36576" tIns="18288" rIns="36576" bIns="18288">
            <a:spAutoFit/>
          </a:bodyPr>
          <a:lstStyle/>
          <a:p>
            <a:r>
              <a:rPr sz="1100" b="1">
                <a:solidFill>
                  <a:srgbClr val="FB4D0A"/>
                </a:solidFill>
                <a:latin typeface="Aptos"/>
              </a:rPr>
              <a:t>Why the old way creates friction</a:t>
            </a:r>
          </a:p>
        </p:txBody>
      </p:sp>
      <p:sp>
        <p:nvSpPr>
          <p:cNvPr id="45" name="TextBox 44"/>
          <p:cNvSpPr txBox="1"/>
          <p:nvPr/>
        </p:nvSpPr>
        <p:spPr>
          <a:xfrm>
            <a:off x="658368" y="4425696"/>
            <a:ext cx="4684103" cy="947439"/>
          </a:xfrm>
          <a:prstGeom prst="rect">
            <a:avLst/>
          </a:prstGeom>
          <a:noFill/>
        </p:spPr>
        <p:txBody>
          <a:bodyPr wrap="none" lIns="36576" tIns="18288" rIns="36576" bIns="18288" anchor="t">
            <a:spAutoFit/>
          </a:bodyPr>
          <a:lstStyle/>
          <a:p>
            <a:pPr>
              <a:spcAft>
                <a:spcPts val="200"/>
              </a:spcAft>
              <a:defRPr sz="670">
                <a:solidFill>
                  <a:srgbClr val="3B4652"/>
                </a:solidFill>
                <a:latin typeface="Aptos"/>
              </a:defRPr>
            </a:pPr>
            <a:r>
              <a:rPr lang="en-US" sz="1050">
                <a:ea typeface="+mn-lt"/>
                <a:cs typeface="+mn-lt"/>
              </a:rPr>
              <a:t>• KPI deviations may not be detected early enough to enable timely investigation</a:t>
            </a:r>
            <a:r>
              <a:rPr lang="en-US" sz="1050"/>
              <a:t> </a:t>
            </a:r>
            <a:endParaRPr lang="en-US" sz="650"/>
          </a:p>
          <a:p>
            <a:pPr>
              <a:spcAft>
                <a:spcPts val="200"/>
              </a:spcAft>
              <a:defRPr sz="670">
                <a:solidFill>
                  <a:srgbClr val="3B4652"/>
                </a:solidFill>
                <a:latin typeface="Aptos"/>
              </a:defRPr>
            </a:pPr>
            <a:r>
              <a:rPr lang="en-US" sz="1100"/>
              <a:t>•</a:t>
            </a:r>
            <a:r>
              <a:rPr lang="en-US" sz="1050"/>
              <a:t> </a:t>
            </a:r>
            <a:r>
              <a:rPr sz="1050"/>
              <a:t>Root-cause evidence is spread across different operational datasets.</a:t>
            </a:r>
            <a:endParaRPr sz="650"/>
          </a:p>
          <a:p>
            <a:pPr>
              <a:spcAft>
                <a:spcPts val="200"/>
              </a:spcAft>
              <a:defRPr sz="670">
                <a:solidFill>
                  <a:srgbClr val="3B4652"/>
                </a:solidFill>
                <a:latin typeface="Aptos"/>
              </a:defRPr>
            </a:pPr>
            <a:r>
              <a:rPr sz="1050"/>
              <a:t>• Analysis depends heavily on analyst experience and local knowledge.</a:t>
            </a:r>
          </a:p>
          <a:p>
            <a:pPr>
              <a:spcAft>
                <a:spcPts val="200"/>
              </a:spcAft>
              <a:defRPr sz="670">
                <a:solidFill>
                  <a:srgbClr val="3B4652"/>
                </a:solidFill>
                <a:latin typeface="Aptos"/>
              </a:defRPr>
            </a:pPr>
            <a:r>
              <a:rPr sz="1050"/>
              <a:t>• The same KPI movement can lead to different explanations across teams.</a:t>
            </a:r>
          </a:p>
          <a:p>
            <a:pPr>
              <a:spcAft>
                <a:spcPts val="200"/>
              </a:spcAft>
              <a:defRPr sz="670">
                <a:solidFill>
                  <a:srgbClr val="3B4652"/>
                </a:solidFill>
                <a:latin typeface="Aptos"/>
              </a:defRPr>
            </a:pPr>
            <a:r>
              <a:rPr sz="1050"/>
              <a:t>• Business action starts after manual data stitching and review.</a:t>
            </a:r>
          </a:p>
        </p:txBody>
      </p:sp>
      <p:sp>
        <p:nvSpPr>
          <p:cNvPr id="46" name="Rounded Rectangle 45"/>
          <p:cNvSpPr/>
          <p:nvPr/>
        </p:nvSpPr>
        <p:spPr>
          <a:xfrm>
            <a:off x="6126480" y="3931920"/>
            <a:ext cx="5650992" cy="1600200"/>
          </a:xfrm>
          <a:prstGeom prst="roundRect">
            <a:avLst/>
          </a:prstGeom>
          <a:solidFill>
            <a:srgbClr val="FFFFFF"/>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7" name="TextBox 46"/>
          <p:cNvSpPr txBox="1"/>
          <p:nvPr/>
        </p:nvSpPr>
        <p:spPr>
          <a:xfrm>
            <a:off x="6373368" y="4133087"/>
            <a:ext cx="2353337" cy="206210"/>
          </a:xfrm>
          <a:prstGeom prst="rect">
            <a:avLst/>
          </a:prstGeom>
          <a:noFill/>
        </p:spPr>
        <p:txBody>
          <a:bodyPr wrap="none" lIns="36576" tIns="18288" rIns="36576" bIns="18288">
            <a:spAutoFit/>
          </a:bodyPr>
          <a:lstStyle/>
          <a:p>
            <a:r>
              <a:rPr sz="1100" b="1">
                <a:solidFill>
                  <a:srgbClr val="FB4D0A"/>
                </a:solidFill>
                <a:latin typeface="Aptos"/>
              </a:rPr>
              <a:t>What this means for business users</a:t>
            </a:r>
          </a:p>
        </p:txBody>
      </p:sp>
      <p:sp>
        <p:nvSpPr>
          <p:cNvPr id="48" name="TextBox 47"/>
          <p:cNvSpPr txBox="1"/>
          <p:nvPr/>
        </p:nvSpPr>
        <p:spPr>
          <a:xfrm>
            <a:off x="6373368" y="4425696"/>
            <a:ext cx="4483728" cy="760208"/>
          </a:xfrm>
          <a:prstGeom prst="rect">
            <a:avLst/>
          </a:prstGeom>
          <a:noFill/>
        </p:spPr>
        <p:txBody>
          <a:bodyPr wrap="none" lIns="36576" tIns="18288" rIns="36576" bIns="18288">
            <a:spAutoFit/>
          </a:bodyPr>
          <a:lstStyle/>
          <a:p>
            <a:pPr>
              <a:spcAft>
                <a:spcPts val="200"/>
              </a:spcAft>
              <a:defRPr sz="670">
                <a:solidFill>
                  <a:srgbClr val="3B4652"/>
                </a:solidFill>
                <a:latin typeface="Aptos"/>
              </a:defRPr>
            </a:pPr>
            <a:r>
              <a:rPr sz="1050"/>
              <a:t>• Stakeholders see the issue before they understand the business reason.</a:t>
            </a:r>
          </a:p>
          <a:p>
            <a:pPr>
              <a:spcAft>
                <a:spcPts val="200"/>
              </a:spcAft>
              <a:defRPr sz="670">
                <a:solidFill>
                  <a:srgbClr val="3B4652"/>
                </a:solidFill>
                <a:latin typeface="Aptos"/>
              </a:defRPr>
            </a:pPr>
            <a:r>
              <a:rPr sz="1050"/>
              <a:t>• Customer-impacting trends may worsen while teams investigate.</a:t>
            </a:r>
          </a:p>
          <a:p>
            <a:pPr>
              <a:spcAft>
                <a:spcPts val="200"/>
              </a:spcAft>
              <a:defRPr sz="670">
                <a:solidFill>
                  <a:srgbClr val="3B4652"/>
                </a:solidFill>
                <a:latin typeface="Aptos"/>
              </a:defRPr>
            </a:pPr>
            <a:r>
              <a:rPr sz="1050"/>
              <a:t>• Operational resources may not be focused on the highest-impact problem.</a:t>
            </a:r>
          </a:p>
          <a:p>
            <a:pPr>
              <a:spcAft>
                <a:spcPts val="200"/>
              </a:spcAft>
              <a:defRPr sz="670">
                <a:solidFill>
                  <a:srgbClr val="3B4652"/>
                </a:solidFill>
                <a:latin typeface="Aptos"/>
              </a:defRPr>
            </a:pPr>
            <a:r>
              <a:rPr sz="1050"/>
              <a:t>• Leadership receives delayed insight without a consistent evidence trail.</a:t>
            </a:r>
          </a:p>
        </p:txBody>
      </p:sp>
      <p:sp>
        <p:nvSpPr>
          <p:cNvPr id="49" name="Rounded Rectangle 48"/>
          <p:cNvSpPr/>
          <p:nvPr/>
        </p:nvSpPr>
        <p:spPr>
          <a:xfrm>
            <a:off x="411480" y="5779008"/>
            <a:ext cx="11356848" cy="502920"/>
          </a:xfrm>
          <a:prstGeom prst="roundRect">
            <a:avLst/>
          </a:prstGeom>
          <a:solidFill>
            <a:srgbClr val="00263E"/>
          </a:solidFill>
          <a:ln w="10160">
            <a:solidFill>
              <a:srgbClr val="002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76249" y="5931650"/>
            <a:ext cx="1728216" cy="206210"/>
          </a:xfrm>
          <a:prstGeom prst="rect">
            <a:avLst/>
          </a:prstGeom>
          <a:noFill/>
        </p:spPr>
        <p:txBody>
          <a:bodyPr wrap="square" lIns="36576" tIns="18288" rIns="36576" bIns="18288">
            <a:spAutoFit/>
          </a:bodyPr>
          <a:lstStyle/>
          <a:p>
            <a:r>
              <a:rPr sz="1100" b="1">
                <a:solidFill>
                  <a:srgbClr val="FB4D0A"/>
                </a:solidFill>
                <a:latin typeface="Aptos"/>
              </a:rPr>
              <a:t>Transition to the new way:</a:t>
            </a:r>
          </a:p>
        </p:txBody>
      </p:sp>
      <p:sp>
        <p:nvSpPr>
          <p:cNvPr id="51" name="TextBox 50"/>
          <p:cNvSpPr txBox="1"/>
          <p:nvPr/>
        </p:nvSpPr>
        <p:spPr>
          <a:xfrm>
            <a:off x="2157985" y="5831622"/>
            <a:ext cx="9557766" cy="406265"/>
          </a:xfrm>
          <a:prstGeom prst="rect">
            <a:avLst/>
          </a:prstGeom>
          <a:noFill/>
        </p:spPr>
        <p:txBody>
          <a:bodyPr wrap="square" lIns="36576" tIns="18288" rIns="36576" bIns="18288">
            <a:spAutoFit/>
          </a:bodyPr>
          <a:lstStyle/>
          <a:p>
            <a:r>
              <a:rPr sz="1200" b="1" err="1">
                <a:solidFill>
                  <a:srgbClr val="FFFFFF"/>
                </a:solidFill>
                <a:latin typeface="Aptos"/>
              </a:rPr>
              <a:t>InsightForge replaces manual data stitching with an AI-guided investigation that tests hypotheses, gathers evidence, identifies the most likely root cause, and recommends the next actions.</a:t>
            </a:r>
            <a:r>
              <a:rPr sz="1200" b="1">
                <a:solidFill>
                  <a:srgbClr val="FFFFFF"/>
                </a:solidFill>
                <a:latin typeface="Aptos"/>
              </a:rPr>
              <a:t/>
            </a:r>
          </a:p>
        </p:txBody>
      </p:sp>
      <p:sp>
        <p:nvSpPr>
          <p:cNvPr id="53" name="Shape 12">
            <a:extLst>
              <a:ext uri="{FF2B5EF4-FFF2-40B4-BE49-F238E27FC236}">
                <a16:creationId xmlns:a16="http://schemas.microsoft.com/office/drawing/2014/main" id="{EFCD4EB5-4ADB-EA51-4057-B7E4E96DFAF7}"/>
              </a:ext>
            </a:extLst>
          </p:cNvPr>
          <p:cNvSpPr/>
          <p:nvPr/>
        </p:nvSpPr>
        <p:spPr>
          <a:xfrm>
            <a:off x="2167128" y="2741166"/>
            <a:ext cx="182880" cy="0"/>
          </a:xfrm>
          <a:prstGeom prst="line">
            <a:avLst/>
          </a:prstGeom>
          <a:noFill/>
          <a:ln w="13970">
            <a:solidFill>
              <a:srgbClr val="FB4D0A"/>
            </a:solidFill>
            <a:prstDash val="solid"/>
            <a:tailEnd type="triangle"/>
          </a:ln>
        </p:spPr>
        <p:txBody>
          <a:bodyPr/>
          <a:lstStyle/>
          <a:p>
            <a:endParaRPr lang="en-IN" sz="3600"/>
          </a:p>
        </p:txBody>
      </p:sp>
      <p:sp>
        <p:nvSpPr>
          <p:cNvPr id="55" name="Shape 12">
            <a:extLst>
              <a:ext uri="{FF2B5EF4-FFF2-40B4-BE49-F238E27FC236}">
                <a16:creationId xmlns:a16="http://schemas.microsoft.com/office/drawing/2014/main" id="{F76BF71E-563E-0623-8135-6CD92E76C6D7}"/>
              </a:ext>
            </a:extLst>
          </p:cNvPr>
          <p:cNvSpPr/>
          <p:nvPr/>
        </p:nvSpPr>
        <p:spPr>
          <a:xfrm>
            <a:off x="4059936" y="2757933"/>
            <a:ext cx="182880" cy="0"/>
          </a:xfrm>
          <a:prstGeom prst="line">
            <a:avLst/>
          </a:prstGeom>
          <a:noFill/>
          <a:ln w="13970">
            <a:solidFill>
              <a:srgbClr val="FB4D0A"/>
            </a:solidFill>
            <a:prstDash val="solid"/>
            <a:tailEnd type="triangle"/>
          </a:ln>
        </p:spPr>
        <p:txBody>
          <a:bodyPr/>
          <a:lstStyle/>
          <a:p>
            <a:endParaRPr lang="en-IN" sz="3600"/>
          </a:p>
        </p:txBody>
      </p:sp>
      <p:sp>
        <p:nvSpPr>
          <p:cNvPr id="57" name="Shape 12">
            <a:extLst>
              <a:ext uri="{FF2B5EF4-FFF2-40B4-BE49-F238E27FC236}">
                <a16:creationId xmlns:a16="http://schemas.microsoft.com/office/drawing/2014/main" id="{EB295D3B-E5F1-0911-1E05-148390CB84AE}"/>
              </a:ext>
            </a:extLst>
          </p:cNvPr>
          <p:cNvSpPr/>
          <p:nvPr/>
        </p:nvSpPr>
        <p:spPr>
          <a:xfrm>
            <a:off x="5952744" y="2762760"/>
            <a:ext cx="182880" cy="0"/>
          </a:xfrm>
          <a:prstGeom prst="line">
            <a:avLst/>
          </a:prstGeom>
          <a:noFill/>
          <a:ln w="13970">
            <a:solidFill>
              <a:srgbClr val="FB4D0A"/>
            </a:solidFill>
            <a:prstDash val="solid"/>
            <a:tailEnd type="triangle"/>
          </a:ln>
        </p:spPr>
        <p:txBody>
          <a:bodyPr/>
          <a:lstStyle/>
          <a:p>
            <a:endParaRPr lang="en-IN" sz="3600"/>
          </a:p>
        </p:txBody>
      </p:sp>
      <p:sp>
        <p:nvSpPr>
          <p:cNvPr id="59" name="Shape 12">
            <a:extLst>
              <a:ext uri="{FF2B5EF4-FFF2-40B4-BE49-F238E27FC236}">
                <a16:creationId xmlns:a16="http://schemas.microsoft.com/office/drawing/2014/main" id="{3150EACE-06A0-589B-F3A9-85D421C708E3}"/>
              </a:ext>
            </a:extLst>
          </p:cNvPr>
          <p:cNvSpPr/>
          <p:nvPr/>
        </p:nvSpPr>
        <p:spPr>
          <a:xfrm>
            <a:off x="7827264" y="2757932"/>
            <a:ext cx="182880" cy="0"/>
          </a:xfrm>
          <a:prstGeom prst="line">
            <a:avLst/>
          </a:prstGeom>
          <a:noFill/>
          <a:ln w="13970">
            <a:solidFill>
              <a:srgbClr val="FB4D0A"/>
            </a:solidFill>
            <a:prstDash val="solid"/>
            <a:tailEnd type="triangle"/>
          </a:ln>
        </p:spPr>
        <p:txBody>
          <a:bodyPr/>
          <a:lstStyle/>
          <a:p>
            <a:endParaRPr lang="en-IN" sz="3600"/>
          </a:p>
        </p:txBody>
      </p:sp>
      <p:sp>
        <p:nvSpPr>
          <p:cNvPr id="61" name="Shape 12">
            <a:extLst>
              <a:ext uri="{FF2B5EF4-FFF2-40B4-BE49-F238E27FC236}">
                <a16:creationId xmlns:a16="http://schemas.microsoft.com/office/drawing/2014/main" id="{A423D281-A3DE-00BC-185C-A83DCDDBB0BA}"/>
              </a:ext>
            </a:extLst>
          </p:cNvPr>
          <p:cNvSpPr/>
          <p:nvPr/>
        </p:nvSpPr>
        <p:spPr>
          <a:xfrm>
            <a:off x="9710928" y="2766059"/>
            <a:ext cx="182880" cy="0"/>
          </a:xfrm>
          <a:prstGeom prst="line">
            <a:avLst/>
          </a:prstGeom>
          <a:noFill/>
          <a:ln w="13970">
            <a:solidFill>
              <a:srgbClr val="FB4D0A"/>
            </a:solidFill>
            <a:prstDash val="solid"/>
            <a:tailEnd type="triangle"/>
          </a:ln>
        </p:spPr>
        <p:txBody>
          <a:bodyPr/>
          <a:lstStyle/>
          <a:p>
            <a:endParaRPr lang="en-IN" sz="3600"/>
          </a:p>
        </p:txBody>
      </p:sp>
      <p:sp>
        <p:nvSpPr>
          <p:cNvPr id="63" name="Text 1">
            <a:extLst>
              <a:ext uri="{FF2B5EF4-FFF2-40B4-BE49-F238E27FC236}">
                <a16:creationId xmlns:a16="http://schemas.microsoft.com/office/drawing/2014/main" id="{664EE321-DE2F-53FA-9C5F-6436B4F15B2A}"/>
              </a:ext>
            </a:extLst>
          </p:cNvPr>
          <p:cNvSpPr/>
          <p:nvPr/>
        </p:nvSpPr>
        <p:spPr>
          <a:xfrm>
            <a:off x="749808" y="118872"/>
            <a:ext cx="6035040" cy="274320"/>
          </a:xfrm>
          <a:prstGeom prst="rect">
            <a:avLst/>
          </a:prstGeom>
          <a:noFill/>
          <a:ln/>
        </p:spPr>
        <p:txBody>
          <a:bodyPr wrap="square" lIns="254" tIns="254" rIns="254" bIns="254" rtlCol="0" anchor="ctr">
            <a:noAutofit/>
          </a:bodyPr>
          <a:lstStyle/>
          <a:p>
            <a:r>
              <a:rPr lang="en-IN" sz="2400" b="1">
                <a:solidFill>
                  <a:srgbClr val="005071"/>
                </a:solidFill>
                <a:latin typeface="Aptos Display"/>
              </a:rPr>
              <a:t>Old Way of Analysis</a:t>
            </a:r>
          </a:p>
        </p:txBody>
      </p:sp>
      <p:sp>
        <p:nvSpPr>
          <p:cNvPr id="67" name="Shape 3">
            <a:extLst>
              <a:ext uri="{FF2B5EF4-FFF2-40B4-BE49-F238E27FC236}">
                <a16:creationId xmlns:a16="http://schemas.microsoft.com/office/drawing/2014/main" id="{EBD6A793-FF6F-A22B-7C2E-A48116C794E0}"/>
              </a:ext>
            </a:extLst>
          </p:cNvPr>
          <p:cNvSpPr/>
          <p:nvPr/>
        </p:nvSpPr>
        <p:spPr>
          <a:xfrm>
            <a:off x="219456" y="731520"/>
            <a:ext cx="11777472" cy="1"/>
          </a:xfrm>
          <a:prstGeom prst="line">
            <a:avLst/>
          </a:prstGeom>
          <a:noFill/>
          <a:ln w="10160">
            <a:solidFill>
              <a:srgbClr val="D8E1EA"/>
            </a:solidFill>
            <a:prstDash val="solid"/>
          </a:ln>
        </p:spPr>
        <p:txBody>
          <a:bodyPr/>
          <a:lstStyle/>
          <a:p>
            <a:endParaRPr lang="en-IN" sz="2800"/>
          </a:p>
        </p:txBody>
      </p:sp>
      <p:sp>
        <p:nvSpPr>
          <p:cNvPr id="69" name="TextBox 68">
            <a:extLst>
              <a:ext uri="{FF2B5EF4-FFF2-40B4-BE49-F238E27FC236}">
                <a16:creationId xmlns:a16="http://schemas.microsoft.com/office/drawing/2014/main" id="{D81E7329-23F2-B7E8-33A9-C546D058A7DB}"/>
              </a:ext>
            </a:extLst>
          </p:cNvPr>
          <p:cNvSpPr txBox="1"/>
          <p:nvPr/>
        </p:nvSpPr>
        <p:spPr>
          <a:xfrm>
            <a:off x="762334" y="429586"/>
            <a:ext cx="8595360" cy="182880"/>
          </a:xfrm>
          <a:prstGeom prst="rect">
            <a:avLst/>
          </a:prstGeom>
          <a:noFill/>
        </p:spPr>
        <p:txBody>
          <a:bodyPr wrap="none" lIns="36576" tIns="18288" rIns="36576" bIns="18288">
            <a:spAutoFit/>
          </a:bodyPr>
          <a:lstStyle/>
          <a:p>
            <a:r>
              <a:rPr sz="1000" b="0">
                <a:solidFill>
                  <a:srgbClr val="3B4652"/>
                </a:solidFill>
                <a:latin typeface="Aptos"/>
              </a:rPr>
              <a:t>How KPI movement is investigated today</a:t>
            </a:r>
          </a:p>
        </p:txBody>
      </p:sp>
      <p:sp>
        <p:nvSpPr>
          <p:cNvPr id="4" name="Text 35">
            <a:extLst>
              <a:ext uri="{FF2B5EF4-FFF2-40B4-BE49-F238E27FC236}">
                <a16:creationId xmlns:a16="http://schemas.microsoft.com/office/drawing/2014/main" id="{6404912C-27AE-65D2-2748-5A533A7FF241}"/>
              </a:ext>
            </a:extLst>
          </p:cNvPr>
          <p:cNvSpPr/>
          <p:nvPr/>
        </p:nvSpPr>
        <p:spPr>
          <a:xfrm>
            <a:off x="292608" y="6473952"/>
            <a:ext cx="3246120" cy="137160"/>
          </a:xfrm>
          <a:prstGeom prst="rect">
            <a:avLst/>
          </a:prstGeom>
          <a:noFill/>
          <a:ln/>
        </p:spPr>
        <p:txBody>
          <a:bodyPr wrap="square" lIns="508" tIns="508" rIns="508" bIns="508" rtlCol="0" anchor="ctr">
            <a:normAutofit/>
          </a:bodyPr>
          <a:lstStyle/>
          <a:p>
            <a:pPr marL="0" indent="0" algn="l">
              <a:buNone/>
            </a:pPr>
            <a:r>
              <a:rPr lang="en-US" sz="700">
                <a:solidFill>
                  <a:srgbClr val="6A7785"/>
                </a:solidFill>
                <a:latin typeface="Aptos" pitchFamily="34" charset="0"/>
                <a:ea typeface="Aptos" pitchFamily="34" charset="-122"/>
                <a:cs typeface="Aptos" pitchFamily="34" charset="-120"/>
              </a:rPr>
              <a:t>InsightForge-AI | AI Operations Intelligence Agent</a:t>
            </a:r>
            <a:endParaRPr lang="en-US" sz="700"/>
          </a:p>
        </p:txBody>
      </p:sp>
      <p:sp>
        <p:nvSpPr>
          <p:cNvPr id="19" name="Text 36">
            <a:extLst>
              <a:ext uri="{FF2B5EF4-FFF2-40B4-BE49-F238E27FC236}">
                <a16:creationId xmlns:a16="http://schemas.microsoft.com/office/drawing/2014/main" id="{B7E39324-F502-97DA-9977-D96326B13EE5}"/>
              </a:ext>
            </a:extLst>
          </p:cNvPr>
          <p:cNvSpPr/>
          <p:nvPr/>
        </p:nvSpPr>
        <p:spPr>
          <a:xfrm>
            <a:off x="11411712" y="6473952"/>
            <a:ext cx="411480" cy="137160"/>
          </a:xfrm>
          <a:prstGeom prst="rect">
            <a:avLst/>
          </a:prstGeom>
          <a:noFill/>
          <a:ln/>
        </p:spPr>
        <p:txBody>
          <a:bodyPr wrap="square" lIns="508" tIns="508" rIns="508" bIns="508" rtlCol="0" anchor="ctr">
            <a:normAutofit/>
          </a:bodyPr>
          <a:lstStyle/>
          <a:p>
            <a:pPr marL="0" indent="0" algn="l">
              <a:buNone/>
            </a:pPr>
            <a:r>
              <a:rPr lang="en-US" sz="700" b="1">
                <a:solidFill>
                  <a:srgbClr val="FB4D0A"/>
                </a:solidFill>
                <a:latin typeface="Aptos" pitchFamily="34" charset="0"/>
                <a:ea typeface="Aptos" pitchFamily="34" charset="-122"/>
                <a:cs typeface="Aptos" pitchFamily="34" charset="-120"/>
              </a:rPr>
              <a:t>EXL</a:t>
            </a:r>
            <a:endParaRPr lang="en-US" sz="7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0"/>
          <p:cNvSpPr/>
          <p:nvPr/>
        </p:nvSpPr>
        <p:spPr>
          <a:xfrm>
            <a:off x="182880" y="128016"/>
            <a:ext cx="502920" cy="256032"/>
          </a:xfrm>
          <a:prstGeom prst="rect">
            <a:avLst/>
          </a:prstGeom>
          <a:noFill/>
          <a:ln/>
        </p:spPr>
        <p:txBody>
          <a:bodyPr wrap="square" lIns="508" tIns="508" rIns="508" bIns="508" rtlCol="0" anchor="ctr">
            <a:noAutofit/>
          </a:bodyPr>
          <a:lstStyle/>
          <a:p>
            <a:pPr marL="0" indent="0" algn="l">
              <a:buNone/>
            </a:pPr>
            <a:endParaRPr lang="en-US" sz="2400" b="1">
              <a:solidFill>
                <a:srgbClr val="FB4D0A"/>
              </a:solidFill>
            </a:endParaRPr>
          </a:p>
        </p:txBody>
      </p:sp>
      <p:sp>
        <p:nvSpPr>
          <p:cNvPr id="3" name="Text 1"/>
          <p:cNvSpPr/>
          <p:nvPr/>
        </p:nvSpPr>
        <p:spPr>
          <a:xfrm>
            <a:off x="653078" y="-125544"/>
            <a:ext cx="6825793" cy="518736"/>
          </a:xfrm>
          <a:prstGeom prst="rect">
            <a:avLst/>
          </a:prstGeom>
          <a:noFill/>
          <a:ln/>
        </p:spPr>
        <p:txBody>
          <a:bodyPr wrap="square" lIns="254" tIns="254" rIns="254" bIns="254" rtlCol="0" anchor="ctr">
            <a:noAutofit/>
          </a:bodyPr>
          <a:lstStyle/>
          <a:p>
            <a:r>
              <a:t>The Business Cost of Delayed Complaint Investigation</a:t>
            </a:r>
            <a:endParaRPr lang="en-US" sz="2400" b="1">
              <a:solidFill>
                <a:srgbClr val="005071"/>
              </a:solidFill>
              <a:ea typeface="+mn-lt"/>
              <a:cs typeface="+mn-lt"/>
            </a:endParaRPr>
          </a:p>
        </p:txBody>
      </p:sp>
      <p:sp>
        <p:nvSpPr>
          <p:cNvPr id="5" name="Shape 3"/>
          <p:cNvSpPr/>
          <p:nvPr/>
        </p:nvSpPr>
        <p:spPr>
          <a:xfrm>
            <a:off x="219456" y="731520"/>
            <a:ext cx="11777472" cy="1"/>
          </a:xfrm>
          <a:prstGeom prst="line">
            <a:avLst/>
          </a:prstGeom>
          <a:noFill/>
          <a:ln w="10160">
            <a:solidFill>
              <a:srgbClr val="D8E1EA"/>
            </a:solidFill>
            <a:prstDash val="solid"/>
          </a:ln>
        </p:spPr>
        <p:txBody>
          <a:bodyPr lIns="91440" tIns="45720" rIns="91440" bIns="45720" anchor="t"/>
          <a:lstStyle/>
          <a:p>
            <a:endParaRPr lang="en-US" sz="1100"/>
          </a:p>
        </p:txBody>
      </p:sp>
      <p:sp>
        <p:nvSpPr>
          <p:cNvPr id="6" name="Shape 4"/>
          <p:cNvSpPr/>
          <p:nvPr/>
        </p:nvSpPr>
        <p:spPr>
          <a:xfrm>
            <a:off x="367284" y="1581910"/>
            <a:ext cx="3566160" cy="2651760"/>
          </a:xfrm>
          <a:prstGeom prst="roundRect">
            <a:avLst>
              <a:gd name="adj" fmla="val 3404"/>
            </a:avLst>
          </a:prstGeom>
          <a:solidFill>
            <a:srgbClr val="FFFFFF"/>
          </a:solidFill>
          <a:ln w="8890">
            <a:solidFill>
              <a:srgbClr val="D8E1EA"/>
            </a:solidFill>
            <a:prstDash val="solid"/>
          </a:ln>
          <a:effectLst>
            <a:outerShdw blurRad="12700" dist="7620" dir="2700000" algn="bl" rotWithShape="0">
              <a:srgbClr val="000000">
                <a:alpha val="12000"/>
              </a:srgbClr>
            </a:outerShdw>
          </a:effectLst>
        </p:spPr>
        <p:txBody>
          <a:bodyPr/>
          <a:lstStyle/>
          <a:p>
            <a:endParaRPr lang="en-IN" sz="2800"/>
          </a:p>
        </p:txBody>
      </p:sp>
      <p:sp>
        <p:nvSpPr>
          <p:cNvPr id="7" name="Text 5"/>
          <p:cNvSpPr/>
          <p:nvPr/>
        </p:nvSpPr>
        <p:spPr>
          <a:xfrm>
            <a:off x="568452" y="1719072"/>
            <a:ext cx="1828800" cy="182880"/>
          </a:xfrm>
          <a:prstGeom prst="rect">
            <a:avLst/>
          </a:prstGeom>
          <a:noFill/>
          <a:ln/>
        </p:spPr>
        <p:txBody>
          <a:bodyPr wrap="square" lIns="508" tIns="508" rIns="508" bIns="508" rtlCol="0" anchor="ctr">
            <a:noAutofit/>
          </a:bodyPr>
          <a:lstStyle/>
          <a:p>
            <a:pPr marL="0" indent="0" algn="l">
              <a:buNone/>
            </a:pPr>
            <a:r>
              <a:rPr lang="en-US" sz="1100" b="1">
                <a:solidFill>
                  <a:srgbClr val="FB4D0A"/>
                </a:solidFill>
                <a:latin typeface="Aptos" pitchFamily="34" charset="0"/>
                <a:ea typeface="Aptos" pitchFamily="34" charset="-122"/>
                <a:cs typeface="Aptos" pitchFamily="34" charset="-120"/>
              </a:rPr>
              <a:t>BUSINESS IMPACT</a:t>
            </a:r>
            <a:endParaRPr lang="en-US" sz="1100"/>
          </a:p>
        </p:txBody>
      </p:sp>
      <p:sp>
        <p:nvSpPr>
          <p:cNvPr id="8" name="Shape 6"/>
          <p:cNvSpPr/>
          <p:nvPr/>
        </p:nvSpPr>
        <p:spPr>
          <a:xfrm>
            <a:off x="650748" y="2093976"/>
            <a:ext cx="1463040" cy="640080"/>
          </a:xfrm>
          <a:prstGeom prst="roundRect">
            <a:avLst>
              <a:gd name="adj" fmla="val 11111"/>
            </a:avLst>
          </a:prstGeom>
          <a:solidFill>
            <a:srgbClr val="FFF2EA"/>
          </a:solidFill>
          <a:ln w="8890">
            <a:solidFill>
              <a:srgbClr val="D8E1EA"/>
            </a:solidFill>
            <a:prstDash val="solid"/>
          </a:ln>
        </p:spPr>
        <p:txBody>
          <a:bodyPr/>
          <a:lstStyle/>
          <a:p>
            <a:endParaRPr lang="en-IN" sz="2800"/>
          </a:p>
        </p:txBody>
      </p:sp>
      <p:sp>
        <p:nvSpPr>
          <p:cNvPr id="9" name="Text 7"/>
          <p:cNvSpPr/>
          <p:nvPr/>
        </p:nvSpPr>
        <p:spPr>
          <a:xfrm>
            <a:off x="705612" y="2157984"/>
            <a:ext cx="1371600" cy="274320"/>
          </a:xfrm>
          <a:prstGeom prst="rect">
            <a:avLst/>
          </a:prstGeom>
          <a:noFill/>
          <a:ln/>
        </p:spPr>
        <p:txBody>
          <a:bodyPr wrap="square" lIns="508" tIns="508" rIns="508" bIns="508" rtlCol="0" anchor="ctr">
            <a:noAutofit/>
          </a:bodyPr>
          <a:lstStyle/>
          <a:p>
            <a:pPr marL="0" indent="0" algn="ctr">
              <a:buNone/>
            </a:pPr>
            <a:r>
              <a:rPr lang="en-US" sz="1100" b="1">
                <a:solidFill>
                  <a:srgbClr val="3B4652"/>
                </a:solidFill>
                <a:latin typeface="Aptos" pitchFamily="34" charset="0"/>
                <a:ea typeface="Aptos" pitchFamily="34" charset="-122"/>
                <a:cs typeface="Aptos" pitchFamily="34" charset="-120"/>
              </a:rPr>
              <a:t>Customers impacted</a:t>
            </a:r>
            <a:endParaRPr lang="en-US" sz="1100"/>
          </a:p>
        </p:txBody>
      </p:sp>
      <p:sp>
        <p:nvSpPr>
          <p:cNvPr id="10" name="Text 8"/>
          <p:cNvSpPr/>
          <p:nvPr/>
        </p:nvSpPr>
        <p:spPr>
          <a:xfrm>
            <a:off x="705612" y="2450592"/>
            <a:ext cx="1371600" cy="274320"/>
          </a:xfrm>
          <a:prstGeom prst="rect">
            <a:avLst/>
          </a:prstGeom>
          <a:noFill/>
          <a:ln/>
        </p:spPr>
        <p:txBody>
          <a:bodyPr wrap="square" lIns="508" tIns="508" rIns="508" bIns="508" rtlCol="0" anchor="ctr">
            <a:noAutofit/>
          </a:bodyPr>
          <a:lstStyle/>
          <a:p>
            <a:pPr marL="0" indent="0" algn="ctr">
              <a:buNone/>
            </a:pPr>
            <a:r>
              <a:rPr lang="en-US" b="1">
                <a:solidFill>
                  <a:srgbClr val="E11D48"/>
                </a:solidFill>
                <a:latin typeface="Aptos" pitchFamily="34" charset="0"/>
                <a:ea typeface="Aptos" pitchFamily="34" charset="-122"/>
                <a:cs typeface="Aptos" pitchFamily="34" charset="-120"/>
              </a:rPr>
              <a:t>1,395</a:t>
            </a:r>
            <a:endParaRPr lang="en-US"/>
          </a:p>
        </p:txBody>
      </p:sp>
      <p:sp>
        <p:nvSpPr>
          <p:cNvPr id="11" name="Shape 9"/>
          <p:cNvSpPr/>
          <p:nvPr/>
        </p:nvSpPr>
        <p:spPr>
          <a:xfrm>
            <a:off x="2278380" y="2093976"/>
            <a:ext cx="1463040" cy="640080"/>
          </a:xfrm>
          <a:prstGeom prst="roundRect">
            <a:avLst>
              <a:gd name="adj" fmla="val 11111"/>
            </a:avLst>
          </a:prstGeom>
          <a:solidFill>
            <a:srgbClr val="FFF2EA"/>
          </a:solidFill>
          <a:ln w="8890">
            <a:solidFill>
              <a:srgbClr val="D8E1EA"/>
            </a:solidFill>
            <a:prstDash val="solid"/>
          </a:ln>
        </p:spPr>
        <p:txBody>
          <a:bodyPr/>
          <a:lstStyle/>
          <a:p>
            <a:endParaRPr lang="en-IN" sz="2800"/>
          </a:p>
        </p:txBody>
      </p:sp>
      <p:sp>
        <p:nvSpPr>
          <p:cNvPr id="12" name="Text 10"/>
          <p:cNvSpPr/>
          <p:nvPr/>
        </p:nvSpPr>
        <p:spPr>
          <a:xfrm>
            <a:off x="2333244" y="2157984"/>
            <a:ext cx="1371600" cy="274320"/>
          </a:xfrm>
          <a:prstGeom prst="rect">
            <a:avLst/>
          </a:prstGeom>
          <a:noFill/>
          <a:ln/>
        </p:spPr>
        <p:txBody>
          <a:bodyPr wrap="square" lIns="508" tIns="508" rIns="508" bIns="508" rtlCol="0" anchor="ctr">
            <a:noAutofit/>
          </a:bodyPr>
          <a:lstStyle/>
          <a:p>
            <a:pPr marL="0" indent="0" algn="ctr">
              <a:buNone/>
            </a:pPr>
            <a:r>
              <a:rPr lang="en-US" sz="1100" b="1">
                <a:solidFill>
                  <a:srgbClr val="3B4652"/>
                </a:solidFill>
                <a:latin typeface="Aptos" pitchFamily="34" charset="0"/>
                <a:ea typeface="Aptos" pitchFamily="34" charset="-122"/>
                <a:cs typeface="Aptos" pitchFamily="34" charset="-120"/>
              </a:rPr>
              <a:t>Remediation cost</a:t>
            </a:r>
            <a:endParaRPr lang="en-US" sz="1100"/>
          </a:p>
        </p:txBody>
      </p:sp>
      <p:sp>
        <p:nvSpPr>
          <p:cNvPr id="13" name="Text 11"/>
          <p:cNvSpPr/>
          <p:nvPr/>
        </p:nvSpPr>
        <p:spPr>
          <a:xfrm>
            <a:off x="2333244" y="2450592"/>
            <a:ext cx="1371600" cy="274320"/>
          </a:xfrm>
          <a:prstGeom prst="rect">
            <a:avLst/>
          </a:prstGeom>
          <a:noFill/>
          <a:ln/>
        </p:spPr>
        <p:txBody>
          <a:bodyPr wrap="square" lIns="508" tIns="508" rIns="508" bIns="508" rtlCol="0" anchor="ctr">
            <a:noAutofit/>
          </a:bodyPr>
          <a:lstStyle/>
          <a:p>
            <a:pPr marL="0" indent="0" algn="ctr">
              <a:buNone/>
            </a:pPr>
            <a:r>
              <a:rPr lang="en-US" b="1">
                <a:solidFill>
                  <a:srgbClr val="E11D48"/>
                </a:solidFill>
                <a:latin typeface="Aptos" pitchFamily="34" charset="0"/>
                <a:ea typeface="Aptos" pitchFamily="34" charset="-122"/>
                <a:cs typeface="Aptos" pitchFamily="34" charset="-120"/>
              </a:rPr>
              <a:t>£2.37m+</a:t>
            </a:r>
            <a:endParaRPr lang="en-US"/>
          </a:p>
        </p:txBody>
      </p:sp>
      <p:sp>
        <p:nvSpPr>
          <p:cNvPr id="14" name="Text 12"/>
          <p:cNvSpPr/>
          <p:nvPr/>
        </p:nvSpPr>
        <p:spPr>
          <a:xfrm>
            <a:off x="650748" y="2917718"/>
            <a:ext cx="3419856" cy="1161280"/>
          </a:xfrm>
          <a:prstGeom prst="rect">
            <a:avLst/>
          </a:prstGeom>
          <a:noFill/>
          <a:ln/>
        </p:spPr>
        <p:txBody>
          <a:bodyPr wrap="square" lIns="381" tIns="381" rIns="381" bIns="381" rtlCol="0" anchor="ctr">
            <a:noAutofit/>
          </a:bodyPr>
          <a:lstStyle/>
          <a:p>
            <a:pPr marL="0" indent="0">
              <a:buNone/>
            </a:pPr>
            <a:r>
              <a:rPr lang="en-US" sz="1100" b="1">
                <a:solidFill>
                  <a:srgbClr val="FB4D0A"/>
                </a:solidFill>
                <a:latin typeface="Aptos" pitchFamily="34" charset="0"/>
                <a:ea typeface="Aptos" pitchFamily="34" charset="-122"/>
                <a:cs typeface="Aptos" pitchFamily="34" charset="-120"/>
              </a:rPr>
              <a:t>• Delayed investigation can allow customer-impacting issues to persist.</a:t>
            </a:r>
            <a:r>
              <a:rPr lang="en-US" sz="1100">
                <a:solidFill>
                  <a:srgbClr val="3B4652"/>
                </a:solidFill>
                <a:latin typeface="Aptos" pitchFamily="34" charset="0"/>
                <a:ea typeface="Aptos" pitchFamily="34" charset="-122"/>
                <a:cs typeface="Aptos" pitchFamily="34" charset="-120"/>
              </a:rPr>
              <a:t/>
            </a:r>
            <a:r>
              <a:rPr lang="en-US" sz="1100" b="1">
                <a:solidFill>
                  <a:srgbClr val="FB4D0A"/>
                </a:solidFill>
                <a:latin typeface="Aptos" pitchFamily="34" charset="0"/>
                <a:ea typeface="Aptos" pitchFamily="34" charset="-122"/>
                <a:cs typeface="Aptos" pitchFamily="34" charset="-120"/>
              </a:rPr>
              <a:t/>
            </a:r>
            <a:r>
              <a:rPr lang="en-US" sz="1100">
                <a:solidFill>
                  <a:srgbClr val="3B4652"/>
                </a:solidFill>
                <a:latin typeface="Aptos" pitchFamily="34" charset="0"/>
                <a:ea typeface="Aptos" pitchFamily="34" charset="-122"/>
                <a:cs typeface="Aptos" pitchFamily="34" charset="-120"/>
              </a:rPr>
              <a:t/>
            </a:r>
          </a:p>
          <a:p>
            <a:r>
              <a:rPr lang="en-US" sz="1100" b="1">
                <a:solidFill>
                  <a:srgbClr val="FB4D0A"/>
                </a:solidFill>
                <a:latin typeface="Aptos" pitchFamily="34" charset="0"/>
                <a:ea typeface="Aptos" pitchFamily="34" charset="-122"/>
                <a:cs typeface="Aptos" pitchFamily="34" charset="-120"/>
              </a:rPr>
              <a:t>• Leadership needs evidence and a defensible root-cause trail — not just a KPI movement.</a:t>
            </a:r>
            <a:r>
              <a:rPr lang="en-US" sz="1100">
                <a:solidFill>
                  <a:srgbClr val="3B4652"/>
                </a:solidFill>
                <a:latin typeface="Aptos" pitchFamily="34" charset="0"/>
              </a:rPr>
              <a:t/>
            </a:r>
          </a:p>
          <a:p>
            <a:r>
              <a:rPr lang="en-US" sz="1100" b="1">
                <a:solidFill>
                  <a:srgbClr val="FB4D0A"/>
                </a:solidFill>
                <a:latin typeface="Aptos" pitchFamily="34" charset="0"/>
                <a:ea typeface="Aptos" pitchFamily="34" charset="-122"/>
                <a:cs typeface="Aptos" pitchFamily="34" charset="-120"/>
              </a:rPr>
              <a:t>• Earlier identification can help teams target remediation before impact escalates.</a:t>
            </a:r>
            <a:r>
              <a:rPr lang="en-US" sz="1100">
                <a:solidFill>
                  <a:srgbClr val="3B4652"/>
                </a:solidFill>
                <a:latin typeface="Aptos" pitchFamily="34" charset="0"/>
              </a:rPr>
              <a:t/>
            </a:r>
          </a:p>
          <a:p>
            <a:r>
              <a:rPr lang="en-US" sz="1100" b="1">
                <a:solidFill>
                  <a:srgbClr val="FB4D0A"/>
                </a:solidFill>
                <a:latin typeface="Aptos" pitchFamily="34" charset="0"/>
                <a:ea typeface="Aptos" pitchFamily="34" charset="-122"/>
                <a:cs typeface="Aptos" pitchFamily="34" charset="-120"/>
              </a:rPr>
              <a:t>• Complaint handling failures can create financial and regulatory consequences.</a:t>
            </a:r>
            <a:r>
              <a:rPr lang="en-US" sz="1100">
                <a:solidFill>
                  <a:srgbClr val="3B4652"/>
                </a:solidFill>
                <a:latin typeface="Aptos" pitchFamily="34" charset="0"/>
              </a:rPr>
              <a:t/>
            </a:r>
          </a:p>
        </p:txBody>
      </p:sp>
      <p:sp>
        <p:nvSpPr>
          <p:cNvPr id="15" name="Shape 13"/>
          <p:cNvSpPr/>
          <p:nvPr/>
        </p:nvSpPr>
        <p:spPr>
          <a:xfrm>
            <a:off x="4317492" y="1581910"/>
            <a:ext cx="3566160" cy="2651760"/>
          </a:xfrm>
          <a:prstGeom prst="roundRect">
            <a:avLst>
              <a:gd name="adj" fmla="val 3404"/>
            </a:avLst>
          </a:prstGeom>
          <a:solidFill>
            <a:srgbClr val="F4F7FA"/>
          </a:solidFill>
          <a:ln w="8890">
            <a:solidFill>
              <a:srgbClr val="D8E1EA"/>
            </a:solidFill>
            <a:prstDash val="solid"/>
          </a:ln>
          <a:effectLst>
            <a:outerShdw blurRad="12700" dist="7620" dir="2700000" algn="bl" rotWithShape="0">
              <a:srgbClr val="000000">
                <a:alpha val="12000"/>
              </a:srgbClr>
            </a:outerShdw>
          </a:effectLst>
        </p:spPr>
        <p:txBody>
          <a:bodyPr/>
          <a:lstStyle/>
          <a:p>
            <a:endParaRPr lang="en-IN" sz="2800"/>
          </a:p>
        </p:txBody>
      </p:sp>
      <p:sp>
        <p:nvSpPr>
          <p:cNvPr id="16" name="Text 14"/>
          <p:cNvSpPr/>
          <p:nvPr/>
        </p:nvSpPr>
        <p:spPr>
          <a:xfrm>
            <a:off x="4518660" y="1719072"/>
            <a:ext cx="1828800" cy="182880"/>
          </a:xfrm>
          <a:prstGeom prst="rect">
            <a:avLst/>
          </a:prstGeom>
          <a:noFill/>
          <a:ln/>
        </p:spPr>
        <p:txBody>
          <a:bodyPr wrap="square" lIns="508" tIns="508" rIns="508" bIns="508" rtlCol="0" anchor="ctr">
            <a:noAutofit/>
          </a:bodyPr>
          <a:lstStyle/>
          <a:p>
            <a:pPr marL="0" indent="0" algn="l">
              <a:buNone/>
            </a:pPr>
            <a:r>
              <a:rPr lang="en-US" sz="1100" b="1">
                <a:solidFill>
                  <a:srgbClr val="FB4D0A"/>
                </a:solidFill>
                <a:latin typeface="Aptos" pitchFamily="34" charset="0"/>
                <a:ea typeface="Aptos" pitchFamily="34" charset="-122"/>
                <a:cs typeface="Aptos" pitchFamily="34" charset="-120"/>
              </a:rPr>
              <a:t>CUSTOMER IMPACT</a:t>
            </a:r>
            <a:endParaRPr lang="en-US" sz="1100"/>
          </a:p>
        </p:txBody>
      </p:sp>
      <p:sp>
        <p:nvSpPr>
          <p:cNvPr id="17" name="Shape 15"/>
          <p:cNvSpPr/>
          <p:nvPr/>
        </p:nvSpPr>
        <p:spPr>
          <a:xfrm>
            <a:off x="4610100" y="2093976"/>
            <a:ext cx="1463040" cy="640080"/>
          </a:xfrm>
          <a:prstGeom prst="roundRect">
            <a:avLst>
              <a:gd name="adj" fmla="val 11111"/>
            </a:avLst>
          </a:prstGeom>
          <a:solidFill>
            <a:srgbClr val="FFF2EA"/>
          </a:solidFill>
          <a:ln w="8890">
            <a:solidFill>
              <a:srgbClr val="D8E1EA"/>
            </a:solidFill>
            <a:prstDash val="solid"/>
          </a:ln>
        </p:spPr>
        <p:txBody>
          <a:bodyPr/>
          <a:lstStyle/>
          <a:p>
            <a:endParaRPr lang="en-IN" sz="2800"/>
          </a:p>
        </p:txBody>
      </p:sp>
      <p:sp>
        <p:nvSpPr>
          <p:cNvPr id="18" name="Text 16"/>
          <p:cNvSpPr/>
          <p:nvPr/>
        </p:nvSpPr>
        <p:spPr>
          <a:xfrm>
            <a:off x="4664964" y="2157984"/>
            <a:ext cx="1371600" cy="274320"/>
          </a:xfrm>
          <a:prstGeom prst="rect">
            <a:avLst/>
          </a:prstGeom>
          <a:noFill/>
          <a:ln/>
        </p:spPr>
        <p:txBody>
          <a:bodyPr wrap="square" lIns="508" tIns="508" rIns="508" bIns="508" rtlCol="0" anchor="ctr">
            <a:noAutofit/>
          </a:bodyPr>
          <a:lstStyle/>
          <a:p>
            <a:pPr marL="0" indent="0" algn="ctr">
              <a:buNone/>
            </a:pPr>
            <a:r>
              <a:rPr lang="en-US" sz="1100" b="1">
                <a:solidFill>
                  <a:srgbClr val="3B4652"/>
                </a:solidFill>
                <a:latin typeface="Aptos" pitchFamily="34" charset="0"/>
                <a:ea typeface="Aptos" pitchFamily="34" charset="-122"/>
                <a:cs typeface="Aptos" pitchFamily="34" charset="-120"/>
              </a:rPr>
              <a:t>Vulnerable customers affected</a:t>
            </a:r>
            <a:endParaRPr lang="en-US" sz="1100"/>
          </a:p>
        </p:txBody>
      </p:sp>
      <p:sp>
        <p:nvSpPr>
          <p:cNvPr id="19" name="Text 17"/>
          <p:cNvSpPr/>
          <p:nvPr/>
        </p:nvSpPr>
        <p:spPr>
          <a:xfrm>
            <a:off x="4664964" y="2450592"/>
            <a:ext cx="1371600" cy="274320"/>
          </a:xfrm>
          <a:prstGeom prst="rect">
            <a:avLst/>
          </a:prstGeom>
          <a:noFill/>
          <a:ln/>
        </p:spPr>
        <p:txBody>
          <a:bodyPr wrap="square" lIns="508" tIns="508" rIns="508" bIns="508" rtlCol="0" anchor="ctr">
            <a:noAutofit/>
          </a:bodyPr>
          <a:lstStyle/>
          <a:p>
            <a:pPr marL="0" indent="0" algn="ctr">
              <a:buNone/>
            </a:pPr>
            <a:r>
              <a:rPr lang="en-US" b="1">
                <a:solidFill>
                  <a:srgbClr val="FB4D0A"/>
                </a:solidFill>
                <a:latin typeface="Aptos" pitchFamily="34" charset="0"/>
                <a:ea typeface="Aptos" pitchFamily="34" charset="-122"/>
                <a:cs typeface="Aptos" pitchFamily="34" charset="-120"/>
              </a:rPr>
              <a:t>706</a:t>
            </a:r>
            <a:endParaRPr lang="en-US"/>
          </a:p>
        </p:txBody>
      </p:sp>
      <p:sp>
        <p:nvSpPr>
          <p:cNvPr id="20" name="Shape 18"/>
          <p:cNvSpPr/>
          <p:nvPr/>
        </p:nvSpPr>
        <p:spPr>
          <a:xfrm>
            <a:off x="6274308" y="2093976"/>
            <a:ext cx="1463040" cy="640080"/>
          </a:xfrm>
          <a:prstGeom prst="roundRect">
            <a:avLst>
              <a:gd name="adj" fmla="val 11111"/>
            </a:avLst>
          </a:prstGeom>
          <a:solidFill>
            <a:srgbClr val="FFF2EA"/>
          </a:solidFill>
          <a:ln w="8890">
            <a:solidFill>
              <a:srgbClr val="D8E1EA"/>
            </a:solidFill>
            <a:prstDash val="solid"/>
          </a:ln>
        </p:spPr>
        <p:txBody>
          <a:bodyPr/>
          <a:lstStyle/>
          <a:p>
            <a:endParaRPr lang="en-IN" sz="2800"/>
          </a:p>
        </p:txBody>
      </p:sp>
      <p:sp>
        <p:nvSpPr>
          <p:cNvPr id="21" name="Text 19"/>
          <p:cNvSpPr/>
          <p:nvPr/>
        </p:nvSpPr>
        <p:spPr>
          <a:xfrm>
            <a:off x="6329172" y="2157984"/>
            <a:ext cx="1205484" cy="283464"/>
          </a:xfrm>
          <a:prstGeom prst="rect">
            <a:avLst/>
          </a:prstGeom>
          <a:noFill/>
          <a:ln/>
        </p:spPr>
        <p:txBody>
          <a:bodyPr wrap="square" lIns="508" tIns="508" rIns="508" bIns="508" rtlCol="0" anchor="ctr">
            <a:noAutofit/>
          </a:bodyPr>
          <a:lstStyle/>
          <a:p>
            <a:pPr marL="0" indent="0" algn="ctr">
              <a:buNone/>
            </a:pPr>
            <a:r>
              <a:rPr lang="en-US" sz="1100" b="1">
                <a:solidFill>
                  <a:srgbClr val="3B4652"/>
                </a:solidFill>
                <a:latin typeface="Aptos" pitchFamily="34" charset="0"/>
                <a:ea typeface="Aptos" pitchFamily="34" charset="-122"/>
                <a:cs typeface="Aptos" pitchFamily="34" charset="-120"/>
              </a:rPr>
              <a:t>Complaints unresolved</a:t>
            </a:r>
            <a:endParaRPr lang="en-US" sz="1100"/>
          </a:p>
        </p:txBody>
      </p:sp>
      <p:sp>
        <p:nvSpPr>
          <p:cNvPr id="22" name="Text 20"/>
          <p:cNvSpPr/>
          <p:nvPr/>
        </p:nvSpPr>
        <p:spPr>
          <a:xfrm>
            <a:off x="6329172" y="2450592"/>
            <a:ext cx="1371600" cy="274320"/>
          </a:xfrm>
          <a:prstGeom prst="rect">
            <a:avLst/>
          </a:prstGeom>
          <a:noFill/>
          <a:ln/>
        </p:spPr>
        <p:txBody>
          <a:bodyPr wrap="square" lIns="508" tIns="508" rIns="508" bIns="508" rtlCol="0" anchor="ctr">
            <a:noAutofit/>
          </a:bodyPr>
          <a:lstStyle/>
          <a:p>
            <a:pPr marL="0" indent="0" algn="ctr">
              <a:buNone/>
            </a:pPr>
            <a:r>
              <a:rPr lang="en-US" b="1">
                <a:solidFill>
                  <a:srgbClr val="FB4D0A"/>
                </a:solidFill>
                <a:latin typeface="Aptos" pitchFamily="34" charset="0"/>
                <a:ea typeface="Aptos" pitchFamily="34" charset="-122"/>
                <a:cs typeface="Aptos" pitchFamily="34" charset="-120"/>
              </a:rPr>
              <a:t>Up to 18 months</a:t>
            </a:r>
            <a:endParaRPr lang="en-US"/>
          </a:p>
        </p:txBody>
      </p:sp>
      <p:sp>
        <p:nvSpPr>
          <p:cNvPr id="23" name="Text 21"/>
          <p:cNvSpPr/>
          <p:nvPr/>
        </p:nvSpPr>
        <p:spPr>
          <a:xfrm>
            <a:off x="4393692" y="3159249"/>
            <a:ext cx="3429000" cy="850392"/>
          </a:xfrm>
          <a:prstGeom prst="rect">
            <a:avLst/>
          </a:prstGeom>
          <a:noFill/>
          <a:ln/>
        </p:spPr>
        <p:txBody>
          <a:bodyPr wrap="square" lIns="381" tIns="381" rIns="381" bIns="381" rtlCol="0" anchor="ctr">
            <a:noAutofit/>
          </a:bodyPr>
          <a:lstStyle/>
          <a:p>
            <a:pPr marL="0" indent="0">
              <a:buNone/>
            </a:pPr>
            <a:r>
              <a:rPr sz="1100">
                <a:latin typeface="Aptos"/>
              </a:rPr>
              <a:t>• Vulnerable customers can be disproportionately affected by unresolved issues.</a:t>
            </a:r>
          </a:p>
          <a:p>
            <a:r>
              <a:rPr sz="1100">
                <a:latin typeface="Aptos"/>
              </a:rPr>
              <a:t>• Some complaints in the cited case remained unresolved for up to 18 months.</a:t>
            </a:r>
          </a:p>
          <a:p>
            <a:r>
              <a:rPr sz="1100">
                <a:latin typeface="Aptos"/>
              </a:rPr>
              <a:t>• Earlier root-cause identification creates an opportunity for faster intervention.</a:t>
            </a:r>
          </a:p>
          <a:p>
            <a:r>
              <a:rPr sz="1100">
                <a:latin typeface="Aptos"/>
              </a:rPr>
              <a:t/>
            </a:r>
          </a:p>
        </p:txBody>
      </p:sp>
      <p:sp>
        <p:nvSpPr>
          <p:cNvPr id="24" name="Shape 22"/>
          <p:cNvSpPr/>
          <p:nvPr/>
        </p:nvSpPr>
        <p:spPr>
          <a:xfrm>
            <a:off x="8267700" y="1581910"/>
            <a:ext cx="3566160" cy="2651760"/>
          </a:xfrm>
          <a:prstGeom prst="roundRect">
            <a:avLst>
              <a:gd name="adj" fmla="val 3404"/>
            </a:avLst>
          </a:prstGeom>
          <a:solidFill>
            <a:srgbClr val="FFFFFF"/>
          </a:solidFill>
          <a:ln w="8890">
            <a:solidFill>
              <a:srgbClr val="D8E1EA"/>
            </a:solidFill>
            <a:prstDash val="solid"/>
          </a:ln>
          <a:effectLst>
            <a:outerShdw blurRad="12700" dist="7620" dir="2700000" algn="bl" rotWithShape="0">
              <a:srgbClr val="000000">
                <a:alpha val="12000"/>
              </a:srgbClr>
            </a:outerShdw>
          </a:effectLst>
        </p:spPr>
        <p:txBody>
          <a:bodyPr/>
          <a:lstStyle/>
          <a:p>
            <a:endParaRPr lang="en-IN" sz="2800"/>
          </a:p>
        </p:txBody>
      </p:sp>
      <p:sp>
        <p:nvSpPr>
          <p:cNvPr id="25" name="Text 23"/>
          <p:cNvSpPr/>
          <p:nvPr/>
        </p:nvSpPr>
        <p:spPr>
          <a:xfrm>
            <a:off x="8478012" y="1719072"/>
            <a:ext cx="1828800" cy="182880"/>
          </a:xfrm>
          <a:prstGeom prst="rect">
            <a:avLst/>
          </a:prstGeom>
          <a:noFill/>
          <a:ln/>
        </p:spPr>
        <p:txBody>
          <a:bodyPr wrap="square" lIns="508" tIns="508" rIns="508" bIns="508" rtlCol="0" anchor="ctr">
            <a:noAutofit/>
          </a:bodyPr>
          <a:lstStyle/>
          <a:p>
            <a:pPr marL="0" indent="0" algn="l">
              <a:buNone/>
            </a:pPr>
            <a:r>
              <a:rPr lang="en-US" sz="1100" b="1">
                <a:solidFill>
                  <a:srgbClr val="FB4D0A"/>
                </a:solidFill>
                <a:latin typeface="Aptos" pitchFamily="34" charset="0"/>
                <a:ea typeface="Aptos" pitchFamily="34" charset="-122"/>
                <a:cs typeface="Aptos" pitchFamily="34" charset="-120"/>
              </a:rPr>
              <a:t>WHY STAKEHOLDERS CARE</a:t>
            </a:r>
            <a:endParaRPr lang="en-US" sz="1100"/>
          </a:p>
        </p:txBody>
      </p:sp>
      <p:sp>
        <p:nvSpPr>
          <p:cNvPr id="26" name="Text 24"/>
          <p:cNvSpPr/>
          <p:nvPr/>
        </p:nvSpPr>
        <p:spPr>
          <a:xfrm>
            <a:off x="8478012" y="2066544"/>
            <a:ext cx="2926080" cy="2093976"/>
          </a:xfrm>
          <a:prstGeom prst="rect">
            <a:avLst/>
          </a:prstGeom>
          <a:noFill/>
          <a:ln/>
        </p:spPr>
        <p:txBody>
          <a:bodyPr wrap="square" lIns="381" tIns="381" rIns="381" bIns="381" rtlCol="0" anchor="ctr">
            <a:normAutofit/>
          </a:bodyPr>
          <a:lstStyle/>
          <a:p>
            <a:pPr marL="0" indent="0">
              <a:buNone/>
            </a:pPr>
            <a:r>
              <a:rPr lang="en-US" sz="1100" b="1">
                <a:solidFill>
                  <a:srgbClr val="FB4D0A"/>
                </a:solidFill>
                <a:latin typeface="Aptos" pitchFamily="34" charset="0"/>
                <a:ea typeface="Aptos" pitchFamily="34" charset="-122"/>
                <a:cs typeface="Aptos" pitchFamily="34" charset="-120"/>
              </a:rPr>
              <a:t>• Prioritize the customers and issues with the greatest impact.
• Give operations teams evidence for targeted remediation.
• Create a consistent audit trail from KPI movement to action.
• Reduce dependence on manual cross-system investigation.</a:t>
            </a:r>
            <a:r>
              <a:rPr lang="en-US" sz="1100">
                <a:solidFill>
                  <a:srgbClr val="3B4652"/>
                </a:solidFill>
                <a:latin typeface="Aptos" pitchFamily="34" charset="0"/>
                <a:ea typeface="Aptos" pitchFamily="34" charset="-122"/>
                <a:cs typeface="Aptos" pitchFamily="34" charset="-120"/>
              </a:rPr>
              <a:t/>
            </a:r>
            <a:r>
              <a:rPr lang="en-US" sz="1100" b="1">
                <a:solidFill>
                  <a:srgbClr val="FB4D0A"/>
                </a:solidFill>
                <a:latin typeface="Aptos" pitchFamily="34" charset="0"/>
                <a:ea typeface="Aptos" pitchFamily="34" charset="-122"/>
                <a:cs typeface="Aptos" pitchFamily="34" charset="-120"/>
              </a:rPr>
              <a:t/>
            </a:r>
            <a:r>
              <a:rPr lang="en-US" sz="1100">
                <a:solidFill>
                  <a:srgbClr val="3B4652"/>
                </a:solidFill>
                <a:latin typeface="Aptos" pitchFamily="34" charset="0"/>
                <a:ea typeface="Aptos" pitchFamily="34" charset="-122"/>
                <a:cs typeface="Aptos" pitchFamily="34" charset="-120"/>
              </a:rPr>
              <a:t/>
            </a:r>
            <a:r>
              <a:rPr lang="en-US" sz="1100" b="1">
                <a:solidFill>
                  <a:srgbClr val="FB4D0A"/>
                </a:solidFill>
                <a:latin typeface="Aptos" pitchFamily="34" charset="0"/>
                <a:ea typeface="Aptos" pitchFamily="34" charset="-122"/>
                <a:cs typeface="Aptos" pitchFamily="34" charset="-120"/>
              </a:rPr>
              <a:t/>
            </a:r>
            <a:r>
              <a:rPr lang="en-US" sz="1100">
                <a:solidFill>
                  <a:srgbClr val="3B4652"/>
                </a:solidFill>
                <a:latin typeface="Aptos" pitchFamily="34" charset="0"/>
                <a:ea typeface="Aptos" pitchFamily="34" charset="-122"/>
                <a:cs typeface="Aptos" pitchFamily="34" charset="-120"/>
              </a:rPr>
              <a:t/>
            </a:r>
            <a:r>
              <a:rPr lang="en-US" sz="1100" b="1">
                <a:solidFill>
                  <a:srgbClr val="FB4D0A"/>
                </a:solidFill>
                <a:latin typeface="Aptos" pitchFamily="34" charset="0"/>
                <a:ea typeface="Aptos" pitchFamily="34" charset="-122"/>
                <a:cs typeface="Aptos" pitchFamily="34" charset="-120"/>
              </a:rPr>
              <a:t/>
            </a:r>
            <a:r>
              <a:rPr lang="en-US" sz="1100">
                <a:solidFill>
                  <a:srgbClr val="3B4652"/>
                </a:solidFill>
                <a:latin typeface="Aptos" pitchFamily="34" charset="0"/>
                <a:ea typeface="Aptos" pitchFamily="34" charset="-122"/>
                <a:cs typeface="Aptos" pitchFamily="34" charset="-120"/>
              </a:rPr>
              <a:t/>
            </a:r>
            <a:endParaRPr lang="en-US" sz="1100"/>
          </a:p>
        </p:txBody>
      </p:sp>
      <p:sp>
        <p:nvSpPr>
          <p:cNvPr id="27" name="Shape 25"/>
          <p:cNvSpPr/>
          <p:nvPr/>
        </p:nvSpPr>
        <p:spPr>
          <a:xfrm>
            <a:off x="358140" y="4407408"/>
            <a:ext cx="11475720" cy="1234440"/>
          </a:xfrm>
          <a:prstGeom prst="roundRect">
            <a:avLst>
              <a:gd name="adj" fmla="val 5926"/>
            </a:avLst>
          </a:prstGeom>
          <a:solidFill>
            <a:srgbClr val="00263E"/>
          </a:solidFill>
          <a:ln w="8890">
            <a:solidFill>
              <a:srgbClr val="D8E1EA"/>
            </a:solidFill>
            <a:prstDash val="solid"/>
          </a:ln>
          <a:effectLst>
            <a:outerShdw blurRad="12700" dist="7620" dir="2700000" algn="bl" rotWithShape="0">
              <a:srgbClr val="000000">
                <a:alpha val="12000"/>
              </a:srgbClr>
            </a:outerShdw>
          </a:effectLst>
        </p:spPr>
        <p:txBody>
          <a:bodyPr/>
          <a:lstStyle/>
          <a:p>
            <a:endParaRPr lang="en-IN" sz="2800"/>
          </a:p>
        </p:txBody>
      </p:sp>
      <p:sp>
        <p:nvSpPr>
          <p:cNvPr id="28" name="Text 26"/>
          <p:cNvSpPr/>
          <p:nvPr/>
        </p:nvSpPr>
        <p:spPr>
          <a:xfrm>
            <a:off x="605028" y="4608576"/>
            <a:ext cx="3099816" cy="292608"/>
          </a:xfrm>
          <a:prstGeom prst="rect">
            <a:avLst/>
          </a:prstGeom>
          <a:noFill/>
          <a:ln/>
        </p:spPr>
        <p:txBody>
          <a:bodyPr wrap="square" lIns="508" tIns="508" rIns="508" bIns="508" rtlCol="0" anchor="ctr">
            <a:noAutofit/>
          </a:bodyPr>
          <a:lstStyle/>
          <a:p>
            <a:pPr marL="0" indent="0" algn="l">
              <a:buNone/>
            </a:pPr>
            <a:r>
              <a:rPr lang="en-US" sz="1200" b="1">
                <a:solidFill>
                  <a:srgbClr val="FB4D0A"/>
                </a:solidFill>
                <a:latin typeface="Aptos" pitchFamily="34" charset="0"/>
                <a:ea typeface="Aptos" pitchFamily="34" charset="-122"/>
                <a:cs typeface="Aptos" pitchFamily="34" charset="-120"/>
              </a:rPr>
              <a:t>WHY THIS MATTERS FOR OPERATIONS</a:t>
            </a:r>
            <a:endParaRPr lang="en-US" sz="1200"/>
          </a:p>
        </p:txBody>
      </p:sp>
      <p:sp>
        <p:nvSpPr>
          <p:cNvPr id="29" name="Text 27"/>
          <p:cNvSpPr/>
          <p:nvPr/>
        </p:nvSpPr>
        <p:spPr>
          <a:xfrm>
            <a:off x="605028" y="4901184"/>
            <a:ext cx="10424160" cy="310896"/>
          </a:xfrm>
          <a:prstGeom prst="rect">
            <a:avLst/>
          </a:prstGeom>
          <a:noFill/>
          <a:ln/>
        </p:spPr>
        <p:txBody>
          <a:bodyPr wrap="square" lIns="508" tIns="508" rIns="508" bIns="508" rtlCol="0" anchor="ctr">
            <a:noAutofit/>
          </a:bodyPr>
          <a:lstStyle/>
          <a:p>
            <a:pPr marL="0" indent="0" algn="l">
              <a:buNone/>
            </a:pPr>
            <a:r>
              <a:rPr lang="en-US" sz="1200" b="1">
                <a:solidFill>
                  <a:srgbClr val="FFFFFF"/>
                </a:solidFill>
                <a:latin typeface="Aptos" pitchFamily="34" charset="0"/>
                <a:ea typeface="Aptos" pitchFamily="34" charset="-122"/>
                <a:cs typeface="Aptos" pitchFamily="34" charset="-120"/>
              </a:rPr>
              <a:t>InsightForge sits on top of existing dashboards and governed data to shorten the path from KPI deviation to evidence, root cause, impacted customers and recommended action.</a:t>
            </a:r>
            <a:endParaRPr lang="en-US" sz="1200"/>
          </a:p>
        </p:txBody>
      </p:sp>
      <p:sp>
        <p:nvSpPr>
          <p:cNvPr id="30" name="TextBox 29">
            <a:extLst>
              <a:ext uri="{FF2B5EF4-FFF2-40B4-BE49-F238E27FC236}">
                <a16:creationId xmlns:a16="http://schemas.microsoft.com/office/drawing/2014/main" id="{781DD947-2B28-A0E3-2F97-B2E5C5A33B6A}"/>
              </a:ext>
            </a:extLst>
          </p:cNvPr>
          <p:cNvSpPr txBox="1"/>
          <p:nvPr/>
        </p:nvSpPr>
        <p:spPr>
          <a:xfrm>
            <a:off x="575083" y="393316"/>
            <a:ext cx="6193765"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ea typeface="+mn-lt"/>
                <a:cs typeface="+mn-lt"/>
              </a:rPr>
              <a:t>Sources: Ofgem complaint-handling enforcement (2024); Ofgem consumer satisfaction evidence (2025); UK Government consultation response.</a:t>
            </a:r>
            <a:endParaRPr lang="en-US" sz="1100"/>
          </a:p>
        </p:txBody>
      </p:sp>
      <p:sp>
        <p:nvSpPr>
          <p:cNvPr id="33" name="Text 36">
            <a:extLst>
              <a:ext uri="{FF2B5EF4-FFF2-40B4-BE49-F238E27FC236}">
                <a16:creationId xmlns:a16="http://schemas.microsoft.com/office/drawing/2014/main" id="{BB38B2B0-B159-D46B-D1D0-61B1EFBCC7D7}"/>
              </a:ext>
            </a:extLst>
          </p:cNvPr>
          <p:cNvSpPr/>
          <p:nvPr/>
        </p:nvSpPr>
        <p:spPr>
          <a:xfrm>
            <a:off x="11411712" y="6473952"/>
            <a:ext cx="411480" cy="137160"/>
          </a:xfrm>
          <a:prstGeom prst="rect">
            <a:avLst/>
          </a:prstGeom>
          <a:noFill/>
          <a:ln/>
        </p:spPr>
        <p:txBody>
          <a:bodyPr wrap="square" lIns="508" tIns="508" rIns="508" bIns="508" rtlCol="0" anchor="ctr">
            <a:normAutofit/>
          </a:bodyPr>
          <a:lstStyle/>
          <a:p>
            <a:pPr marL="0" indent="0" algn="l">
              <a:buNone/>
            </a:pPr>
            <a:r>
              <a:rPr lang="en-US" sz="700" b="1">
                <a:solidFill>
                  <a:srgbClr val="FB4D0A"/>
                </a:solidFill>
                <a:latin typeface="Aptos" pitchFamily="34" charset="0"/>
                <a:ea typeface="Aptos" pitchFamily="34" charset="-122"/>
                <a:cs typeface="Aptos" pitchFamily="34" charset="-120"/>
              </a:rPr>
              <a:t>EXL</a:t>
            </a:r>
            <a:endParaRPr lang="en-US" sz="7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name="Slide 2">
    <p:spTree>
      <p:nvGrpSpPr>
        <p:cNvPr id="1" name=""/>
        <p:cNvGrpSpPr/>
        <p:nvPr/>
      </p:nvGrpSpPr>
      <p:grpSpPr>
        <a:xfrm>
          <a:off x="0" y="0"/>
          <a:ext cx="1" cy="1"/>
          <a:chOff x="0" y="0"/>
          <a:chExt cx="1" cy="1"/>
        </a:xfrm>
      </p:grpSpPr>
      <p:sp>
        <p:nvSpPr>
          <p:cNvPr id="3" name="Text 1"/>
          <p:cNvSpPr/>
          <p:nvPr/>
        </p:nvSpPr>
        <p:spPr>
          <a:xfrm>
            <a:off x="749808" y="118872"/>
            <a:ext cx="6035040" cy="274320"/>
          </a:xfrm>
          <a:prstGeom prst="rect">
            <a:avLst/>
          </a:prstGeom>
          <a:noFill/>
          <a:ln/>
        </p:spPr>
        <p:txBody>
          <a:bodyPr wrap="square" lIns="254" tIns="254" rIns="254" bIns="254" rtlCol="0" anchor="ctr">
            <a:noAutofit/>
          </a:bodyPr>
          <a:lstStyle/>
          <a:p>
            <a:r>
              <a:rPr lang="en-US" sz="2400" b="1">
                <a:solidFill>
                  <a:srgbClr val="005071"/>
                </a:solidFill>
                <a:latin typeface="Aptos Display"/>
                <a:ea typeface="Aptos Display" pitchFamily="34" charset="-122"/>
                <a:cs typeface="Aptos Display" pitchFamily="34" charset="-120"/>
              </a:rPr>
              <a:t>What We Are Building</a:t>
            </a:r>
            <a:endParaRPr lang="en-US" sz="2400"/>
          </a:p>
        </p:txBody>
      </p:sp>
      <p:sp>
        <p:nvSpPr>
          <p:cNvPr id="5" name="Shape 3"/>
          <p:cNvSpPr/>
          <p:nvPr/>
        </p:nvSpPr>
        <p:spPr>
          <a:xfrm>
            <a:off x="219456" y="731520"/>
            <a:ext cx="11777472" cy="1"/>
          </a:xfrm>
          <a:prstGeom prst="line">
            <a:avLst/>
          </a:prstGeom>
          <a:noFill/>
          <a:ln w="10160">
            <a:solidFill>
              <a:srgbClr val="D8E1EA"/>
            </a:solidFill>
            <a:prstDash val="solid"/>
          </a:ln>
        </p:spPr>
        <p:txBody>
          <a:bodyPr/>
          <a:lstStyle/>
          <a:p>
            <a:endParaRPr lang="en-IN" sz="2800"/>
          </a:p>
        </p:txBody>
      </p:sp>
      <p:sp>
        <p:nvSpPr>
          <p:cNvPr id="7" name="Shape 4"/>
          <p:cNvSpPr/>
          <p:nvPr/>
        </p:nvSpPr>
        <p:spPr>
          <a:xfrm>
            <a:off x="230559" y="1700785"/>
            <a:ext cx="6720840" cy="1243258"/>
          </a:xfrm>
          <a:prstGeom prst="roundRect">
            <a:avLst>
              <a:gd name="adj" fmla="val 7407"/>
            </a:avLst>
          </a:prstGeom>
          <a:solidFill>
            <a:srgbClr val="F4F7FA"/>
          </a:solidFill>
          <a:ln w="8890">
            <a:solidFill>
              <a:srgbClr val="D8E1EA"/>
            </a:solidFill>
            <a:prstDash val="solid"/>
          </a:ln>
          <a:effectLst>
            <a:outerShdw blurRad="12700" dist="7620" dir="2700000" algn="bl" rotWithShape="0">
              <a:srgbClr val="000000">
                <a:alpha val="12000"/>
              </a:srgbClr>
            </a:outerShdw>
          </a:effectLst>
        </p:spPr>
        <p:txBody>
          <a:bodyPr/>
          <a:lstStyle/>
          <a:p>
            <a:endParaRPr lang="en-IN" sz="2800"/>
          </a:p>
        </p:txBody>
      </p:sp>
      <p:sp>
        <p:nvSpPr>
          <p:cNvPr id="8" name="Shape 5"/>
          <p:cNvSpPr/>
          <p:nvPr/>
        </p:nvSpPr>
        <p:spPr>
          <a:xfrm>
            <a:off x="398199" y="1811466"/>
            <a:ext cx="384048" cy="384048"/>
          </a:xfrm>
          <a:prstGeom prst="roundRect">
            <a:avLst>
              <a:gd name="adj" fmla="val 16667"/>
            </a:avLst>
          </a:prstGeom>
          <a:solidFill>
            <a:srgbClr val="FB4D0A"/>
          </a:solidFill>
          <a:ln w="12700">
            <a:solidFill>
              <a:srgbClr val="FB4D0A"/>
            </a:solidFill>
            <a:prstDash val="solid"/>
          </a:ln>
        </p:spPr>
        <p:txBody>
          <a:bodyPr/>
          <a:lstStyle/>
          <a:p>
            <a:endParaRPr lang="en-IN" sz="2800"/>
          </a:p>
        </p:txBody>
      </p:sp>
      <p:pic>
        <p:nvPicPr>
          <p:cNvPr id="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6159" y="2195514"/>
            <a:ext cx="253472" cy="253472"/>
          </a:xfrm>
          <a:prstGeom prst="rect">
            <a:avLst/>
          </a:prstGeom>
        </p:spPr>
      </p:pic>
      <p:sp>
        <p:nvSpPr>
          <p:cNvPr id="10" name="Text 6"/>
          <p:cNvSpPr/>
          <p:nvPr/>
        </p:nvSpPr>
        <p:spPr>
          <a:xfrm>
            <a:off x="934646" y="1826534"/>
            <a:ext cx="5677117" cy="292608"/>
          </a:xfrm>
          <a:prstGeom prst="rect">
            <a:avLst/>
          </a:prstGeom>
          <a:noFill/>
          <a:ln/>
        </p:spPr>
        <p:txBody>
          <a:bodyPr wrap="square" lIns="254" tIns="254" rIns="254" bIns="254" rtlCol="0" anchor="ctr">
            <a:noAutofit/>
          </a:bodyPr>
          <a:lstStyle/>
          <a:p>
            <a:pPr marL="0" indent="0">
              <a:buNone/>
            </a:pPr>
            <a:r>
              <a:rPr lang="en-US" sz="2000" b="1">
                <a:solidFill>
                  <a:srgbClr val="00263E"/>
                </a:solidFill>
                <a:latin typeface="Aptos Display" pitchFamily="34" charset="0"/>
                <a:ea typeface="Aptos Display" pitchFamily="34" charset="-122"/>
                <a:cs typeface="Aptos Display" pitchFamily="34" charset="-120"/>
              </a:rPr>
              <a:t>Decision intelligence layer for KPI investigation and action</a:t>
            </a:r>
            <a:endParaRPr lang="en-US" sz="2000"/>
          </a:p>
        </p:txBody>
      </p:sp>
      <p:sp>
        <p:nvSpPr>
          <p:cNvPr id="11" name="Text 7"/>
          <p:cNvSpPr/>
          <p:nvPr/>
        </p:nvSpPr>
        <p:spPr>
          <a:xfrm>
            <a:off x="934646" y="2102722"/>
            <a:ext cx="5996505" cy="841320"/>
          </a:xfrm>
          <a:prstGeom prst="rect">
            <a:avLst/>
          </a:prstGeom>
          <a:noFill/>
          <a:ln/>
        </p:spPr>
        <p:txBody>
          <a:bodyPr wrap="square" lIns="508" tIns="508" rIns="508" bIns="508" rtlCol="0" anchor="ctr">
            <a:noAutofit/>
          </a:bodyPr>
          <a:lstStyle/>
          <a:p>
            <a:r>
              <a:rPr lang="en-IN" sz="1100"/>
              <a:t>When a KPI deviation is identified, the agent forms hypotheses, selects the relevant investigation tools, gathers evidence across operational datasets, challenges alternative explanations, and recommends the next best actions. The Complaint Rate PoC demonstrates this end-to-end workflow.</a:t>
            </a:r>
            <a:endParaRPr lang="en-US" sz="1100"/>
          </a:p>
        </p:txBody>
      </p:sp>
      <p:sp>
        <p:nvSpPr>
          <p:cNvPr id="12" name="Shape 8"/>
          <p:cNvSpPr/>
          <p:nvPr/>
        </p:nvSpPr>
        <p:spPr>
          <a:xfrm>
            <a:off x="219456" y="3203812"/>
            <a:ext cx="1508760" cy="713232"/>
          </a:xfrm>
          <a:prstGeom prst="roundRect">
            <a:avLst>
              <a:gd name="adj" fmla="val 10256"/>
            </a:avLst>
          </a:prstGeom>
          <a:solidFill>
            <a:srgbClr val="EAF3FB"/>
          </a:solidFill>
          <a:ln w="8890">
            <a:solidFill>
              <a:srgbClr val="D8E1EA"/>
            </a:solidFill>
            <a:prstDash val="solid"/>
          </a:ln>
        </p:spPr>
        <p:txBody>
          <a:bodyPr/>
          <a:lstStyle/>
          <a:p>
            <a:endParaRPr lang="en-IN" sz="2800"/>
          </a:p>
        </p:txBody>
      </p:sp>
      <p:sp>
        <p:nvSpPr>
          <p:cNvPr id="13" name="Text 9"/>
          <p:cNvSpPr/>
          <p:nvPr/>
        </p:nvSpPr>
        <p:spPr>
          <a:xfrm>
            <a:off x="274320" y="3295252"/>
            <a:ext cx="1399032" cy="137160"/>
          </a:xfrm>
          <a:prstGeom prst="rect">
            <a:avLst/>
          </a:prstGeom>
          <a:noFill/>
          <a:ln/>
        </p:spPr>
        <p:txBody>
          <a:bodyPr wrap="square" lIns="508" tIns="508" rIns="508" bIns="508" rtlCol="0" anchor="ctr">
            <a:noAutofit/>
          </a:bodyPr>
          <a:lstStyle/>
          <a:p>
            <a:pPr marL="0" indent="0" algn="ctr">
              <a:buNone/>
            </a:pPr>
            <a:r>
              <a:rPr lang="en-US" sz="900" b="1">
                <a:solidFill>
                  <a:srgbClr val="3B4652"/>
                </a:solidFill>
                <a:latin typeface="Aptos" pitchFamily="34" charset="0"/>
                <a:ea typeface="Aptos" pitchFamily="34" charset="-122"/>
                <a:cs typeface="Aptos" pitchFamily="34" charset="-120"/>
              </a:rPr>
              <a:t>Customer records monitored</a:t>
            </a:r>
            <a:endParaRPr lang="en-US" sz="900"/>
          </a:p>
        </p:txBody>
      </p:sp>
      <p:sp>
        <p:nvSpPr>
          <p:cNvPr id="14" name="Text 10"/>
          <p:cNvSpPr/>
          <p:nvPr/>
        </p:nvSpPr>
        <p:spPr>
          <a:xfrm>
            <a:off x="274320" y="3551284"/>
            <a:ext cx="1399032" cy="201168"/>
          </a:xfrm>
          <a:prstGeom prst="rect">
            <a:avLst/>
          </a:prstGeom>
          <a:noFill/>
          <a:ln/>
        </p:spPr>
        <p:txBody>
          <a:bodyPr wrap="square" lIns="508" tIns="508" rIns="508" bIns="508" rtlCol="0" anchor="ctr">
            <a:noAutofit/>
          </a:bodyPr>
          <a:lstStyle/>
          <a:p>
            <a:pPr marL="0" indent="0" algn="ctr">
              <a:buNone/>
            </a:pPr>
            <a:r>
              <a:rPr lang="en-US" b="1">
                <a:solidFill>
                  <a:srgbClr val="00263E"/>
                </a:solidFill>
                <a:latin typeface="Aptos" pitchFamily="34" charset="0"/>
                <a:ea typeface="Aptos" pitchFamily="34" charset="-122"/>
                <a:cs typeface="Aptos" pitchFamily="34" charset="-120"/>
              </a:rPr>
              <a:t>25,000</a:t>
            </a:r>
            <a:endParaRPr lang="en-US"/>
          </a:p>
        </p:txBody>
      </p:sp>
      <p:sp>
        <p:nvSpPr>
          <p:cNvPr id="15" name="Shape 11"/>
          <p:cNvSpPr/>
          <p:nvPr/>
        </p:nvSpPr>
        <p:spPr>
          <a:xfrm>
            <a:off x="1956816" y="3203812"/>
            <a:ext cx="1874520" cy="713232"/>
          </a:xfrm>
          <a:prstGeom prst="roundRect">
            <a:avLst>
              <a:gd name="adj" fmla="val 10256"/>
            </a:avLst>
          </a:prstGeom>
          <a:solidFill>
            <a:srgbClr val="FFF2EA"/>
          </a:solidFill>
          <a:ln w="8890">
            <a:solidFill>
              <a:srgbClr val="D8E1EA"/>
            </a:solidFill>
            <a:prstDash val="solid"/>
          </a:ln>
        </p:spPr>
        <p:txBody>
          <a:bodyPr/>
          <a:lstStyle/>
          <a:p>
            <a:endParaRPr lang="en-IN" sz="2800"/>
          </a:p>
        </p:txBody>
      </p:sp>
      <p:sp>
        <p:nvSpPr>
          <p:cNvPr id="16" name="Text 12"/>
          <p:cNvSpPr/>
          <p:nvPr/>
        </p:nvSpPr>
        <p:spPr>
          <a:xfrm>
            <a:off x="2011680" y="3295252"/>
            <a:ext cx="1764792" cy="137160"/>
          </a:xfrm>
          <a:prstGeom prst="rect">
            <a:avLst/>
          </a:prstGeom>
          <a:noFill/>
          <a:ln/>
        </p:spPr>
        <p:txBody>
          <a:bodyPr wrap="square" lIns="508" tIns="508" rIns="508" bIns="508" rtlCol="0" anchor="ctr">
            <a:noAutofit/>
          </a:bodyPr>
          <a:lstStyle/>
          <a:p>
            <a:pPr marL="0" indent="0" algn="ctr">
              <a:buNone/>
            </a:pPr>
            <a:r>
              <a:rPr lang="en-US" sz="900" b="1">
                <a:solidFill>
                  <a:srgbClr val="3B4652"/>
                </a:solidFill>
                <a:latin typeface="Aptos" pitchFamily="34" charset="0"/>
                <a:ea typeface="Aptos" pitchFamily="34" charset="-122"/>
                <a:cs typeface="Aptos" pitchFamily="34" charset="-120"/>
              </a:rPr>
              <a:t>Complaint cases</a:t>
            </a:r>
            <a:endParaRPr lang="en-US" sz="900"/>
          </a:p>
        </p:txBody>
      </p:sp>
      <p:sp>
        <p:nvSpPr>
          <p:cNvPr id="17" name="Text 13"/>
          <p:cNvSpPr/>
          <p:nvPr/>
        </p:nvSpPr>
        <p:spPr>
          <a:xfrm>
            <a:off x="2011680" y="3551284"/>
            <a:ext cx="1764792" cy="201168"/>
          </a:xfrm>
          <a:prstGeom prst="rect">
            <a:avLst/>
          </a:prstGeom>
          <a:noFill/>
          <a:ln/>
        </p:spPr>
        <p:txBody>
          <a:bodyPr wrap="square" lIns="508" tIns="508" rIns="508" bIns="508" rtlCol="0" anchor="ctr">
            <a:noAutofit/>
          </a:bodyPr>
          <a:lstStyle/>
          <a:p>
            <a:pPr marL="0" indent="0" algn="ctr">
              <a:buNone/>
            </a:pPr>
            <a:r>
              <a:rPr lang="en-US" b="1">
                <a:solidFill>
                  <a:srgbClr val="E11D48"/>
                </a:solidFill>
                <a:latin typeface="Aptos" pitchFamily="34" charset="0"/>
                <a:ea typeface="Aptos" pitchFamily="34" charset="-122"/>
                <a:cs typeface="Aptos" pitchFamily="34" charset="-120"/>
              </a:rPr>
              <a:t>1,200 -&gt; 1,650</a:t>
            </a:r>
            <a:endParaRPr lang="en-US"/>
          </a:p>
        </p:txBody>
      </p:sp>
      <p:sp>
        <p:nvSpPr>
          <p:cNvPr id="18" name="Shape 14"/>
          <p:cNvSpPr/>
          <p:nvPr/>
        </p:nvSpPr>
        <p:spPr>
          <a:xfrm>
            <a:off x="4059936" y="3203812"/>
            <a:ext cx="1508760" cy="713232"/>
          </a:xfrm>
          <a:prstGeom prst="roundRect">
            <a:avLst>
              <a:gd name="adj" fmla="val 10256"/>
            </a:avLst>
          </a:prstGeom>
          <a:solidFill>
            <a:srgbClr val="FFF2EA"/>
          </a:solidFill>
          <a:ln w="8890">
            <a:solidFill>
              <a:srgbClr val="D8E1EA"/>
            </a:solidFill>
            <a:prstDash val="solid"/>
          </a:ln>
        </p:spPr>
        <p:txBody>
          <a:bodyPr/>
          <a:lstStyle/>
          <a:p>
            <a:endParaRPr lang="en-IN" sz="2800"/>
          </a:p>
        </p:txBody>
      </p:sp>
      <p:sp>
        <p:nvSpPr>
          <p:cNvPr id="19" name="Text 15"/>
          <p:cNvSpPr/>
          <p:nvPr/>
        </p:nvSpPr>
        <p:spPr>
          <a:xfrm>
            <a:off x="4114800" y="3295252"/>
            <a:ext cx="1399032" cy="137160"/>
          </a:xfrm>
          <a:prstGeom prst="rect">
            <a:avLst/>
          </a:prstGeom>
          <a:noFill/>
          <a:ln/>
        </p:spPr>
        <p:txBody>
          <a:bodyPr wrap="square" lIns="508" tIns="508" rIns="508" bIns="508" rtlCol="0" anchor="ctr">
            <a:noAutofit/>
          </a:bodyPr>
          <a:lstStyle/>
          <a:p>
            <a:pPr marL="0" indent="0" algn="ctr">
              <a:buNone/>
            </a:pPr>
            <a:r>
              <a:rPr lang="en-US" sz="900" b="1">
                <a:solidFill>
                  <a:srgbClr val="3B4652"/>
                </a:solidFill>
                <a:latin typeface="Aptos" pitchFamily="34" charset="0"/>
                <a:ea typeface="Aptos" pitchFamily="34" charset="-122"/>
                <a:cs typeface="Aptos" pitchFamily="34" charset="-120"/>
              </a:rPr>
              <a:t>Additional complaint cases</a:t>
            </a:r>
            <a:endParaRPr lang="en-US" sz="900"/>
          </a:p>
        </p:txBody>
      </p:sp>
      <p:sp>
        <p:nvSpPr>
          <p:cNvPr id="20" name="Text 16"/>
          <p:cNvSpPr/>
          <p:nvPr/>
        </p:nvSpPr>
        <p:spPr>
          <a:xfrm>
            <a:off x="4114800" y="3551284"/>
            <a:ext cx="1399032" cy="201168"/>
          </a:xfrm>
          <a:prstGeom prst="rect">
            <a:avLst/>
          </a:prstGeom>
          <a:noFill/>
          <a:ln/>
        </p:spPr>
        <p:txBody>
          <a:bodyPr wrap="square" lIns="508" tIns="508" rIns="508" bIns="508" rtlCol="0" anchor="ctr">
            <a:noAutofit/>
          </a:bodyPr>
          <a:lstStyle/>
          <a:p>
            <a:pPr marL="0" indent="0" algn="ctr">
              <a:buNone/>
            </a:pPr>
            <a:r>
              <a:rPr lang="en-US" b="1">
                <a:solidFill>
                  <a:srgbClr val="E11D48"/>
                </a:solidFill>
                <a:latin typeface="Aptos" pitchFamily="34" charset="0"/>
                <a:ea typeface="Aptos" pitchFamily="34" charset="-122"/>
                <a:cs typeface="Aptos" pitchFamily="34" charset="-120"/>
              </a:rPr>
              <a:t>+450</a:t>
            </a:r>
            <a:endParaRPr lang="en-US"/>
          </a:p>
        </p:txBody>
      </p:sp>
      <p:sp>
        <p:nvSpPr>
          <p:cNvPr id="21" name="Shape 17"/>
          <p:cNvSpPr/>
          <p:nvPr/>
        </p:nvSpPr>
        <p:spPr>
          <a:xfrm>
            <a:off x="5797296" y="3203812"/>
            <a:ext cx="1188720" cy="713232"/>
          </a:xfrm>
          <a:prstGeom prst="roundRect">
            <a:avLst>
              <a:gd name="adj" fmla="val 10256"/>
            </a:avLst>
          </a:prstGeom>
          <a:solidFill>
            <a:srgbClr val="FFF2EA"/>
          </a:solidFill>
          <a:ln w="8890">
            <a:solidFill>
              <a:srgbClr val="D8E1EA"/>
            </a:solidFill>
            <a:prstDash val="solid"/>
          </a:ln>
        </p:spPr>
        <p:txBody>
          <a:bodyPr/>
          <a:lstStyle/>
          <a:p>
            <a:endParaRPr lang="en-IN" sz="2800"/>
          </a:p>
        </p:txBody>
      </p:sp>
      <p:sp>
        <p:nvSpPr>
          <p:cNvPr id="22" name="Text 18"/>
          <p:cNvSpPr/>
          <p:nvPr/>
        </p:nvSpPr>
        <p:spPr>
          <a:xfrm>
            <a:off x="5852160" y="3295252"/>
            <a:ext cx="1078992" cy="137160"/>
          </a:xfrm>
          <a:prstGeom prst="rect">
            <a:avLst/>
          </a:prstGeom>
          <a:noFill/>
          <a:ln/>
        </p:spPr>
        <p:txBody>
          <a:bodyPr wrap="square" lIns="508" tIns="508" rIns="508" bIns="508" rtlCol="0" anchor="ctr">
            <a:noAutofit/>
          </a:bodyPr>
          <a:lstStyle/>
          <a:p>
            <a:pPr marL="0" indent="0" algn="ctr">
              <a:buNone/>
            </a:pPr>
            <a:r>
              <a:rPr lang="en-US" sz="900" b="1">
                <a:solidFill>
                  <a:srgbClr val="3B4652"/>
                </a:solidFill>
                <a:latin typeface="Aptos" pitchFamily="34" charset="0"/>
                <a:ea typeface="Aptos" pitchFamily="34" charset="-122"/>
                <a:cs typeface="Aptos" pitchFamily="34" charset="-120"/>
              </a:rPr>
              <a:t>Variance</a:t>
            </a:r>
            <a:endParaRPr lang="en-US" sz="900"/>
          </a:p>
        </p:txBody>
      </p:sp>
      <p:sp>
        <p:nvSpPr>
          <p:cNvPr id="23" name="Text 19"/>
          <p:cNvSpPr/>
          <p:nvPr/>
        </p:nvSpPr>
        <p:spPr>
          <a:xfrm>
            <a:off x="5852160" y="3551284"/>
            <a:ext cx="1078992" cy="201168"/>
          </a:xfrm>
          <a:prstGeom prst="rect">
            <a:avLst/>
          </a:prstGeom>
          <a:noFill/>
          <a:ln/>
        </p:spPr>
        <p:txBody>
          <a:bodyPr wrap="square" lIns="508" tIns="508" rIns="508" bIns="508" rtlCol="0" anchor="ctr">
            <a:noAutofit/>
          </a:bodyPr>
          <a:lstStyle/>
          <a:p>
            <a:pPr marL="0" indent="0" algn="ctr">
              <a:buNone/>
            </a:pPr>
            <a:r>
              <a:rPr lang="en-US" b="1">
                <a:solidFill>
                  <a:srgbClr val="E11D48"/>
                </a:solidFill>
                <a:latin typeface="Aptos" pitchFamily="34" charset="0"/>
                <a:ea typeface="Aptos" pitchFamily="34" charset="-122"/>
                <a:cs typeface="Aptos" pitchFamily="34" charset="-120"/>
              </a:rPr>
              <a:t>+37.5%</a:t>
            </a:r>
            <a:endParaRPr lang="en-US"/>
          </a:p>
        </p:txBody>
      </p:sp>
      <p:sp>
        <p:nvSpPr>
          <p:cNvPr id="24" name="Shape 20"/>
          <p:cNvSpPr/>
          <p:nvPr/>
        </p:nvSpPr>
        <p:spPr>
          <a:xfrm>
            <a:off x="219456" y="4429108"/>
            <a:ext cx="1280160" cy="713232"/>
          </a:xfrm>
          <a:prstGeom prst="roundRect">
            <a:avLst>
              <a:gd name="adj" fmla="val 10256"/>
            </a:avLst>
          </a:prstGeom>
          <a:solidFill>
            <a:srgbClr val="EAF3FB"/>
          </a:solidFill>
          <a:ln w="8890">
            <a:solidFill>
              <a:srgbClr val="D8E1EA"/>
            </a:solidFill>
            <a:prstDash val="solid"/>
          </a:ln>
        </p:spPr>
        <p:txBody>
          <a:bodyPr/>
          <a:lstStyle/>
          <a:p>
            <a:endParaRPr lang="en-IN" sz="2800"/>
          </a:p>
        </p:txBody>
      </p:sp>
      <p:sp>
        <p:nvSpPr>
          <p:cNvPr id="25" name="Text 21"/>
          <p:cNvSpPr/>
          <p:nvPr/>
        </p:nvSpPr>
        <p:spPr>
          <a:xfrm>
            <a:off x="274320" y="4520548"/>
            <a:ext cx="1170432" cy="137160"/>
          </a:xfrm>
          <a:prstGeom prst="rect">
            <a:avLst/>
          </a:prstGeom>
          <a:noFill/>
          <a:ln/>
        </p:spPr>
        <p:txBody>
          <a:bodyPr wrap="square" lIns="508" tIns="508" rIns="508" bIns="508" rtlCol="0" anchor="ctr">
            <a:noAutofit/>
          </a:bodyPr>
          <a:lstStyle/>
          <a:p>
            <a:pPr marL="0" indent="0" algn="ctr">
              <a:buNone/>
            </a:pPr>
            <a:r>
              <a:rPr lang="en-US" sz="900" b="1">
                <a:solidFill>
                  <a:srgbClr val="3B4652"/>
                </a:solidFill>
                <a:latin typeface="Aptos" pitchFamily="34" charset="0"/>
                <a:ea typeface="Aptos" pitchFamily="34" charset="-122"/>
                <a:cs typeface="Aptos" pitchFamily="34" charset="-120"/>
              </a:rPr>
              <a:t>Data sources</a:t>
            </a:r>
            <a:endParaRPr lang="en-US" sz="900"/>
          </a:p>
        </p:txBody>
      </p:sp>
      <p:sp>
        <p:nvSpPr>
          <p:cNvPr id="26" name="Text 22"/>
          <p:cNvSpPr/>
          <p:nvPr/>
        </p:nvSpPr>
        <p:spPr>
          <a:xfrm>
            <a:off x="274320" y="4776580"/>
            <a:ext cx="1170432" cy="201168"/>
          </a:xfrm>
          <a:prstGeom prst="rect">
            <a:avLst/>
          </a:prstGeom>
          <a:noFill/>
          <a:ln/>
        </p:spPr>
        <p:txBody>
          <a:bodyPr wrap="square" lIns="508" tIns="508" rIns="508" bIns="508" rtlCol="0" anchor="ctr">
            <a:noAutofit/>
          </a:bodyPr>
          <a:lstStyle/>
          <a:p>
            <a:pPr marL="0" indent="0" algn="ctr">
              <a:buNone/>
            </a:pPr>
            <a:r>
              <a:rPr lang="en-US" b="1">
                <a:solidFill>
                  <a:srgbClr val="00263E"/>
                </a:solidFill>
                <a:latin typeface="Aptos" pitchFamily="34" charset="0"/>
                <a:ea typeface="Aptos" pitchFamily="34" charset="-122"/>
                <a:cs typeface="Aptos" pitchFamily="34" charset="-120"/>
              </a:rPr>
              <a:t>9 tables</a:t>
            </a:r>
            <a:endParaRPr lang="en-US"/>
          </a:p>
        </p:txBody>
      </p:sp>
      <p:sp>
        <p:nvSpPr>
          <p:cNvPr id="27" name="Shape 23"/>
          <p:cNvSpPr/>
          <p:nvPr/>
        </p:nvSpPr>
        <p:spPr>
          <a:xfrm>
            <a:off x="1728216" y="4429108"/>
            <a:ext cx="1783080" cy="713232"/>
          </a:xfrm>
          <a:prstGeom prst="roundRect">
            <a:avLst>
              <a:gd name="adj" fmla="val 10256"/>
            </a:avLst>
          </a:prstGeom>
          <a:solidFill>
            <a:srgbClr val="EAF7EF"/>
          </a:solidFill>
          <a:ln w="8890">
            <a:solidFill>
              <a:srgbClr val="D8E1EA"/>
            </a:solidFill>
            <a:prstDash val="solid"/>
          </a:ln>
        </p:spPr>
        <p:txBody>
          <a:bodyPr/>
          <a:lstStyle/>
          <a:p>
            <a:endParaRPr lang="en-IN" sz="2800"/>
          </a:p>
        </p:txBody>
      </p:sp>
      <p:sp>
        <p:nvSpPr>
          <p:cNvPr id="28" name="Text 24"/>
          <p:cNvSpPr/>
          <p:nvPr/>
        </p:nvSpPr>
        <p:spPr>
          <a:xfrm>
            <a:off x="1783080" y="4520548"/>
            <a:ext cx="1673352" cy="137160"/>
          </a:xfrm>
          <a:prstGeom prst="rect">
            <a:avLst/>
          </a:prstGeom>
          <a:noFill/>
          <a:ln/>
        </p:spPr>
        <p:txBody>
          <a:bodyPr wrap="square" lIns="508" tIns="508" rIns="508" bIns="508" rtlCol="0" anchor="ctr">
            <a:noAutofit/>
          </a:bodyPr>
          <a:lstStyle/>
          <a:p>
            <a:pPr marL="0" indent="0" algn="ctr">
              <a:buNone/>
            </a:pPr>
            <a:r>
              <a:rPr lang="en-US" sz="900" b="1">
                <a:solidFill>
                  <a:srgbClr val="3B4652"/>
                </a:solidFill>
                <a:latin typeface="Aptos" pitchFamily="34" charset="0"/>
                <a:ea typeface="Aptos" pitchFamily="34" charset="-122"/>
                <a:cs typeface="Aptos" pitchFamily="34" charset="-120"/>
              </a:rPr>
              <a:t>Investigation workflow</a:t>
            </a:r>
            <a:endParaRPr lang="en-US" sz="900"/>
          </a:p>
        </p:txBody>
      </p:sp>
      <p:sp>
        <p:nvSpPr>
          <p:cNvPr id="29" name="Text 25"/>
          <p:cNvSpPr/>
          <p:nvPr/>
        </p:nvSpPr>
        <p:spPr>
          <a:xfrm>
            <a:off x="1783080" y="4776580"/>
            <a:ext cx="1673352" cy="201168"/>
          </a:xfrm>
          <a:prstGeom prst="rect">
            <a:avLst/>
          </a:prstGeom>
          <a:noFill/>
          <a:ln/>
        </p:spPr>
        <p:txBody>
          <a:bodyPr wrap="square" lIns="508" tIns="508" rIns="508" bIns="508" rtlCol="0" anchor="ctr">
            <a:noAutofit/>
          </a:bodyPr>
          <a:lstStyle/>
          <a:p>
            <a:pPr marL="0" indent="0" algn="ctr">
              <a:buNone/>
            </a:pPr>
            <a:r>
              <a:rPr lang="en-US" b="1">
                <a:solidFill>
                  <a:srgbClr val="16A34A"/>
                </a:solidFill>
                <a:latin typeface="Aptos" pitchFamily="34" charset="0"/>
                <a:ea typeface="Aptos" pitchFamily="34" charset="-122"/>
                <a:cs typeface="Aptos" pitchFamily="34" charset="-120"/>
              </a:rPr>
              <a:t>Hours → minutes*</a:t>
            </a:r>
            <a:endParaRPr lang="en-US"/>
          </a:p>
        </p:txBody>
      </p:sp>
      <p:sp>
        <p:nvSpPr>
          <p:cNvPr id="30" name="Shape 26"/>
          <p:cNvSpPr/>
          <p:nvPr/>
        </p:nvSpPr>
        <p:spPr>
          <a:xfrm>
            <a:off x="3739896" y="4429108"/>
            <a:ext cx="1463040" cy="713232"/>
          </a:xfrm>
          <a:prstGeom prst="roundRect">
            <a:avLst>
              <a:gd name="adj" fmla="val 10256"/>
            </a:avLst>
          </a:prstGeom>
          <a:solidFill>
            <a:srgbClr val="EAF7EF"/>
          </a:solidFill>
          <a:ln w="8890">
            <a:solidFill>
              <a:srgbClr val="D8E1EA"/>
            </a:solidFill>
            <a:prstDash val="solid"/>
          </a:ln>
        </p:spPr>
        <p:txBody>
          <a:bodyPr/>
          <a:lstStyle/>
          <a:p>
            <a:endParaRPr lang="en-IN" sz="2800"/>
          </a:p>
        </p:txBody>
      </p:sp>
      <p:sp>
        <p:nvSpPr>
          <p:cNvPr id="31" name="Text 27"/>
          <p:cNvSpPr/>
          <p:nvPr/>
        </p:nvSpPr>
        <p:spPr>
          <a:xfrm>
            <a:off x="3794760" y="4520548"/>
            <a:ext cx="1353312" cy="137160"/>
          </a:xfrm>
          <a:prstGeom prst="rect">
            <a:avLst/>
          </a:prstGeom>
          <a:noFill/>
          <a:ln/>
        </p:spPr>
        <p:txBody>
          <a:bodyPr wrap="square" lIns="508" tIns="508" rIns="508" bIns="508" rtlCol="0" anchor="ctr">
            <a:noAutofit/>
          </a:bodyPr>
          <a:lstStyle/>
          <a:p>
            <a:pPr marL="0" indent="0" algn="ctr">
              <a:buNone/>
            </a:pPr>
            <a:r>
              <a:rPr lang="en-US" sz="900" b="1">
                <a:solidFill>
                  <a:srgbClr val="3B4652"/>
                </a:solidFill>
                <a:latin typeface="Aptos" pitchFamily="34" charset="0"/>
                <a:ea typeface="Aptos" pitchFamily="34" charset="-122"/>
                <a:cs typeface="Aptos" pitchFamily="34" charset="-120"/>
              </a:rPr>
              <a:t>AI investigation</a:t>
            </a:r>
            <a:endParaRPr lang="en-US" sz="900"/>
          </a:p>
        </p:txBody>
      </p:sp>
      <p:sp>
        <p:nvSpPr>
          <p:cNvPr id="32" name="Text 28"/>
          <p:cNvSpPr/>
          <p:nvPr/>
        </p:nvSpPr>
        <p:spPr>
          <a:xfrm>
            <a:off x="3794760" y="4776580"/>
            <a:ext cx="1353312" cy="201168"/>
          </a:xfrm>
          <a:prstGeom prst="rect">
            <a:avLst/>
          </a:prstGeom>
          <a:noFill/>
          <a:ln/>
        </p:spPr>
        <p:txBody>
          <a:bodyPr wrap="square" lIns="508" tIns="508" rIns="508" bIns="508" rtlCol="0" anchor="ctr">
            <a:noAutofit/>
          </a:bodyPr>
          <a:lstStyle/>
          <a:p>
            <a:pPr marL="0" indent="0" algn="ctr">
              <a:buNone/>
            </a:pPr>
            <a:r>
              <a:rPr lang="en-US" b="1">
                <a:solidFill>
                  <a:srgbClr val="16A34A"/>
                </a:solidFill>
                <a:latin typeface="Aptos" pitchFamily="34" charset="0"/>
                <a:ea typeface="Aptos" pitchFamily="34" charset="-122"/>
                <a:cs typeface="Aptos" pitchFamily="34" charset="-120"/>
              </a:rPr>
              <a:t>Hypothesis-driven</a:t>
            </a:r>
            <a:endParaRPr lang="en-US"/>
          </a:p>
        </p:txBody>
      </p:sp>
      <p:sp>
        <p:nvSpPr>
          <p:cNvPr id="33" name="Shape 29"/>
          <p:cNvSpPr/>
          <p:nvPr/>
        </p:nvSpPr>
        <p:spPr>
          <a:xfrm>
            <a:off x="5431536" y="4429108"/>
            <a:ext cx="1188720" cy="713232"/>
          </a:xfrm>
          <a:prstGeom prst="roundRect">
            <a:avLst>
              <a:gd name="adj" fmla="val 10256"/>
            </a:avLst>
          </a:prstGeom>
          <a:solidFill>
            <a:srgbClr val="EAF7EF"/>
          </a:solidFill>
          <a:ln w="8890">
            <a:solidFill>
              <a:srgbClr val="D8E1EA"/>
            </a:solidFill>
            <a:prstDash val="solid"/>
          </a:ln>
        </p:spPr>
        <p:txBody>
          <a:bodyPr/>
          <a:lstStyle/>
          <a:p>
            <a:endParaRPr lang="en-IN" sz="2800"/>
          </a:p>
        </p:txBody>
      </p:sp>
      <p:sp>
        <p:nvSpPr>
          <p:cNvPr id="34" name="Text 30"/>
          <p:cNvSpPr/>
          <p:nvPr/>
        </p:nvSpPr>
        <p:spPr>
          <a:xfrm>
            <a:off x="5486400" y="4520548"/>
            <a:ext cx="1078992" cy="137160"/>
          </a:xfrm>
          <a:prstGeom prst="rect">
            <a:avLst/>
          </a:prstGeom>
          <a:noFill/>
          <a:ln/>
        </p:spPr>
        <p:txBody>
          <a:bodyPr wrap="square" lIns="508" tIns="508" rIns="508" bIns="508" rtlCol="0" anchor="ctr">
            <a:noAutofit/>
          </a:bodyPr>
          <a:lstStyle/>
          <a:p>
            <a:pPr marL="0" indent="0" algn="ctr">
              <a:buNone/>
            </a:pPr>
            <a:r>
              <a:rPr lang="en-US" sz="900" b="1">
                <a:solidFill>
                  <a:srgbClr val="3B4652"/>
                </a:solidFill>
                <a:latin typeface="Aptos" pitchFamily="34" charset="0"/>
                <a:ea typeface="Aptos" pitchFamily="34" charset="-122"/>
                <a:cs typeface="Aptos" pitchFamily="34" charset="-120"/>
              </a:rPr>
              <a:t>Decision output</a:t>
            </a:r>
            <a:endParaRPr lang="en-US" sz="900"/>
          </a:p>
        </p:txBody>
      </p:sp>
      <p:sp>
        <p:nvSpPr>
          <p:cNvPr id="35" name="Text 31"/>
          <p:cNvSpPr/>
          <p:nvPr/>
        </p:nvSpPr>
        <p:spPr>
          <a:xfrm>
            <a:off x="5486400" y="4776580"/>
            <a:ext cx="1078992" cy="201168"/>
          </a:xfrm>
          <a:prstGeom prst="rect">
            <a:avLst/>
          </a:prstGeom>
          <a:noFill/>
          <a:ln/>
        </p:spPr>
        <p:txBody>
          <a:bodyPr wrap="square" lIns="508" tIns="508" rIns="508" bIns="508" rtlCol="0" anchor="ctr">
            <a:noAutofit/>
          </a:bodyPr>
          <a:lstStyle/>
          <a:p>
            <a:pPr marL="0" indent="0" algn="ctr">
              <a:buNone/>
            </a:pPr>
            <a:r>
              <a:rPr lang="en-US" b="1">
                <a:solidFill>
                  <a:srgbClr val="16A34A"/>
                </a:solidFill>
                <a:latin typeface="Aptos" pitchFamily="34" charset="0"/>
                <a:ea typeface="Aptos" pitchFamily="34" charset="-122"/>
                <a:cs typeface="Aptos" pitchFamily="34" charset="-120"/>
              </a:rPr>
              <a:t>Root cause + actions</a:t>
            </a:r>
            <a:endParaRPr lang="en-US"/>
          </a:p>
        </p:txBody>
      </p:sp>
      <p:sp>
        <p:nvSpPr>
          <p:cNvPr id="36" name="Shape 32"/>
          <p:cNvSpPr/>
          <p:nvPr/>
        </p:nvSpPr>
        <p:spPr>
          <a:xfrm>
            <a:off x="7597139" y="4489378"/>
            <a:ext cx="4462272" cy="1115568"/>
          </a:xfrm>
          <a:prstGeom prst="roundRect">
            <a:avLst>
              <a:gd name="adj" fmla="val 6557"/>
            </a:avLst>
          </a:prstGeom>
          <a:solidFill>
            <a:srgbClr val="00263E"/>
          </a:solidFill>
          <a:ln w="8890">
            <a:solidFill>
              <a:srgbClr val="D8E1EA"/>
            </a:solidFill>
            <a:prstDash val="solid"/>
          </a:ln>
          <a:effectLst>
            <a:outerShdw blurRad="12700" dist="7620" dir="2700000" algn="bl" rotWithShape="0">
              <a:srgbClr val="000000">
                <a:alpha val="12000"/>
              </a:srgbClr>
            </a:outerShdw>
          </a:effectLst>
        </p:spPr>
        <p:txBody>
          <a:bodyPr/>
          <a:lstStyle/>
          <a:p>
            <a:endParaRPr lang="en-IN" sz="2800"/>
          </a:p>
        </p:txBody>
      </p:sp>
      <p:sp>
        <p:nvSpPr>
          <p:cNvPr id="37" name="Text 33"/>
          <p:cNvSpPr/>
          <p:nvPr/>
        </p:nvSpPr>
        <p:spPr>
          <a:xfrm>
            <a:off x="7825739" y="4690546"/>
            <a:ext cx="1463040" cy="128016"/>
          </a:xfrm>
          <a:prstGeom prst="rect">
            <a:avLst/>
          </a:prstGeom>
          <a:noFill/>
          <a:ln/>
        </p:spPr>
        <p:txBody>
          <a:bodyPr wrap="square" lIns="508" tIns="508" rIns="508" bIns="508" rtlCol="0" anchor="ctr">
            <a:noAutofit/>
          </a:bodyPr>
          <a:lstStyle/>
          <a:p>
            <a:pPr marL="0" indent="0" algn="l">
              <a:buNone/>
            </a:pPr>
            <a:r>
              <a:rPr lang="en-US" sz="1100" b="1">
                <a:solidFill>
                  <a:srgbClr val="FB4D0A"/>
                </a:solidFill>
                <a:latin typeface="Aptos" pitchFamily="34" charset="0"/>
                <a:ea typeface="Aptos" pitchFamily="34" charset="-122"/>
                <a:cs typeface="Aptos" pitchFamily="34" charset="-120"/>
              </a:rPr>
              <a:t>JUDGE TAKEAWAY</a:t>
            </a:r>
            <a:endParaRPr lang="en-US" sz="1100"/>
          </a:p>
        </p:txBody>
      </p:sp>
      <p:sp>
        <p:nvSpPr>
          <p:cNvPr id="38" name="Text 34"/>
          <p:cNvSpPr/>
          <p:nvPr/>
        </p:nvSpPr>
        <p:spPr>
          <a:xfrm>
            <a:off x="7825738" y="4983153"/>
            <a:ext cx="4006597" cy="475487"/>
          </a:xfrm>
          <a:prstGeom prst="rect">
            <a:avLst/>
          </a:prstGeom>
          <a:noFill/>
          <a:ln/>
        </p:spPr>
        <p:txBody>
          <a:bodyPr wrap="square" lIns="508" tIns="508" rIns="508" bIns="508" rtlCol="0" anchor="ctr">
            <a:normAutofit lnSpcReduction="10000"/>
          </a:bodyPr>
          <a:lstStyle/>
          <a:p>
            <a:pPr marL="0" indent="0" algn="l">
              <a:buNone/>
            </a:pPr>
            <a:r>
              <a:rPr lang="en-US" sz="1050" b="1">
                <a:solidFill>
                  <a:srgbClr val="FFFFFF"/>
                </a:solidFill>
                <a:latin typeface="Aptos" pitchFamily="34" charset="0"/>
                <a:ea typeface="Aptos" pitchFamily="34" charset="-122"/>
                <a:cs typeface="Aptos" pitchFamily="34" charset="-120"/>
              </a:rPr>
              <a:t>This is not report summarization. The AI agent investigates the KPI movement, evaluates evidence, identifies the most likely driver, and converts the finding into business actions.</a:t>
            </a:r>
            <a:endParaRPr lang="en-US" sz="1050"/>
          </a:p>
        </p:txBody>
      </p:sp>
      <p:sp>
        <p:nvSpPr>
          <p:cNvPr id="39" name="Rounded Rectangle 38"/>
          <p:cNvSpPr/>
          <p:nvPr/>
        </p:nvSpPr>
        <p:spPr>
          <a:xfrm>
            <a:off x="7372023" y="1399031"/>
            <a:ext cx="4526280" cy="2645409"/>
          </a:xfrm>
          <a:prstGeom prst="roundRect">
            <a:avLst/>
          </a:prstGeom>
          <a:solidFill>
            <a:srgbClr val="FFFFFF"/>
          </a:solidFill>
          <a:ln w="889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554903" y="1554480"/>
            <a:ext cx="3291840" cy="146304"/>
          </a:xfrm>
          <a:prstGeom prst="rect">
            <a:avLst/>
          </a:prstGeom>
          <a:noFill/>
        </p:spPr>
        <p:txBody>
          <a:bodyPr wrap="none" lIns="36576" tIns="18288" rIns="36576" bIns="18288">
            <a:spAutoFit/>
          </a:bodyPr>
          <a:lstStyle/>
          <a:p>
            <a:r>
              <a:rPr sz="850" b="1">
                <a:solidFill>
                  <a:srgbClr val="FB4D0A"/>
                </a:solidFill>
                <a:latin typeface="Aptos Display"/>
              </a:rPr>
              <a:t>Complaint trend after AI adoption</a:t>
            </a:r>
          </a:p>
        </p:txBody>
      </p:sp>
      <p:graphicFrame>
        <p:nvGraphicFramePr>
          <p:cNvPr id="41" name="Chart 40"/>
          <p:cNvGraphicFramePr>
            <a:graphicFrameLocks noGrp="1"/>
          </p:cNvGraphicFramePr>
          <p:nvPr>
            <p:extLst>
              <p:ext uri="{D42A27DB-BD31-4B8C-83A1-F6EECF244321}">
                <p14:modId xmlns:p14="http://schemas.microsoft.com/office/powerpoint/2010/main" val="3120986885"/>
              </p:ext>
            </p:extLst>
          </p:nvPr>
        </p:nvGraphicFramePr>
        <p:xfrm>
          <a:off x="7554903" y="1837944"/>
          <a:ext cx="4069080" cy="1967740"/>
        </p:xfrm>
        <a:graphic>
          <a:graphicData uri="http://schemas.openxmlformats.org/drawingml/2006/chart">
            <c:chart xmlns:c="http://schemas.openxmlformats.org/drawingml/2006/chart" xmlns:r="http://schemas.openxmlformats.org/officeDocument/2006/relationships" r:id="rId4"/>
          </a:graphicData>
        </a:graphic>
      </p:graphicFrame>
      <p:sp>
        <p:nvSpPr>
          <p:cNvPr id="42" name="TextBox 41"/>
          <p:cNvSpPr txBox="1"/>
          <p:nvPr/>
        </p:nvSpPr>
        <p:spPr>
          <a:xfrm>
            <a:off x="7829223" y="3838700"/>
            <a:ext cx="3983591" cy="144655"/>
          </a:xfrm>
          <a:prstGeom prst="rect">
            <a:avLst/>
          </a:prstGeom>
          <a:noFill/>
        </p:spPr>
        <p:txBody>
          <a:bodyPr wrap="none" lIns="36576" tIns="18288" rIns="36576" bIns="18288">
            <a:spAutoFit/>
          </a:bodyPr>
          <a:lstStyle/>
          <a:p>
            <a:r>
              <a:rPr sz="700" b="0">
                <a:solidFill>
                  <a:srgbClr val="3B4652"/>
                </a:solidFill>
                <a:latin typeface="Aptos"/>
              </a:rPr>
              <a:t>Illustrative only — the PoC demonstrates the investigation workflow, not post-deployment KPI improvement.</a:t>
            </a:r>
          </a:p>
        </p:txBody>
      </p:sp>
      <p:sp>
        <p:nvSpPr>
          <p:cNvPr id="2" name="TextBox 1">
            <a:extLst>
              <a:ext uri="{FF2B5EF4-FFF2-40B4-BE49-F238E27FC236}">
                <a16:creationId xmlns:a16="http://schemas.microsoft.com/office/drawing/2014/main" id="{6E44A102-5B1A-2990-AC30-04A59C236AC0}"/>
              </a:ext>
            </a:extLst>
          </p:cNvPr>
          <p:cNvSpPr txBox="1"/>
          <p:nvPr/>
        </p:nvSpPr>
        <p:spPr>
          <a:xfrm>
            <a:off x="641835" y="388181"/>
            <a:ext cx="5158594" cy="8299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t>An AI investigator that turns KPI movements into evidence-backed decisions.</a:t>
            </a:r>
            <a:endParaRPr lang="en-US" sz="1100"/>
          </a:p>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C4AF4-CE1A-C886-E956-04DC45E06ED5}"/>
            </a:ext>
          </a:extLst>
        </p:cNvPr>
        <p:cNvGrpSpPr/>
        <p:nvPr/>
      </p:nvGrpSpPr>
      <p:grpSpPr>
        <a:xfrm>
          <a:off x="0" y="0"/>
          <a:ext cx="1" cy="1"/>
          <a:chOff x="0" y="0"/>
          <a:chExt cx="1" cy="1"/>
        </a:xfrm>
      </p:grpSpPr>
      <p:sp>
        <p:nvSpPr>
          <p:cNvPr id="2" name="Rectangle 1">
            <a:extLst>
              <a:ext uri="{FF2B5EF4-FFF2-40B4-BE49-F238E27FC236}">
                <a16:creationId xmlns:a16="http://schemas.microsoft.com/office/drawing/2014/main" id="{C971D21D-2A17-CE1E-C9CB-8A6F9311A5DE}"/>
              </a:ext>
            </a:extLst>
          </p:cNvPr>
          <p:cNvSpPr/>
          <p:nvPr/>
        </p:nvSpPr>
        <p:spPr>
          <a:xfrm>
            <a:off x="0" y="0"/>
            <a:ext cx="12192000" cy="0"/>
          </a:xfrm>
          <a:prstGeom prst="rect">
            <a:avLst/>
          </a:prstGeom>
          <a:solidFill>
            <a:srgbClr val="FB4D0A"/>
          </a:solidFill>
          <a:ln>
            <a:solidFill>
              <a:srgbClr val="FB4D0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a:extLst>
              <a:ext uri="{FF2B5EF4-FFF2-40B4-BE49-F238E27FC236}">
                <a16:creationId xmlns:a16="http://schemas.microsoft.com/office/drawing/2014/main" id="{32D4BC07-A9F8-537D-C83F-DEFDEEA942BE}"/>
              </a:ext>
            </a:extLst>
          </p:cNvPr>
          <p:cNvSpPr/>
          <p:nvPr/>
        </p:nvSpPr>
        <p:spPr>
          <a:xfrm>
            <a:off x="320040" y="932688"/>
            <a:ext cx="11521440" cy="530352"/>
          </a:xfrm>
          <a:prstGeom prst="roundRect">
            <a:avLst/>
          </a:prstGeom>
          <a:solidFill>
            <a:srgbClr val="FFF2EA"/>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91FE627F-0D95-5E41-07DB-F297E531F5F9}"/>
              </a:ext>
            </a:extLst>
          </p:cNvPr>
          <p:cNvSpPr txBox="1"/>
          <p:nvPr/>
        </p:nvSpPr>
        <p:spPr>
          <a:xfrm>
            <a:off x="548640" y="1115568"/>
            <a:ext cx="8961120" cy="146304"/>
          </a:xfrm>
          <a:prstGeom prst="rect">
            <a:avLst/>
          </a:prstGeom>
          <a:noFill/>
        </p:spPr>
        <p:txBody>
          <a:bodyPr wrap="none" lIns="36576" tIns="18288" rIns="36576" bIns="18288">
            <a:spAutoFit/>
          </a:bodyPr>
          <a:lstStyle/>
          <a:p>
            <a:r>
              <a:rPr sz="1200" b="1">
                <a:solidFill>
                  <a:srgbClr val="00263E"/>
                </a:solidFill>
                <a:latin typeface="Aptos Display"/>
              </a:rPr>
              <a:t>Technical Architecture: From KPI deviation to evidence-backed action</a:t>
            </a:r>
          </a:p>
        </p:txBody>
      </p:sp>
      <p:sp>
        <p:nvSpPr>
          <p:cNvPr id="9" name="Rounded Rectangle 8">
            <a:extLst>
              <a:ext uri="{FF2B5EF4-FFF2-40B4-BE49-F238E27FC236}">
                <a16:creationId xmlns:a16="http://schemas.microsoft.com/office/drawing/2014/main" id="{E28915FB-6944-E08F-59B1-9C205DE9C991}"/>
              </a:ext>
            </a:extLst>
          </p:cNvPr>
          <p:cNvSpPr/>
          <p:nvPr/>
        </p:nvSpPr>
        <p:spPr>
          <a:xfrm>
            <a:off x="384048" y="1874519"/>
            <a:ext cx="1600200" cy="1874519"/>
          </a:xfrm>
          <a:prstGeom prst="roundRect">
            <a:avLst/>
          </a:prstGeom>
          <a:solidFill>
            <a:srgbClr val="EAF3FB"/>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 name="Oval 9">
            <a:extLst>
              <a:ext uri="{FF2B5EF4-FFF2-40B4-BE49-F238E27FC236}">
                <a16:creationId xmlns:a16="http://schemas.microsoft.com/office/drawing/2014/main" id="{14BE8E6B-0837-E890-9298-E019B03FC90C}"/>
              </a:ext>
            </a:extLst>
          </p:cNvPr>
          <p:cNvSpPr/>
          <p:nvPr/>
        </p:nvSpPr>
        <p:spPr>
          <a:xfrm>
            <a:off x="978408" y="2057400"/>
            <a:ext cx="384048" cy="384048"/>
          </a:xfrm>
          <a:prstGeom prst="ellipse">
            <a:avLst/>
          </a:prstGeom>
          <a:solidFill>
            <a:srgbClr val="00263E"/>
          </a:solidFill>
          <a:ln>
            <a:solidFill>
              <a:srgbClr val="002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1" name="TextBox 10">
            <a:extLst>
              <a:ext uri="{FF2B5EF4-FFF2-40B4-BE49-F238E27FC236}">
                <a16:creationId xmlns:a16="http://schemas.microsoft.com/office/drawing/2014/main" id="{AB77B883-47C1-3FE1-8EC5-9B6BAAED6E52}"/>
              </a:ext>
            </a:extLst>
          </p:cNvPr>
          <p:cNvSpPr txBox="1"/>
          <p:nvPr/>
        </p:nvSpPr>
        <p:spPr>
          <a:xfrm>
            <a:off x="1099034" y="2176272"/>
            <a:ext cx="142796" cy="190821"/>
          </a:xfrm>
          <a:prstGeom prst="rect">
            <a:avLst/>
          </a:prstGeom>
          <a:noFill/>
        </p:spPr>
        <p:txBody>
          <a:bodyPr wrap="none" lIns="36576" tIns="18288" rIns="36576" bIns="18288">
            <a:spAutoFit/>
          </a:bodyPr>
          <a:lstStyle/>
          <a:p>
            <a:pPr algn="ctr"/>
            <a:r>
              <a:rPr sz="1000" b="1">
                <a:solidFill>
                  <a:srgbClr val="FFFFFF"/>
                </a:solidFill>
                <a:latin typeface="Aptos"/>
              </a:rPr>
              <a:t>1</a:t>
            </a:r>
          </a:p>
        </p:txBody>
      </p:sp>
      <p:sp>
        <p:nvSpPr>
          <p:cNvPr id="12" name="TextBox 11">
            <a:extLst>
              <a:ext uri="{FF2B5EF4-FFF2-40B4-BE49-F238E27FC236}">
                <a16:creationId xmlns:a16="http://schemas.microsoft.com/office/drawing/2014/main" id="{69A1B857-BC9F-5CBC-224C-95F5B0CC4C37}"/>
              </a:ext>
            </a:extLst>
          </p:cNvPr>
          <p:cNvSpPr txBox="1"/>
          <p:nvPr/>
        </p:nvSpPr>
        <p:spPr>
          <a:xfrm>
            <a:off x="539917" y="2532888"/>
            <a:ext cx="1279326" cy="190821"/>
          </a:xfrm>
          <a:prstGeom prst="rect">
            <a:avLst/>
          </a:prstGeom>
          <a:noFill/>
        </p:spPr>
        <p:txBody>
          <a:bodyPr wrap="none" lIns="36576" tIns="18288" rIns="36576" bIns="18288">
            <a:spAutoFit/>
          </a:bodyPr>
          <a:lstStyle/>
          <a:p>
            <a:pPr algn="ctr"/>
            <a:r>
              <a:rPr lang="en-US" sz="1000" b="1">
                <a:solidFill>
                  <a:srgbClr val="00263E"/>
                </a:solidFill>
                <a:latin typeface="Aptos"/>
              </a:rPr>
              <a:t>KPI Trend Monitoring</a:t>
            </a:r>
            <a:endParaRPr sz="1000" b="1">
              <a:solidFill>
                <a:srgbClr val="00263E"/>
              </a:solidFill>
              <a:latin typeface="Aptos"/>
            </a:endParaRPr>
          </a:p>
        </p:txBody>
      </p:sp>
      <p:sp>
        <p:nvSpPr>
          <p:cNvPr id="13" name="TextBox 12">
            <a:extLst>
              <a:ext uri="{FF2B5EF4-FFF2-40B4-BE49-F238E27FC236}">
                <a16:creationId xmlns:a16="http://schemas.microsoft.com/office/drawing/2014/main" id="{2DB8BAA0-37E8-0D8B-377F-0C5BA376C79C}"/>
              </a:ext>
            </a:extLst>
          </p:cNvPr>
          <p:cNvSpPr txBox="1"/>
          <p:nvPr/>
        </p:nvSpPr>
        <p:spPr>
          <a:xfrm>
            <a:off x="434340" y="2930180"/>
            <a:ext cx="1549908" cy="806375"/>
          </a:xfrm>
          <a:prstGeom prst="rect">
            <a:avLst/>
          </a:prstGeom>
          <a:noFill/>
        </p:spPr>
        <p:txBody>
          <a:bodyPr wrap="square" lIns="36576" tIns="18288" rIns="36576" bIns="18288">
            <a:spAutoFit/>
          </a:bodyPr>
          <a:lstStyle/>
          <a:p>
            <a:pPr marL="171450" indent="-171450">
              <a:buFont typeface="Arial" panose="020B0604020202020204" pitchFamily="34" charset="0"/>
              <a:buChar char="•"/>
            </a:pPr>
            <a:r>
              <a:rPr lang="en-US" sz="1000">
                <a:solidFill>
                  <a:srgbClr val="3B4652"/>
                </a:solidFill>
                <a:latin typeface="Aptos" pitchFamily="34" charset="0"/>
              </a:rPr>
              <a:t>Analyze KPI trends over time.</a:t>
            </a:r>
          </a:p>
          <a:p>
            <a:pPr marL="171450" indent="-171450">
              <a:buFont typeface="Arial" panose="020B0604020202020204" pitchFamily="34" charset="0"/>
              <a:buChar char="•"/>
            </a:pPr>
            <a:r>
              <a:rPr lang="en-US" sz="1000">
                <a:solidFill>
                  <a:srgbClr val="3B4652"/>
                </a:solidFill>
                <a:latin typeface="Aptos" pitchFamily="34" charset="0"/>
              </a:rPr>
              <a:t>Flags significant deviations automatically.</a:t>
            </a:r>
          </a:p>
        </p:txBody>
      </p:sp>
      <p:sp>
        <p:nvSpPr>
          <p:cNvPr id="15" name="Rounded Rectangle 14">
            <a:extLst>
              <a:ext uri="{FF2B5EF4-FFF2-40B4-BE49-F238E27FC236}">
                <a16:creationId xmlns:a16="http://schemas.microsoft.com/office/drawing/2014/main" id="{98D5CEBB-4CEC-0C19-EFFD-DC05CA646DED}"/>
              </a:ext>
            </a:extLst>
          </p:cNvPr>
          <p:cNvSpPr/>
          <p:nvPr/>
        </p:nvSpPr>
        <p:spPr>
          <a:xfrm>
            <a:off x="2286000" y="1874519"/>
            <a:ext cx="1600200" cy="1874519"/>
          </a:xfrm>
          <a:prstGeom prst="roundRect">
            <a:avLst/>
          </a:prstGeom>
          <a:solidFill>
            <a:srgbClr val="FFFFFF"/>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6" name="Oval 15">
            <a:extLst>
              <a:ext uri="{FF2B5EF4-FFF2-40B4-BE49-F238E27FC236}">
                <a16:creationId xmlns:a16="http://schemas.microsoft.com/office/drawing/2014/main" id="{91021DFF-3839-84C3-AC8B-7BAC0CD0B73C}"/>
              </a:ext>
            </a:extLst>
          </p:cNvPr>
          <p:cNvSpPr/>
          <p:nvPr/>
        </p:nvSpPr>
        <p:spPr>
          <a:xfrm>
            <a:off x="2880360" y="2057400"/>
            <a:ext cx="384048" cy="384048"/>
          </a:xfrm>
          <a:prstGeom prst="ellipse">
            <a:avLst/>
          </a:prstGeom>
          <a:solidFill>
            <a:srgbClr val="00263E"/>
          </a:solidFill>
          <a:ln>
            <a:solidFill>
              <a:srgbClr val="002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7" name="TextBox 16">
            <a:extLst>
              <a:ext uri="{FF2B5EF4-FFF2-40B4-BE49-F238E27FC236}">
                <a16:creationId xmlns:a16="http://schemas.microsoft.com/office/drawing/2014/main" id="{42E9766A-469F-E1AF-B44B-0C9CAC7AE51F}"/>
              </a:ext>
            </a:extLst>
          </p:cNvPr>
          <p:cNvSpPr txBox="1"/>
          <p:nvPr/>
        </p:nvSpPr>
        <p:spPr>
          <a:xfrm>
            <a:off x="3000986" y="2176272"/>
            <a:ext cx="142796" cy="190821"/>
          </a:xfrm>
          <a:prstGeom prst="rect">
            <a:avLst/>
          </a:prstGeom>
          <a:noFill/>
        </p:spPr>
        <p:txBody>
          <a:bodyPr wrap="none" lIns="36576" tIns="18288" rIns="36576" bIns="18288">
            <a:spAutoFit/>
          </a:bodyPr>
          <a:lstStyle/>
          <a:p>
            <a:pPr algn="ctr"/>
            <a:r>
              <a:rPr sz="1000" b="1">
                <a:solidFill>
                  <a:srgbClr val="FFFFFF"/>
                </a:solidFill>
                <a:latin typeface="Aptos"/>
              </a:rPr>
              <a:t>2</a:t>
            </a:r>
          </a:p>
        </p:txBody>
      </p:sp>
      <p:sp>
        <p:nvSpPr>
          <p:cNvPr id="18" name="TextBox 17">
            <a:extLst>
              <a:ext uri="{FF2B5EF4-FFF2-40B4-BE49-F238E27FC236}">
                <a16:creationId xmlns:a16="http://schemas.microsoft.com/office/drawing/2014/main" id="{D76AED17-D0CA-9110-D03A-B5FFE172E8AE}"/>
              </a:ext>
            </a:extLst>
          </p:cNvPr>
          <p:cNvSpPr txBox="1"/>
          <p:nvPr/>
        </p:nvSpPr>
        <p:spPr>
          <a:xfrm>
            <a:off x="2287978" y="2532888"/>
            <a:ext cx="1587101" cy="344710"/>
          </a:xfrm>
          <a:prstGeom prst="rect">
            <a:avLst/>
          </a:prstGeom>
          <a:noFill/>
        </p:spPr>
        <p:txBody>
          <a:bodyPr wrap="none" lIns="36576" tIns="18288" rIns="36576" bIns="18288">
            <a:spAutoFit/>
          </a:bodyPr>
          <a:lstStyle/>
          <a:p>
            <a:pPr algn="ctr"/>
            <a:r>
              <a:rPr lang="fr-FR" sz="1000" b="1">
                <a:solidFill>
                  <a:srgbClr val="00263E"/>
                </a:solidFill>
              </a:rPr>
              <a:t>KPI Deviation Detection &amp; </a:t>
            </a:r>
          </a:p>
          <a:p>
            <a:pPr algn="ctr"/>
            <a:r>
              <a:rPr lang="fr-FR" sz="1000" b="1">
                <a:solidFill>
                  <a:srgbClr val="00263E"/>
                </a:solidFill>
              </a:rPr>
              <a:t>Investigation Portal</a:t>
            </a:r>
            <a:endParaRPr sz="1000" b="1">
              <a:solidFill>
                <a:srgbClr val="00263E"/>
              </a:solidFill>
              <a:latin typeface="Aptos"/>
            </a:endParaRPr>
          </a:p>
        </p:txBody>
      </p:sp>
      <p:sp>
        <p:nvSpPr>
          <p:cNvPr id="19" name="TextBox 18">
            <a:extLst>
              <a:ext uri="{FF2B5EF4-FFF2-40B4-BE49-F238E27FC236}">
                <a16:creationId xmlns:a16="http://schemas.microsoft.com/office/drawing/2014/main" id="{AAAE9B67-94F2-AF00-C80F-AD230E4F0A8A}"/>
              </a:ext>
            </a:extLst>
          </p:cNvPr>
          <p:cNvSpPr txBox="1"/>
          <p:nvPr/>
        </p:nvSpPr>
        <p:spPr>
          <a:xfrm>
            <a:off x="2487168" y="2926080"/>
            <a:ext cx="1417320" cy="806375"/>
          </a:xfrm>
          <a:prstGeom prst="rect">
            <a:avLst/>
          </a:prstGeom>
          <a:noFill/>
        </p:spPr>
        <p:txBody>
          <a:bodyPr wrap="square" lIns="36576" tIns="18288" rIns="36576" bIns="18288">
            <a:spAutoFit/>
          </a:bodyPr>
          <a:lstStyle/>
          <a:p>
            <a:pPr marL="171450" indent="-171450">
              <a:buFont typeface="Arial" panose="020B0604020202020204" pitchFamily="34" charset="0"/>
              <a:buChar char="•"/>
            </a:pPr>
            <a:r>
              <a:rPr lang="en-US" sz="1000">
                <a:solidFill>
                  <a:srgbClr val="3B4652"/>
                </a:solidFill>
              </a:rPr>
              <a:t>Detect KPI deviation</a:t>
            </a:r>
          </a:p>
          <a:p>
            <a:pPr marL="171450" indent="-171450">
              <a:buFont typeface="Arial" panose="020B0604020202020204" pitchFamily="34" charset="0"/>
              <a:buChar char="•"/>
            </a:pPr>
            <a:r>
              <a:rPr lang="en-US" sz="1000">
                <a:solidFill>
                  <a:srgbClr val="3B4652"/>
                </a:solidFill>
              </a:rPr>
              <a:t>Select KPI</a:t>
            </a:r>
          </a:p>
          <a:p>
            <a:pPr marL="171450" indent="-171450">
              <a:buFont typeface="Arial" panose="020B0604020202020204" pitchFamily="34" charset="0"/>
              <a:buChar char="•"/>
            </a:pPr>
            <a:r>
              <a:rPr lang="en-US" sz="1000">
                <a:solidFill>
                  <a:srgbClr val="3B4652"/>
                </a:solidFill>
              </a:rPr>
              <a:t>Launch AI investigation</a:t>
            </a:r>
          </a:p>
          <a:p>
            <a:pPr marL="171450" indent="-171450">
              <a:buFont typeface="Arial" panose="020B0604020202020204" pitchFamily="34" charset="0"/>
              <a:buChar char="•"/>
            </a:pPr>
            <a:r>
              <a:rPr lang="en-US" sz="1000">
                <a:solidFill>
                  <a:srgbClr val="3B4652"/>
                </a:solidFill>
              </a:rPr>
              <a:t>Display RCA results</a:t>
            </a:r>
            <a:endParaRPr sz="1000" b="0">
              <a:solidFill>
                <a:srgbClr val="3B4652"/>
              </a:solidFill>
              <a:latin typeface="Aptos"/>
            </a:endParaRPr>
          </a:p>
        </p:txBody>
      </p:sp>
      <p:sp>
        <p:nvSpPr>
          <p:cNvPr id="21" name="Rounded Rectangle 20">
            <a:extLst>
              <a:ext uri="{FF2B5EF4-FFF2-40B4-BE49-F238E27FC236}">
                <a16:creationId xmlns:a16="http://schemas.microsoft.com/office/drawing/2014/main" id="{77B667C1-6048-24D0-9D44-67A152883374}"/>
              </a:ext>
            </a:extLst>
          </p:cNvPr>
          <p:cNvSpPr/>
          <p:nvPr/>
        </p:nvSpPr>
        <p:spPr>
          <a:xfrm>
            <a:off x="4187952" y="1874519"/>
            <a:ext cx="1600200" cy="1874519"/>
          </a:xfrm>
          <a:prstGeom prst="roundRect">
            <a:avLst/>
          </a:prstGeom>
          <a:solidFill>
            <a:srgbClr val="FFF2EA"/>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2" name="Oval 21">
            <a:extLst>
              <a:ext uri="{FF2B5EF4-FFF2-40B4-BE49-F238E27FC236}">
                <a16:creationId xmlns:a16="http://schemas.microsoft.com/office/drawing/2014/main" id="{1E75CA7C-99BC-7DD0-73E3-3A4565352A16}"/>
              </a:ext>
            </a:extLst>
          </p:cNvPr>
          <p:cNvSpPr/>
          <p:nvPr/>
        </p:nvSpPr>
        <p:spPr>
          <a:xfrm>
            <a:off x="4782312" y="2057400"/>
            <a:ext cx="384048" cy="384048"/>
          </a:xfrm>
          <a:prstGeom prst="ellipse">
            <a:avLst/>
          </a:prstGeom>
          <a:solidFill>
            <a:srgbClr val="FB4D0A"/>
          </a:solidFill>
          <a:ln>
            <a:solidFill>
              <a:srgbClr val="FB4D0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TextBox 22">
            <a:extLst>
              <a:ext uri="{FF2B5EF4-FFF2-40B4-BE49-F238E27FC236}">
                <a16:creationId xmlns:a16="http://schemas.microsoft.com/office/drawing/2014/main" id="{D141BE6B-EB96-8C39-08E5-24BEADCAD1B6}"/>
              </a:ext>
            </a:extLst>
          </p:cNvPr>
          <p:cNvSpPr txBox="1"/>
          <p:nvPr/>
        </p:nvSpPr>
        <p:spPr>
          <a:xfrm>
            <a:off x="4902938" y="2176272"/>
            <a:ext cx="142796" cy="190821"/>
          </a:xfrm>
          <a:prstGeom prst="rect">
            <a:avLst/>
          </a:prstGeom>
          <a:noFill/>
        </p:spPr>
        <p:txBody>
          <a:bodyPr wrap="none" lIns="36576" tIns="18288" rIns="36576" bIns="18288">
            <a:spAutoFit/>
          </a:bodyPr>
          <a:lstStyle/>
          <a:p>
            <a:pPr algn="ctr"/>
            <a:r>
              <a:rPr sz="1000" b="1">
                <a:solidFill>
                  <a:srgbClr val="FFFFFF"/>
                </a:solidFill>
                <a:latin typeface="Aptos"/>
              </a:rPr>
              <a:t>3</a:t>
            </a:r>
          </a:p>
        </p:txBody>
      </p:sp>
      <p:sp>
        <p:nvSpPr>
          <p:cNvPr id="24" name="TextBox 23">
            <a:extLst>
              <a:ext uri="{FF2B5EF4-FFF2-40B4-BE49-F238E27FC236}">
                <a16:creationId xmlns:a16="http://schemas.microsoft.com/office/drawing/2014/main" id="{DD1F6A6C-4479-572E-5A82-B97508797830}"/>
              </a:ext>
            </a:extLst>
          </p:cNvPr>
          <p:cNvSpPr txBox="1"/>
          <p:nvPr/>
        </p:nvSpPr>
        <p:spPr>
          <a:xfrm>
            <a:off x="4318170" y="2532888"/>
            <a:ext cx="1330621" cy="190821"/>
          </a:xfrm>
          <a:prstGeom prst="rect">
            <a:avLst/>
          </a:prstGeom>
          <a:noFill/>
        </p:spPr>
        <p:txBody>
          <a:bodyPr wrap="none" lIns="36576" tIns="18288" rIns="36576" bIns="18288">
            <a:spAutoFit/>
          </a:bodyPr>
          <a:lstStyle/>
          <a:p>
            <a:pPr algn="ctr"/>
            <a:r>
              <a:rPr sz="1000" b="1">
                <a:solidFill>
                  <a:srgbClr val="FB4D0A"/>
                </a:solidFill>
                <a:latin typeface="Aptos"/>
              </a:rPr>
              <a:t>AI Investigation Agent</a:t>
            </a:r>
          </a:p>
        </p:txBody>
      </p:sp>
      <p:sp>
        <p:nvSpPr>
          <p:cNvPr id="25" name="TextBox 24">
            <a:extLst>
              <a:ext uri="{FF2B5EF4-FFF2-40B4-BE49-F238E27FC236}">
                <a16:creationId xmlns:a16="http://schemas.microsoft.com/office/drawing/2014/main" id="{7E4F94F4-CC90-B81D-E745-1A05C41C3C72}"/>
              </a:ext>
            </a:extLst>
          </p:cNvPr>
          <p:cNvSpPr txBox="1"/>
          <p:nvPr/>
        </p:nvSpPr>
        <p:spPr>
          <a:xfrm>
            <a:off x="4234603" y="2852928"/>
            <a:ext cx="1600200" cy="1052596"/>
          </a:xfrm>
          <a:prstGeom prst="rect">
            <a:avLst/>
          </a:prstGeom>
          <a:noFill/>
        </p:spPr>
        <p:txBody>
          <a:bodyPr wrap="square" lIns="36576" tIns="18288" rIns="36576" bIns="18288">
            <a:spAutoFit/>
          </a:bodyPr>
          <a:lstStyle/>
          <a:p>
            <a:pPr algn="ctr"/>
            <a:r>
              <a:rPr lang="en-US" sz="1000" b="0">
                <a:solidFill>
                  <a:srgbClr val="3B4652"/>
                </a:solidFill>
                <a:latin typeface="Aptos"/>
              </a:rPr>
              <a:t>Hypothesis generation</a:t>
            </a:r>
          </a:p>
          <a:p>
            <a:pPr marL="171450" indent="-171450">
              <a:buFont typeface="Arial" panose="020B0604020202020204" pitchFamily="34" charset="0"/>
              <a:buChar char="•"/>
            </a:pPr>
            <a:r>
              <a:rPr lang="en-US" sz="1000" b="0">
                <a:solidFill>
                  <a:srgbClr val="3B4652"/>
                </a:solidFill>
                <a:latin typeface="Aptos"/>
              </a:rPr>
              <a:t>Evidence evaluation</a:t>
            </a:r>
            <a:endParaRPr lang="en-US" sz="900">
              <a:solidFill>
                <a:srgbClr val="3B4652"/>
              </a:solidFill>
            </a:endParaRPr>
          </a:p>
          <a:p>
            <a:pPr marL="171450" indent="-171450">
              <a:buFont typeface="Arial" panose="020B0604020202020204" pitchFamily="34" charset="0"/>
              <a:buChar char="•"/>
            </a:pPr>
            <a:r>
              <a:rPr lang="en-US" sz="1000" b="0">
                <a:solidFill>
                  <a:srgbClr val="3B4652"/>
                </a:solidFill>
                <a:latin typeface="Aptos"/>
              </a:rPr>
              <a:t>Root-cause assessment</a:t>
            </a:r>
          </a:p>
          <a:p>
            <a:pPr marL="171450" indent="-171450">
              <a:buFont typeface="Arial" panose="020B0604020202020204" pitchFamily="34" charset="0"/>
              <a:buChar char="•"/>
            </a:pPr>
            <a:r>
              <a:rPr lang="en-US" sz="1000" b="0">
                <a:solidFill>
                  <a:srgbClr val="3B4652"/>
                </a:solidFill>
                <a:latin typeface="Aptos"/>
              </a:rPr>
              <a:t>Action recommendation</a:t>
            </a:r>
          </a:p>
          <a:p>
            <a:pPr marL="171450" indent="-171450">
              <a:buFont typeface="Arial" panose="020B0604020202020204" pitchFamily="34" charset="0"/>
              <a:buChar char="•"/>
            </a:pPr>
            <a:r>
              <a:rPr lang="en-US" sz="1000" b="0">
                <a:solidFill>
                  <a:srgbClr val="3B4652"/>
                </a:solidFill>
                <a:latin typeface="Aptos"/>
              </a:rPr>
              <a:t/>
            </a:r>
            <a:endParaRPr sz="900" b="0">
              <a:solidFill>
                <a:srgbClr val="3B4652"/>
              </a:solidFill>
              <a:latin typeface="Aptos"/>
            </a:endParaRPr>
          </a:p>
        </p:txBody>
      </p:sp>
      <p:sp>
        <p:nvSpPr>
          <p:cNvPr id="27" name="Rounded Rectangle 26">
            <a:extLst>
              <a:ext uri="{FF2B5EF4-FFF2-40B4-BE49-F238E27FC236}">
                <a16:creationId xmlns:a16="http://schemas.microsoft.com/office/drawing/2014/main" id="{AED00943-3172-28FC-BC25-BD6F44A7D396}"/>
              </a:ext>
            </a:extLst>
          </p:cNvPr>
          <p:cNvSpPr/>
          <p:nvPr/>
        </p:nvSpPr>
        <p:spPr>
          <a:xfrm>
            <a:off x="6089904" y="1874519"/>
            <a:ext cx="1600200" cy="1874519"/>
          </a:xfrm>
          <a:prstGeom prst="roundRect">
            <a:avLst/>
          </a:prstGeom>
          <a:solidFill>
            <a:srgbClr val="FFFFFF"/>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8" name="Oval 27">
            <a:extLst>
              <a:ext uri="{FF2B5EF4-FFF2-40B4-BE49-F238E27FC236}">
                <a16:creationId xmlns:a16="http://schemas.microsoft.com/office/drawing/2014/main" id="{B48C3177-57AF-9A62-2C24-F108C485E175}"/>
              </a:ext>
            </a:extLst>
          </p:cNvPr>
          <p:cNvSpPr/>
          <p:nvPr/>
        </p:nvSpPr>
        <p:spPr>
          <a:xfrm>
            <a:off x="6684264" y="2057400"/>
            <a:ext cx="384048" cy="384048"/>
          </a:xfrm>
          <a:prstGeom prst="ellipse">
            <a:avLst/>
          </a:prstGeom>
          <a:solidFill>
            <a:srgbClr val="00263E"/>
          </a:solidFill>
          <a:ln>
            <a:solidFill>
              <a:srgbClr val="002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9" name="TextBox 28">
            <a:extLst>
              <a:ext uri="{FF2B5EF4-FFF2-40B4-BE49-F238E27FC236}">
                <a16:creationId xmlns:a16="http://schemas.microsoft.com/office/drawing/2014/main" id="{4CB3D779-675B-3985-0126-97EEEEC41BE3}"/>
              </a:ext>
            </a:extLst>
          </p:cNvPr>
          <p:cNvSpPr txBox="1"/>
          <p:nvPr/>
        </p:nvSpPr>
        <p:spPr>
          <a:xfrm>
            <a:off x="6804890" y="2176272"/>
            <a:ext cx="142796" cy="190821"/>
          </a:xfrm>
          <a:prstGeom prst="rect">
            <a:avLst/>
          </a:prstGeom>
          <a:noFill/>
        </p:spPr>
        <p:txBody>
          <a:bodyPr wrap="none" lIns="36576" tIns="18288" rIns="36576" bIns="18288">
            <a:spAutoFit/>
          </a:bodyPr>
          <a:lstStyle/>
          <a:p>
            <a:pPr algn="ctr"/>
            <a:r>
              <a:rPr sz="1000" b="1">
                <a:solidFill>
                  <a:srgbClr val="FFFFFF"/>
                </a:solidFill>
                <a:latin typeface="Aptos"/>
              </a:rPr>
              <a:t>4</a:t>
            </a:r>
          </a:p>
        </p:txBody>
      </p:sp>
      <p:sp>
        <p:nvSpPr>
          <p:cNvPr id="30" name="TextBox 29">
            <a:extLst>
              <a:ext uri="{FF2B5EF4-FFF2-40B4-BE49-F238E27FC236}">
                <a16:creationId xmlns:a16="http://schemas.microsoft.com/office/drawing/2014/main" id="{BBDA056F-1E26-467A-3D99-49403416F1F8}"/>
              </a:ext>
            </a:extLst>
          </p:cNvPr>
          <p:cNvSpPr txBox="1"/>
          <p:nvPr/>
        </p:nvSpPr>
        <p:spPr>
          <a:xfrm>
            <a:off x="6045396" y="2532888"/>
            <a:ext cx="1680075" cy="190821"/>
          </a:xfrm>
          <a:prstGeom prst="rect">
            <a:avLst/>
          </a:prstGeom>
          <a:noFill/>
        </p:spPr>
        <p:txBody>
          <a:bodyPr wrap="none" lIns="36576" tIns="18288" rIns="36576" bIns="18288">
            <a:spAutoFit/>
          </a:bodyPr>
          <a:lstStyle/>
          <a:p>
            <a:pPr algn="ctr"/>
            <a:r>
              <a:rPr lang="en-US" sz="1000" b="1">
                <a:solidFill>
                  <a:srgbClr val="00263E"/>
                </a:solidFill>
              </a:rPr>
              <a:t>Root Cause Analysis Engine</a:t>
            </a:r>
            <a:endParaRPr sz="1000" b="1">
              <a:solidFill>
                <a:srgbClr val="00263E"/>
              </a:solidFill>
              <a:latin typeface="Aptos"/>
            </a:endParaRPr>
          </a:p>
        </p:txBody>
      </p:sp>
      <p:sp>
        <p:nvSpPr>
          <p:cNvPr id="31" name="TextBox 30">
            <a:extLst>
              <a:ext uri="{FF2B5EF4-FFF2-40B4-BE49-F238E27FC236}">
                <a16:creationId xmlns:a16="http://schemas.microsoft.com/office/drawing/2014/main" id="{33B8BF6A-AE00-5F57-B287-1DF8F4C478EB}"/>
              </a:ext>
            </a:extLst>
          </p:cNvPr>
          <p:cNvSpPr txBox="1"/>
          <p:nvPr/>
        </p:nvSpPr>
        <p:spPr>
          <a:xfrm>
            <a:off x="6208776" y="2852928"/>
            <a:ext cx="1617279" cy="960263"/>
          </a:xfrm>
          <a:prstGeom prst="rect">
            <a:avLst/>
          </a:prstGeom>
          <a:noFill/>
        </p:spPr>
        <p:txBody>
          <a:bodyPr wrap="square" lIns="36576" tIns="18288" rIns="36576" bIns="18288">
            <a:spAutoFit/>
          </a:bodyPr>
          <a:lstStyle/>
          <a:p>
            <a:pPr algn="ctr"/>
            <a:r>
              <a:rPr lang="en-US" sz="950" b="0">
                <a:solidFill>
                  <a:srgbClr val="3B4652"/>
                </a:solidFill>
                <a:latin typeface="Aptos"/>
              </a:rPr>
              <a:t>Complaints</a:t>
            </a:r>
          </a:p>
          <a:p>
            <a:pPr marL="171450" indent="-171450">
              <a:buFont typeface="Arial" panose="020B0604020202020204" pitchFamily="34" charset="0"/>
              <a:buChar char="•"/>
            </a:pPr>
            <a:r>
              <a:rPr lang="en-US" sz="950" b="0">
                <a:solidFill>
                  <a:srgbClr val="3B4652"/>
                </a:solidFill>
                <a:latin typeface="Aptos"/>
              </a:rPr>
              <a:t>Billing</a:t>
            </a:r>
          </a:p>
          <a:p>
            <a:pPr marL="171450" indent="-171450">
              <a:buFont typeface="Arial" panose="020B0604020202020204" pitchFamily="34" charset="0"/>
              <a:buChar char="•"/>
            </a:pPr>
            <a:r>
              <a:rPr lang="en-US" sz="950" b="0">
                <a:solidFill>
                  <a:srgbClr val="3B4652"/>
                </a:solidFill>
                <a:latin typeface="Aptos"/>
              </a:rPr>
              <a:t>Payments</a:t>
            </a:r>
          </a:p>
          <a:p>
            <a:pPr marL="171450" indent="-171450">
              <a:buFont typeface="Arial" panose="020B0604020202020204" pitchFamily="34" charset="0"/>
              <a:buChar char="•"/>
            </a:pPr>
            <a:r>
              <a:rPr lang="en-US" sz="950" b="0">
                <a:solidFill>
                  <a:srgbClr val="3B4652"/>
                </a:solidFill>
                <a:latin typeface="Aptos"/>
              </a:rPr>
              <a:t>Metering</a:t>
            </a:r>
          </a:p>
          <a:p>
            <a:pPr marL="171450" indent="-171450">
              <a:buFont typeface="Arial" panose="020B0604020202020204" pitchFamily="34" charset="0"/>
              <a:buChar char="•"/>
            </a:pPr>
            <a:r>
              <a:rPr lang="en-US" sz="950" b="0">
                <a:solidFill>
                  <a:srgbClr val="3B4652"/>
                </a:solidFill>
                <a:latin typeface="Aptos"/>
              </a:rPr>
              <a:t>Customer interactions</a:t>
            </a:r>
          </a:p>
          <a:p>
            <a:pPr marL="171450" indent="-171450">
              <a:buFont typeface="Arial" panose="020B0604020202020204" pitchFamily="34" charset="0"/>
              <a:buChar char="•"/>
            </a:pPr>
            <a:r>
              <a:rPr lang="en-US" sz="950" b="0">
                <a:solidFill>
                  <a:srgbClr val="3B4652"/>
                </a:solidFill>
                <a:latin typeface="Aptos"/>
              </a:rPr>
              <a:t/>
            </a:r>
            <a:endParaRPr sz="1000" b="0">
              <a:solidFill>
                <a:srgbClr val="3B4652"/>
              </a:solidFill>
              <a:latin typeface="Aptos"/>
            </a:endParaRPr>
          </a:p>
        </p:txBody>
      </p:sp>
      <p:sp>
        <p:nvSpPr>
          <p:cNvPr id="33" name="Rounded Rectangle 32">
            <a:extLst>
              <a:ext uri="{FF2B5EF4-FFF2-40B4-BE49-F238E27FC236}">
                <a16:creationId xmlns:a16="http://schemas.microsoft.com/office/drawing/2014/main" id="{68781097-EF0B-A791-349D-59E9FB61A6D8}"/>
              </a:ext>
            </a:extLst>
          </p:cNvPr>
          <p:cNvSpPr/>
          <p:nvPr/>
        </p:nvSpPr>
        <p:spPr>
          <a:xfrm>
            <a:off x="7991856" y="1874519"/>
            <a:ext cx="1600200" cy="1874519"/>
          </a:xfrm>
          <a:prstGeom prst="roundRect">
            <a:avLst/>
          </a:prstGeom>
          <a:solidFill>
            <a:srgbClr val="EAF3FB"/>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4" name="Oval 33">
            <a:extLst>
              <a:ext uri="{FF2B5EF4-FFF2-40B4-BE49-F238E27FC236}">
                <a16:creationId xmlns:a16="http://schemas.microsoft.com/office/drawing/2014/main" id="{FD888DBE-73FB-B82B-B1E8-96BE67925238}"/>
              </a:ext>
            </a:extLst>
          </p:cNvPr>
          <p:cNvSpPr/>
          <p:nvPr/>
        </p:nvSpPr>
        <p:spPr>
          <a:xfrm>
            <a:off x="8586216" y="2057400"/>
            <a:ext cx="384048" cy="384048"/>
          </a:xfrm>
          <a:prstGeom prst="ellipse">
            <a:avLst/>
          </a:prstGeom>
          <a:solidFill>
            <a:srgbClr val="00263E"/>
          </a:solidFill>
          <a:ln>
            <a:solidFill>
              <a:srgbClr val="002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5" name="TextBox 34">
            <a:extLst>
              <a:ext uri="{FF2B5EF4-FFF2-40B4-BE49-F238E27FC236}">
                <a16:creationId xmlns:a16="http://schemas.microsoft.com/office/drawing/2014/main" id="{1AE123F0-602A-5CF2-3383-5F48029AA8E3}"/>
              </a:ext>
            </a:extLst>
          </p:cNvPr>
          <p:cNvSpPr txBox="1"/>
          <p:nvPr/>
        </p:nvSpPr>
        <p:spPr>
          <a:xfrm>
            <a:off x="8706842" y="2176272"/>
            <a:ext cx="142796" cy="190821"/>
          </a:xfrm>
          <a:prstGeom prst="rect">
            <a:avLst/>
          </a:prstGeom>
          <a:noFill/>
        </p:spPr>
        <p:txBody>
          <a:bodyPr wrap="none" lIns="36576" tIns="18288" rIns="36576" bIns="18288">
            <a:spAutoFit/>
          </a:bodyPr>
          <a:lstStyle/>
          <a:p>
            <a:pPr algn="ctr"/>
            <a:r>
              <a:rPr sz="1000" b="1">
                <a:solidFill>
                  <a:srgbClr val="FFFFFF"/>
                </a:solidFill>
                <a:latin typeface="Aptos"/>
              </a:rPr>
              <a:t>5</a:t>
            </a:r>
          </a:p>
        </p:txBody>
      </p:sp>
      <p:sp>
        <p:nvSpPr>
          <p:cNvPr id="36" name="TextBox 35">
            <a:extLst>
              <a:ext uri="{FF2B5EF4-FFF2-40B4-BE49-F238E27FC236}">
                <a16:creationId xmlns:a16="http://schemas.microsoft.com/office/drawing/2014/main" id="{61C2A0A7-4AE6-3CD9-3BB5-D1C267D78DDA}"/>
              </a:ext>
            </a:extLst>
          </p:cNvPr>
          <p:cNvSpPr txBox="1"/>
          <p:nvPr/>
        </p:nvSpPr>
        <p:spPr>
          <a:xfrm>
            <a:off x="7998645" y="2532888"/>
            <a:ext cx="1577484" cy="190821"/>
          </a:xfrm>
          <a:prstGeom prst="rect">
            <a:avLst/>
          </a:prstGeom>
          <a:noFill/>
        </p:spPr>
        <p:txBody>
          <a:bodyPr wrap="none" lIns="36576" tIns="18288" rIns="36576" bIns="18288">
            <a:spAutoFit/>
          </a:bodyPr>
          <a:lstStyle/>
          <a:p>
            <a:pPr algn="ctr"/>
            <a:r>
              <a:rPr lang="en-US" sz="1000" b="1">
                <a:solidFill>
                  <a:srgbClr val="00263E"/>
                </a:solidFill>
              </a:rPr>
              <a:t>Operational Data Sources</a:t>
            </a:r>
          </a:p>
        </p:txBody>
      </p:sp>
      <p:sp>
        <p:nvSpPr>
          <p:cNvPr id="39" name="Rounded Rectangle 38">
            <a:extLst>
              <a:ext uri="{FF2B5EF4-FFF2-40B4-BE49-F238E27FC236}">
                <a16:creationId xmlns:a16="http://schemas.microsoft.com/office/drawing/2014/main" id="{D1A3C783-9DE4-BBBA-AD05-376648528D2E}"/>
              </a:ext>
            </a:extLst>
          </p:cNvPr>
          <p:cNvSpPr/>
          <p:nvPr/>
        </p:nvSpPr>
        <p:spPr>
          <a:xfrm>
            <a:off x="9893808" y="1874519"/>
            <a:ext cx="1600200" cy="1874519"/>
          </a:xfrm>
          <a:prstGeom prst="roundRect">
            <a:avLst/>
          </a:prstGeom>
          <a:solidFill>
            <a:srgbClr val="FFFFFF"/>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7" name="TextBox 36">
            <a:extLst>
              <a:ext uri="{FF2B5EF4-FFF2-40B4-BE49-F238E27FC236}">
                <a16:creationId xmlns:a16="http://schemas.microsoft.com/office/drawing/2014/main" id="{499E87D6-32A9-99F7-5C90-2ABB8D599D85}"/>
              </a:ext>
            </a:extLst>
          </p:cNvPr>
          <p:cNvSpPr txBox="1"/>
          <p:nvPr/>
        </p:nvSpPr>
        <p:spPr>
          <a:xfrm>
            <a:off x="9994392" y="2954692"/>
            <a:ext cx="1371600" cy="498598"/>
          </a:xfrm>
          <a:prstGeom prst="rect">
            <a:avLst/>
          </a:prstGeom>
          <a:noFill/>
        </p:spPr>
        <p:txBody>
          <a:bodyPr wrap="square" lIns="36576" tIns="18288" rIns="36576" bIns="18288">
            <a:spAutoFit/>
          </a:bodyPr>
          <a:lstStyle/>
          <a:p>
            <a:pPr algn="ctr"/>
            <a:r>
              <a:rPr lang="en-US" sz="1000" b="0">
                <a:solidFill>
                  <a:srgbClr val="3B4652"/>
                </a:solidFill>
                <a:latin typeface="Aptos"/>
              </a:rPr>
              <a:t>Business user receives investigation result, evidence and recommended actions.</a:t>
            </a:r>
          </a:p>
        </p:txBody>
      </p:sp>
      <p:sp>
        <p:nvSpPr>
          <p:cNvPr id="40" name="Oval 39">
            <a:extLst>
              <a:ext uri="{FF2B5EF4-FFF2-40B4-BE49-F238E27FC236}">
                <a16:creationId xmlns:a16="http://schemas.microsoft.com/office/drawing/2014/main" id="{D7CFEAEC-B34C-DB2D-EDCC-1784E867919D}"/>
              </a:ext>
            </a:extLst>
          </p:cNvPr>
          <p:cNvSpPr/>
          <p:nvPr/>
        </p:nvSpPr>
        <p:spPr>
          <a:xfrm>
            <a:off x="10488168" y="2057400"/>
            <a:ext cx="384048" cy="384048"/>
          </a:xfrm>
          <a:prstGeom prst="ellipse">
            <a:avLst/>
          </a:prstGeom>
          <a:solidFill>
            <a:srgbClr val="00263E"/>
          </a:solidFill>
          <a:ln>
            <a:solidFill>
              <a:srgbClr val="002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1" name="TextBox 40">
            <a:extLst>
              <a:ext uri="{FF2B5EF4-FFF2-40B4-BE49-F238E27FC236}">
                <a16:creationId xmlns:a16="http://schemas.microsoft.com/office/drawing/2014/main" id="{F060E366-5D26-4F37-56DA-5CA74D2990AE}"/>
              </a:ext>
            </a:extLst>
          </p:cNvPr>
          <p:cNvSpPr txBox="1"/>
          <p:nvPr/>
        </p:nvSpPr>
        <p:spPr>
          <a:xfrm>
            <a:off x="10608794" y="2176272"/>
            <a:ext cx="142796" cy="190821"/>
          </a:xfrm>
          <a:prstGeom prst="rect">
            <a:avLst/>
          </a:prstGeom>
          <a:noFill/>
        </p:spPr>
        <p:txBody>
          <a:bodyPr wrap="none" lIns="36576" tIns="18288" rIns="36576" bIns="18288">
            <a:spAutoFit/>
          </a:bodyPr>
          <a:lstStyle/>
          <a:p>
            <a:pPr algn="ctr"/>
            <a:r>
              <a:rPr sz="1000" b="1">
                <a:solidFill>
                  <a:srgbClr val="FFFFFF"/>
                </a:solidFill>
                <a:latin typeface="Aptos"/>
              </a:rPr>
              <a:t>6</a:t>
            </a:r>
          </a:p>
        </p:txBody>
      </p:sp>
      <p:sp>
        <p:nvSpPr>
          <p:cNvPr id="42" name="TextBox 41">
            <a:extLst>
              <a:ext uri="{FF2B5EF4-FFF2-40B4-BE49-F238E27FC236}">
                <a16:creationId xmlns:a16="http://schemas.microsoft.com/office/drawing/2014/main" id="{E6C0F395-8F8B-3269-0337-441980335F58}"/>
              </a:ext>
            </a:extLst>
          </p:cNvPr>
          <p:cNvSpPr txBox="1"/>
          <p:nvPr/>
        </p:nvSpPr>
        <p:spPr>
          <a:xfrm>
            <a:off x="10108985" y="2532888"/>
            <a:ext cx="1160702" cy="190821"/>
          </a:xfrm>
          <a:prstGeom prst="rect">
            <a:avLst/>
          </a:prstGeom>
          <a:noFill/>
        </p:spPr>
        <p:txBody>
          <a:bodyPr wrap="none" lIns="36576" tIns="18288" rIns="36576" bIns="18288">
            <a:spAutoFit/>
          </a:bodyPr>
          <a:lstStyle/>
          <a:p>
            <a:pPr algn="ctr"/>
            <a:r>
              <a:rPr lang="en-US" sz="1000" b="1">
                <a:solidFill>
                  <a:srgbClr val="00263E"/>
                </a:solidFill>
              </a:rPr>
              <a:t>Send alert to USER</a:t>
            </a:r>
          </a:p>
        </p:txBody>
      </p:sp>
      <p:sp>
        <p:nvSpPr>
          <p:cNvPr id="43" name="TextBox 42">
            <a:extLst>
              <a:ext uri="{FF2B5EF4-FFF2-40B4-BE49-F238E27FC236}">
                <a16:creationId xmlns:a16="http://schemas.microsoft.com/office/drawing/2014/main" id="{0D11C7C9-3570-431D-9DF9-373DA1779021}"/>
              </a:ext>
            </a:extLst>
          </p:cNvPr>
          <p:cNvSpPr txBox="1"/>
          <p:nvPr/>
        </p:nvSpPr>
        <p:spPr>
          <a:xfrm>
            <a:off x="8094302" y="2823443"/>
            <a:ext cx="1438487" cy="806375"/>
          </a:xfrm>
          <a:prstGeom prst="rect">
            <a:avLst/>
          </a:prstGeom>
          <a:noFill/>
        </p:spPr>
        <p:txBody>
          <a:bodyPr wrap="square" lIns="36576" tIns="18288" rIns="36576" bIns="18288">
            <a:spAutoFit/>
          </a:bodyPr>
          <a:lstStyle/>
          <a:p>
            <a:pPr algn="ctr"/>
            <a:r>
              <a:rPr lang="en-US" sz="1000">
                <a:solidFill>
                  <a:srgbClr val="3B4652"/>
                </a:solidFill>
              </a:rPr>
              <a:t>Account Health, Billing History, Payments, Complaints, Meter Readings, Customer Interactions</a:t>
            </a:r>
            <a:endParaRPr sz="1000" b="0">
              <a:solidFill>
                <a:srgbClr val="3B4652"/>
              </a:solidFill>
              <a:latin typeface="Aptos"/>
            </a:endParaRPr>
          </a:p>
        </p:txBody>
      </p:sp>
      <p:sp>
        <p:nvSpPr>
          <p:cNvPr id="44" name="Rounded Rectangle 43">
            <a:extLst>
              <a:ext uri="{FF2B5EF4-FFF2-40B4-BE49-F238E27FC236}">
                <a16:creationId xmlns:a16="http://schemas.microsoft.com/office/drawing/2014/main" id="{8DC38DBD-FE49-01FF-1DCD-F87B78C3513A}"/>
              </a:ext>
            </a:extLst>
          </p:cNvPr>
          <p:cNvSpPr/>
          <p:nvPr/>
        </p:nvSpPr>
        <p:spPr>
          <a:xfrm>
            <a:off x="384048" y="4206240"/>
            <a:ext cx="3520440" cy="1508760"/>
          </a:xfrm>
          <a:prstGeom prst="roundRect">
            <a:avLst/>
          </a:prstGeom>
          <a:solidFill>
            <a:srgbClr val="F4F7FA"/>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5" name="TextBox 44">
            <a:extLst>
              <a:ext uri="{FF2B5EF4-FFF2-40B4-BE49-F238E27FC236}">
                <a16:creationId xmlns:a16="http://schemas.microsoft.com/office/drawing/2014/main" id="{74105166-3A28-C26B-70EC-85048812D48B}"/>
              </a:ext>
            </a:extLst>
          </p:cNvPr>
          <p:cNvSpPr txBox="1"/>
          <p:nvPr/>
        </p:nvSpPr>
        <p:spPr>
          <a:xfrm>
            <a:off x="594360" y="4407408"/>
            <a:ext cx="1465273" cy="198516"/>
          </a:xfrm>
          <a:prstGeom prst="rect">
            <a:avLst/>
          </a:prstGeom>
          <a:noFill/>
        </p:spPr>
        <p:txBody>
          <a:bodyPr wrap="none" lIns="36576" tIns="18288" rIns="36576" bIns="18288">
            <a:spAutoFit/>
          </a:bodyPr>
          <a:lstStyle/>
          <a:p>
            <a:r>
              <a:rPr sz="1050" b="1">
                <a:solidFill>
                  <a:srgbClr val="FB4D0A"/>
                </a:solidFill>
                <a:latin typeface="Aptos"/>
              </a:rPr>
              <a:t>Processing &amp; AI Engine</a:t>
            </a:r>
          </a:p>
        </p:txBody>
      </p:sp>
      <p:sp>
        <p:nvSpPr>
          <p:cNvPr id="46" name="TextBox 45">
            <a:extLst>
              <a:ext uri="{FF2B5EF4-FFF2-40B4-BE49-F238E27FC236}">
                <a16:creationId xmlns:a16="http://schemas.microsoft.com/office/drawing/2014/main" id="{2B6ACDD2-71CB-8BC0-6FAE-5FDFDF466222}"/>
              </a:ext>
            </a:extLst>
          </p:cNvPr>
          <p:cNvSpPr txBox="1"/>
          <p:nvPr/>
        </p:nvSpPr>
        <p:spPr>
          <a:xfrm>
            <a:off x="594360" y="4681728"/>
            <a:ext cx="2072812" cy="934615"/>
          </a:xfrm>
          <a:prstGeom prst="rect">
            <a:avLst/>
          </a:prstGeom>
          <a:noFill/>
        </p:spPr>
        <p:txBody>
          <a:bodyPr wrap="none" lIns="36576" tIns="18288" rIns="36576" bIns="18288">
            <a:spAutoFit/>
          </a:bodyPr>
          <a:lstStyle/>
          <a:p>
            <a:pPr>
              <a:spcAft>
                <a:spcPts val="120"/>
              </a:spcAft>
              <a:defRPr sz="580">
                <a:solidFill>
                  <a:srgbClr val="3B4652"/>
                </a:solidFill>
                <a:latin typeface="Aptos"/>
              </a:defRPr>
            </a:pPr>
            <a:r>
              <a:rPr sz="950">
                <a:latin typeface="Aptos"/>
              </a:rPr>
              <a:t>• AI investigation agent</a:t>
            </a:r>
          </a:p>
          <a:p>
            <a:pPr>
              <a:spcAft>
                <a:spcPts val="120"/>
              </a:spcAft>
              <a:defRPr sz="580">
                <a:solidFill>
                  <a:srgbClr val="3B4652"/>
                </a:solidFill>
                <a:latin typeface="Aptos"/>
              </a:defRPr>
            </a:pPr>
            <a:r>
              <a:rPr sz="950">
                <a:latin typeface="Aptos"/>
              </a:rPr>
              <a:t>• KPI deviation detection</a:t>
            </a:r>
          </a:p>
          <a:p>
            <a:pPr>
              <a:spcAft>
                <a:spcPts val="120"/>
              </a:spcAft>
              <a:defRPr sz="580">
                <a:solidFill>
                  <a:srgbClr val="3B4652"/>
                </a:solidFill>
                <a:latin typeface="Aptos"/>
              </a:defRPr>
            </a:pPr>
            <a:r>
              <a:rPr sz="950">
                <a:latin typeface="Aptos"/>
              </a:rPr>
              <a:t>• Tool calling</a:t>
            </a:r>
          </a:p>
          <a:p>
            <a:pPr>
              <a:spcAft>
                <a:spcPts val="120"/>
              </a:spcAft>
              <a:defRPr sz="580">
                <a:solidFill>
                  <a:srgbClr val="3B4652"/>
                </a:solidFill>
                <a:latin typeface="Aptos"/>
              </a:defRPr>
            </a:pPr>
            <a:r>
              <a:rPr sz="950">
                <a:latin typeface="Aptos"/>
              </a:rPr>
              <a:t>• Evidence + root cause</a:t>
            </a:r>
          </a:p>
          <a:p>
            <a:pPr>
              <a:spcAft>
                <a:spcPts val="120"/>
              </a:spcAft>
              <a:defRPr sz="580">
                <a:solidFill>
                  <a:srgbClr val="3B4652"/>
                </a:solidFill>
                <a:latin typeface="Aptos"/>
              </a:defRPr>
            </a:pPr>
            <a:r>
              <a:rPr sz="950">
                <a:latin typeface="Aptos"/>
              </a:rPr>
              <a:t>• Recommendations</a:t>
            </a:r>
          </a:p>
        </p:txBody>
      </p:sp>
      <p:sp>
        <p:nvSpPr>
          <p:cNvPr id="47" name="Rounded Rectangle 46">
            <a:extLst>
              <a:ext uri="{FF2B5EF4-FFF2-40B4-BE49-F238E27FC236}">
                <a16:creationId xmlns:a16="http://schemas.microsoft.com/office/drawing/2014/main" id="{7B38F772-3F30-35DE-EF49-C757F16D2696}"/>
              </a:ext>
            </a:extLst>
          </p:cNvPr>
          <p:cNvSpPr/>
          <p:nvPr/>
        </p:nvSpPr>
        <p:spPr>
          <a:xfrm>
            <a:off x="4343400" y="4206240"/>
            <a:ext cx="3520440" cy="1508760"/>
          </a:xfrm>
          <a:prstGeom prst="roundRect">
            <a:avLst/>
          </a:prstGeom>
          <a:solidFill>
            <a:srgbClr val="FFFFFF"/>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8" name="TextBox 47">
            <a:extLst>
              <a:ext uri="{FF2B5EF4-FFF2-40B4-BE49-F238E27FC236}">
                <a16:creationId xmlns:a16="http://schemas.microsoft.com/office/drawing/2014/main" id="{36A16B22-A108-8022-8034-CFCF2001D586}"/>
              </a:ext>
            </a:extLst>
          </p:cNvPr>
          <p:cNvSpPr txBox="1"/>
          <p:nvPr/>
        </p:nvSpPr>
        <p:spPr>
          <a:xfrm>
            <a:off x="4553712" y="4407408"/>
            <a:ext cx="1428404" cy="198516"/>
          </a:xfrm>
          <a:prstGeom prst="rect">
            <a:avLst/>
          </a:prstGeom>
          <a:noFill/>
        </p:spPr>
        <p:txBody>
          <a:bodyPr wrap="none" lIns="36576" tIns="18288" rIns="36576" bIns="18288">
            <a:spAutoFit/>
          </a:bodyPr>
          <a:lstStyle/>
          <a:p>
            <a:r>
              <a:rPr sz="1050" b="1">
                <a:solidFill>
                  <a:srgbClr val="FB4D0A"/>
                </a:solidFill>
                <a:latin typeface="Aptos"/>
              </a:rPr>
              <a:t>Application &amp; Delivery</a:t>
            </a:r>
          </a:p>
        </p:txBody>
      </p:sp>
      <p:sp>
        <p:nvSpPr>
          <p:cNvPr id="49" name="TextBox 48">
            <a:extLst>
              <a:ext uri="{FF2B5EF4-FFF2-40B4-BE49-F238E27FC236}">
                <a16:creationId xmlns:a16="http://schemas.microsoft.com/office/drawing/2014/main" id="{F55BBD84-3FC5-A2FA-B9DD-E318F27827F4}"/>
              </a:ext>
            </a:extLst>
          </p:cNvPr>
          <p:cNvSpPr txBox="1"/>
          <p:nvPr/>
        </p:nvSpPr>
        <p:spPr>
          <a:xfrm>
            <a:off x="4553712" y="4681728"/>
            <a:ext cx="2781339" cy="934615"/>
          </a:xfrm>
          <a:prstGeom prst="rect">
            <a:avLst/>
          </a:prstGeom>
          <a:noFill/>
        </p:spPr>
        <p:txBody>
          <a:bodyPr wrap="none" lIns="36576" tIns="18288" rIns="36576" bIns="18288">
            <a:spAutoFit/>
          </a:bodyPr>
          <a:lstStyle/>
          <a:p>
            <a:pPr>
              <a:spcAft>
                <a:spcPts val="120"/>
              </a:spcAft>
              <a:defRPr sz="580">
                <a:solidFill>
                  <a:srgbClr val="3B4652"/>
                </a:solidFill>
                <a:latin typeface="Aptos"/>
              </a:defRPr>
            </a:pPr>
            <a:r>
              <a:rPr sz="950">
                <a:latin typeface="Aptos"/>
              </a:rPr>
              <a:t>• </a:t>
            </a:r>
            <a:r>
              <a:rPr sz="950" err="1">
                <a:latin typeface="Aptos"/>
              </a:rPr>
              <a:t>Streamlit</a:t>
            </a:r>
            <a:r>
              <a:rPr sz="950">
                <a:latin typeface="Aptos"/>
              </a:rPr>
              <a:t> UI hosted on Cloud Run</a:t>
            </a:r>
          </a:p>
          <a:p>
            <a:pPr>
              <a:spcAft>
                <a:spcPts val="120"/>
              </a:spcAft>
              <a:defRPr sz="580">
                <a:solidFill>
                  <a:srgbClr val="3B4652"/>
                </a:solidFill>
                <a:latin typeface="Aptos"/>
              </a:defRPr>
            </a:pPr>
            <a:r>
              <a:rPr sz="950">
                <a:latin typeface="Aptos"/>
              </a:rPr>
              <a:t>• Business dashboard and investigation view</a:t>
            </a:r>
          </a:p>
          <a:p>
            <a:pPr>
              <a:spcAft>
                <a:spcPts val="120"/>
              </a:spcAft>
              <a:defRPr sz="580">
                <a:solidFill>
                  <a:srgbClr val="3B4652"/>
                </a:solidFill>
                <a:latin typeface="Aptos"/>
              </a:defRPr>
            </a:pPr>
            <a:r>
              <a:rPr sz="950">
                <a:latin typeface="Aptos"/>
              </a:rPr>
              <a:t>• Downloadable RCA output</a:t>
            </a:r>
          </a:p>
          <a:p>
            <a:pPr>
              <a:spcAft>
                <a:spcPts val="120"/>
              </a:spcAft>
              <a:defRPr sz="580">
                <a:solidFill>
                  <a:srgbClr val="3B4652"/>
                </a:solidFill>
                <a:latin typeface="Aptos"/>
              </a:defRPr>
            </a:pPr>
            <a:r>
              <a:rPr sz="950">
                <a:latin typeface="Aptos"/>
              </a:rPr>
              <a:t>• Executive reports and delivery layer</a:t>
            </a:r>
          </a:p>
          <a:p>
            <a:pPr>
              <a:spcAft>
                <a:spcPts val="120"/>
              </a:spcAft>
              <a:defRPr sz="580">
                <a:solidFill>
                  <a:srgbClr val="3B4652"/>
                </a:solidFill>
                <a:latin typeface="Aptos"/>
              </a:defRPr>
            </a:pPr>
            <a:r>
              <a:rPr sz="950">
                <a:latin typeface="Aptos"/>
              </a:rPr>
              <a:t>• SSO / IAM access control</a:t>
            </a:r>
          </a:p>
        </p:txBody>
      </p:sp>
      <p:sp>
        <p:nvSpPr>
          <p:cNvPr id="50" name="Rounded Rectangle 49">
            <a:extLst>
              <a:ext uri="{FF2B5EF4-FFF2-40B4-BE49-F238E27FC236}">
                <a16:creationId xmlns:a16="http://schemas.microsoft.com/office/drawing/2014/main" id="{EEB1A4A5-CCEF-2A2C-59B8-731D0F319855}"/>
              </a:ext>
            </a:extLst>
          </p:cNvPr>
          <p:cNvSpPr/>
          <p:nvPr/>
        </p:nvSpPr>
        <p:spPr>
          <a:xfrm>
            <a:off x="8302752" y="4206240"/>
            <a:ext cx="3520440" cy="1508760"/>
          </a:xfrm>
          <a:prstGeom prst="roundRect">
            <a:avLst/>
          </a:prstGeom>
          <a:solidFill>
            <a:srgbClr val="F4F7FA"/>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1" name="TextBox 50">
            <a:extLst>
              <a:ext uri="{FF2B5EF4-FFF2-40B4-BE49-F238E27FC236}">
                <a16:creationId xmlns:a16="http://schemas.microsoft.com/office/drawing/2014/main" id="{0DF61EC6-21A8-9AAC-E2A3-B289EFCB0C06}"/>
              </a:ext>
            </a:extLst>
          </p:cNvPr>
          <p:cNvSpPr txBox="1"/>
          <p:nvPr/>
        </p:nvSpPr>
        <p:spPr>
          <a:xfrm>
            <a:off x="8513064" y="4407408"/>
            <a:ext cx="1548629" cy="198516"/>
          </a:xfrm>
          <a:prstGeom prst="rect">
            <a:avLst/>
          </a:prstGeom>
          <a:noFill/>
        </p:spPr>
        <p:txBody>
          <a:bodyPr wrap="none" lIns="36576" tIns="18288" rIns="36576" bIns="18288">
            <a:spAutoFit/>
          </a:bodyPr>
          <a:lstStyle/>
          <a:p>
            <a:r>
              <a:rPr lang="en-US" sz="1050" b="1">
                <a:solidFill>
                  <a:srgbClr val="FB4D0A"/>
                </a:solidFill>
              </a:rPr>
              <a:t>AI Investigation Outputs</a:t>
            </a:r>
            <a:endParaRPr sz="1050" b="1">
              <a:solidFill>
                <a:srgbClr val="FB4D0A"/>
              </a:solidFill>
              <a:latin typeface="Aptos"/>
            </a:endParaRPr>
          </a:p>
        </p:txBody>
      </p:sp>
      <p:sp>
        <p:nvSpPr>
          <p:cNvPr id="52" name="TextBox 51">
            <a:extLst>
              <a:ext uri="{FF2B5EF4-FFF2-40B4-BE49-F238E27FC236}">
                <a16:creationId xmlns:a16="http://schemas.microsoft.com/office/drawing/2014/main" id="{85A75F68-2842-0F1B-4D45-DF43C7AD95FA}"/>
              </a:ext>
            </a:extLst>
          </p:cNvPr>
          <p:cNvSpPr txBox="1"/>
          <p:nvPr/>
        </p:nvSpPr>
        <p:spPr>
          <a:xfrm>
            <a:off x="8513064" y="4681728"/>
            <a:ext cx="2178610" cy="934615"/>
          </a:xfrm>
          <a:prstGeom prst="rect">
            <a:avLst/>
          </a:prstGeom>
          <a:noFill/>
        </p:spPr>
        <p:txBody>
          <a:bodyPr wrap="none" lIns="36576" tIns="18288" rIns="36576" bIns="18288">
            <a:spAutoFit/>
          </a:bodyPr>
          <a:lstStyle/>
          <a:p>
            <a:pPr marL="171450" indent="-171450">
              <a:spcAft>
                <a:spcPts val="120"/>
              </a:spcAft>
              <a:buFont typeface="Wingdings" panose="05000000000000000000" pitchFamily="2" charset="2"/>
              <a:buChar char="ü"/>
              <a:defRPr sz="580">
                <a:solidFill>
                  <a:srgbClr val="3B4652"/>
                </a:solidFill>
                <a:latin typeface="Aptos"/>
              </a:defRPr>
            </a:pPr>
            <a:r>
              <a:rPr lang="en-US" sz="1000">
                <a:latin typeface="Aptos"/>
              </a:rPr>
              <a:t>Most likely root cause</a:t>
            </a:r>
          </a:p>
          <a:p>
            <a:pPr marL="171450" indent="-171450">
              <a:spcAft>
                <a:spcPts val="120"/>
              </a:spcAft>
              <a:buFont typeface="Wingdings" panose="05000000000000000000" pitchFamily="2" charset="2"/>
              <a:buChar char="ü"/>
              <a:defRPr sz="580">
                <a:solidFill>
                  <a:srgbClr val="3B4652"/>
                </a:solidFill>
                <a:latin typeface="Aptos"/>
              </a:defRPr>
            </a:pPr>
            <a:r>
              <a:rPr lang="en-US" sz="1000">
                <a:latin typeface="Aptos"/>
              </a:rPr>
              <a:t>Impacted customer segment</a:t>
            </a:r>
            <a:r>
              <a:rPr lang="en-US" sz="1000" err="1">
                <a:latin typeface="Aptos"/>
              </a:rPr>
              <a:t/>
            </a:r>
            <a:endParaRPr lang="en-US" sz="1100"/>
          </a:p>
          <a:p>
            <a:pPr marL="171450" indent="-171450">
              <a:spcAft>
                <a:spcPts val="120"/>
              </a:spcAft>
              <a:buFont typeface="Wingdings" panose="05000000000000000000" pitchFamily="2" charset="2"/>
              <a:buChar char="ü"/>
              <a:defRPr sz="580">
                <a:solidFill>
                  <a:srgbClr val="3B4652"/>
                </a:solidFill>
                <a:latin typeface="Aptos"/>
              </a:defRPr>
            </a:pPr>
            <a:r>
              <a:rPr lang="en-US" sz="1000">
                <a:latin typeface="Aptos"/>
              </a:rPr>
              <a:t>Supporting evidence</a:t>
            </a:r>
          </a:p>
          <a:p>
            <a:pPr marL="171450" indent="-171450">
              <a:spcAft>
                <a:spcPts val="120"/>
              </a:spcAft>
              <a:buFont typeface="Wingdings" panose="05000000000000000000" pitchFamily="2" charset="2"/>
              <a:buChar char="ü"/>
              <a:defRPr sz="580">
                <a:solidFill>
                  <a:srgbClr val="3B4652"/>
                </a:solidFill>
                <a:latin typeface="Aptos"/>
              </a:defRPr>
            </a:pPr>
            <a:r>
              <a:rPr lang="en-US" sz="1000">
                <a:latin typeface="Aptos"/>
              </a:rPr>
              <a:t>Confidence level</a:t>
            </a:r>
          </a:p>
          <a:p>
            <a:pPr marL="171450" indent="-171450">
              <a:spcAft>
                <a:spcPts val="120"/>
              </a:spcAft>
              <a:buFont typeface="Wingdings" panose="05000000000000000000" pitchFamily="2" charset="2"/>
              <a:buChar char="ü"/>
              <a:defRPr sz="580">
                <a:solidFill>
                  <a:srgbClr val="3B4652"/>
                </a:solidFill>
                <a:latin typeface="Aptos"/>
              </a:defRPr>
            </a:pPr>
            <a:r>
              <a:rPr lang="en-US" sz="1000">
                <a:latin typeface="Aptos"/>
              </a:rPr>
              <a:t>Recommended actions</a:t>
            </a:r>
            <a:endParaRPr sz="1100"/>
          </a:p>
        </p:txBody>
      </p:sp>
      <p:sp>
        <p:nvSpPr>
          <p:cNvPr id="53" name="Rounded Rectangle 52">
            <a:extLst>
              <a:ext uri="{FF2B5EF4-FFF2-40B4-BE49-F238E27FC236}">
                <a16:creationId xmlns:a16="http://schemas.microsoft.com/office/drawing/2014/main" id="{3AFF8E7B-7003-EA47-5A27-9D6789BD9901}"/>
              </a:ext>
            </a:extLst>
          </p:cNvPr>
          <p:cNvSpPr/>
          <p:nvPr/>
        </p:nvSpPr>
        <p:spPr>
          <a:xfrm>
            <a:off x="384048" y="5989320"/>
            <a:ext cx="11430000" cy="502920"/>
          </a:xfrm>
          <a:prstGeom prst="roundRect">
            <a:avLst/>
          </a:prstGeom>
          <a:solidFill>
            <a:srgbClr val="00263E"/>
          </a:solidFill>
          <a:ln w="10160">
            <a:solidFill>
              <a:srgbClr val="002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a:extLst>
              <a:ext uri="{FF2B5EF4-FFF2-40B4-BE49-F238E27FC236}">
                <a16:creationId xmlns:a16="http://schemas.microsoft.com/office/drawing/2014/main" id="{E2C59B3F-18B9-4FDD-3174-B7EFDC52798F}"/>
              </a:ext>
            </a:extLst>
          </p:cNvPr>
          <p:cNvSpPr txBox="1"/>
          <p:nvPr/>
        </p:nvSpPr>
        <p:spPr>
          <a:xfrm>
            <a:off x="611539" y="6080760"/>
            <a:ext cx="1391535" cy="190821"/>
          </a:xfrm>
          <a:prstGeom prst="rect">
            <a:avLst/>
          </a:prstGeom>
          <a:noFill/>
        </p:spPr>
        <p:txBody>
          <a:bodyPr wrap="none" lIns="36576" tIns="18288" rIns="36576" bIns="18288">
            <a:spAutoFit/>
          </a:bodyPr>
          <a:lstStyle/>
          <a:p>
            <a:r>
              <a:rPr sz="1000" b="1">
                <a:solidFill>
                  <a:srgbClr val="FB4D0A"/>
                </a:solidFill>
                <a:latin typeface="Aptos"/>
              </a:rPr>
              <a:t>Architecture outcome:</a:t>
            </a:r>
          </a:p>
        </p:txBody>
      </p:sp>
      <p:sp>
        <p:nvSpPr>
          <p:cNvPr id="55" name="TextBox 54">
            <a:extLst>
              <a:ext uri="{FF2B5EF4-FFF2-40B4-BE49-F238E27FC236}">
                <a16:creationId xmlns:a16="http://schemas.microsoft.com/office/drawing/2014/main" id="{F3246AE0-A6E8-6FAC-625A-5A201FD5AA15}"/>
              </a:ext>
            </a:extLst>
          </p:cNvPr>
          <p:cNvSpPr txBox="1"/>
          <p:nvPr/>
        </p:nvSpPr>
        <p:spPr>
          <a:xfrm>
            <a:off x="1993392" y="6080760"/>
            <a:ext cx="9656064" cy="344710"/>
          </a:xfrm>
          <a:prstGeom prst="rect">
            <a:avLst/>
          </a:prstGeom>
          <a:noFill/>
        </p:spPr>
        <p:txBody>
          <a:bodyPr wrap="square" lIns="36576" tIns="18288" rIns="36576" bIns="18288">
            <a:spAutoFit/>
          </a:bodyPr>
          <a:lstStyle/>
          <a:p>
            <a:r>
              <a:rPr lang="en-US" sz="1000" b="1">
                <a:solidFill>
                  <a:srgbClr val="FFFFFF"/>
                </a:solidFill>
              </a:rPr>
              <a:t>KPI deviation is investigated inside the existing reporting flow; the agent tests hypotheses across governed operational data and returns evidence, confidence, impact and role-relevant actions.</a:t>
            </a:r>
          </a:p>
        </p:txBody>
      </p:sp>
      <p:sp>
        <p:nvSpPr>
          <p:cNvPr id="59" name="Text 1">
            <a:extLst>
              <a:ext uri="{FF2B5EF4-FFF2-40B4-BE49-F238E27FC236}">
                <a16:creationId xmlns:a16="http://schemas.microsoft.com/office/drawing/2014/main" id="{80AD2472-15D1-1A85-2848-0663B524B28D}"/>
              </a:ext>
            </a:extLst>
          </p:cNvPr>
          <p:cNvSpPr/>
          <p:nvPr/>
        </p:nvSpPr>
        <p:spPr>
          <a:xfrm>
            <a:off x="749808" y="118872"/>
            <a:ext cx="6035040" cy="274320"/>
          </a:xfrm>
          <a:prstGeom prst="rect">
            <a:avLst/>
          </a:prstGeom>
          <a:noFill/>
          <a:ln/>
        </p:spPr>
        <p:txBody>
          <a:bodyPr wrap="square" lIns="254" tIns="254" rIns="254" bIns="254" rtlCol="0" anchor="ctr">
            <a:noAutofit/>
          </a:bodyPr>
          <a:lstStyle/>
          <a:p>
            <a:r>
              <a:rPr lang="en-US" sz="2400" b="1">
                <a:solidFill>
                  <a:srgbClr val="005071"/>
                </a:solidFill>
                <a:latin typeface="Aptos Display"/>
              </a:rPr>
              <a:t>New Way of Analysis</a:t>
            </a:r>
          </a:p>
        </p:txBody>
      </p:sp>
      <p:sp>
        <p:nvSpPr>
          <p:cNvPr id="63" name="Shape 3">
            <a:extLst>
              <a:ext uri="{FF2B5EF4-FFF2-40B4-BE49-F238E27FC236}">
                <a16:creationId xmlns:a16="http://schemas.microsoft.com/office/drawing/2014/main" id="{4C2E8C46-C74F-F368-0AB8-DBF35ECDE44B}"/>
              </a:ext>
            </a:extLst>
          </p:cNvPr>
          <p:cNvSpPr/>
          <p:nvPr/>
        </p:nvSpPr>
        <p:spPr>
          <a:xfrm>
            <a:off x="219456" y="737870"/>
            <a:ext cx="11777472" cy="1"/>
          </a:xfrm>
          <a:prstGeom prst="line">
            <a:avLst/>
          </a:prstGeom>
          <a:noFill/>
          <a:ln w="10160">
            <a:solidFill>
              <a:srgbClr val="D8E1EA"/>
            </a:solidFill>
            <a:prstDash val="solid"/>
          </a:ln>
        </p:spPr>
        <p:txBody>
          <a:bodyPr/>
          <a:lstStyle/>
          <a:p>
            <a:endParaRPr lang="en-IN" sz="2800"/>
          </a:p>
        </p:txBody>
      </p:sp>
      <p:sp>
        <p:nvSpPr>
          <p:cNvPr id="65" name="Shape 12">
            <a:extLst>
              <a:ext uri="{FF2B5EF4-FFF2-40B4-BE49-F238E27FC236}">
                <a16:creationId xmlns:a16="http://schemas.microsoft.com/office/drawing/2014/main" id="{BC8345D0-10AA-A051-5217-EDA7F892C1E2}"/>
              </a:ext>
            </a:extLst>
          </p:cNvPr>
          <p:cNvSpPr/>
          <p:nvPr/>
        </p:nvSpPr>
        <p:spPr>
          <a:xfrm>
            <a:off x="1975104" y="2761392"/>
            <a:ext cx="320040" cy="1"/>
          </a:xfrm>
          <a:prstGeom prst="line">
            <a:avLst/>
          </a:prstGeom>
          <a:noFill/>
          <a:ln w="13970">
            <a:solidFill>
              <a:srgbClr val="FB4D0A"/>
            </a:solidFill>
            <a:prstDash val="solid"/>
            <a:tailEnd type="triangle"/>
          </a:ln>
        </p:spPr>
        <p:txBody>
          <a:bodyPr/>
          <a:lstStyle/>
          <a:p>
            <a:endParaRPr lang="en-IN" sz="3600"/>
          </a:p>
        </p:txBody>
      </p:sp>
      <p:sp>
        <p:nvSpPr>
          <p:cNvPr id="69" name="Shape 12">
            <a:extLst>
              <a:ext uri="{FF2B5EF4-FFF2-40B4-BE49-F238E27FC236}">
                <a16:creationId xmlns:a16="http://schemas.microsoft.com/office/drawing/2014/main" id="{2BE42B29-1EAE-C96D-5654-85C6F9E193B1}"/>
              </a:ext>
            </a:extLst>
          </p:cNvPr>
          <p:cNvSpPr/>
          <p:nvPr/>
        </p:nvSpPr>
        <p:spPr>
          <a:xfrm>
            <a:off x="3890264" y="2761392"/>
            <a:ext cx="320040" cy="1"/>
          </a:xfrm>
          <a:prstGeom prst="line">
            <a:avLst/>
          </a:prstGeom>
          <a:noFill/>
          <a:ln w="13970">
            <a:solidFill>
              <a:srgbClr val="FB4D0A"/>
            </a:solidFill>
            <a:prstDash val="solid"/>
            <a:tailEnd type="triangle"/>
          </a:ln>
        </p:spPr>
        <p:txBody>
          <a:bodyPr/>
          <a:lstStyle/>
          <a:p>
            <a:endParaRPr lang="en-IN" sz="3600"/>
          </a:p>
        </p:txBody>
      </p:sp>
      <p:sp>
        <p:nvSpPr>
          <p:cNvPr id="71" name="Shape 12">
            <a:extLst>
              <a:ext uri="{FF2B5EF4-FFF2-40B4-BE49-F238E27FC236}">
                <a16:creationId xmlns:a16="http://schemas.microsoft.com/office/drawing/2014/main" id="{2C5E515F-4D1C-F63C-B71B-A3F9A8209B95}"/>
              </a:ext>
            </a:extLst>
          </p:cNvPr>
          <p:cNvSpPr/>
          <p:nvPr/>
        </p:nvSpPr>
        <p:spPr>
          <a:xfrm flipV="1">
            <a:off x="5805424" y="2759679"/>
            <a:ext cx="299381" cy="3426"/>
          </a:xfrm>
          <a:prstGeom prst="line">
            <a:avLst/>
          </a:prstGeom>
          <a:noFill/>
          <a:ln w="13970">
            <a:solidFill>
              <a:srgbClr val="FB4D0A"/>
            </a:solidFill>
            <a:prstDash val="solid"/>
            <a:tailEnd type="triangle"/>
          </a:ln>
        </p:spPr>
        <p:txBody>
          <a:bodyPr/>
          <a:lstStyle/>
          <a:p>
            <a:endParaRPr lang="en-IN" sz="3600"/>
          </a:p>
        </p:txBody>
      </p:sp>
      <p:sp>
        <p:nvSpPr>
          <p:cNvPr id="73" name="Shape 12">
            <a:extLst>
              <a:ext uri="{FF2B5EF4-FFF2-40B4-BE49-F238E27FC236}">
                <a16:creationId xmlns:a16="http://schemas.microsoft.com/office/drawing/2014/main" id="{BF00DE21-D6D5-8F2F-6195-9701709F2152}"/>
              </a:ext>
            </a:extLst>
          </p:cNvPr>
          <p:cNvSpPr/>
          <p:nvPr/>
        </p:nvSpPr>
        <p:spPr>
          <a:xfrm>
            <a:off x="7699925" y="2761392"/>
            <a:ext cx="299381" cy="1"/>
          </a:xfrm>
          <a:prstGeom prst="line">
            <a:avLst/>
          </a:prstGeom>
          <a:noFill/>
          <a:ln w="13970">
            <a:solidFill>
              <a:srgbClr val="FB4D0A"/>
            </a:solidFill>
            <a:prstDash val="solid"/>
            <a:tailEnd type="triangle"/>
          </a:ln>
        </p:spPr>
        <p:txBody>
          <a:bodyPr/>
          <a:lstStyle/>
          <a:p>
            <a:endParaRPr lang="en-IN" sz="3600"/>
          </a:p>
        </p:txBody>
      </p:sp>
      <p:sp>
        <p:nvSpPr>
          <p:cNvPr id="75" name="Shape 12">
            <a:extLst>
              <a:ext uri="{FF2B5EF4-FFF2-40B4-BE49-F238E27FC236}">
                <a16:creationId xmlns:a16="http://schemas.microsoft.com/office/drawing/2014/main" id="{F7A7FE84-017C-ABB8-49AF-576C38416D8A}"/>
              </a:ext>
            </a:extLst>
          </p:cNvPr>
          <p:cNvSpPr/>
          <p:nvPr/>
        </p:nvSpPr>
        <p:spPr>
          <a:xfrm>
            <a:off x="9594427" y="2761392"/>
            <a:ext cx="299381" cy="1"/>
          </a:xfrm>
          <a:prstGeom prst="line">
            <a:avLst/>
          </a:prstGeom>
          <a:noFill/>
          <a:ln w="13970">
            <a:solidFill>
              <a:srgbClr val="FB4D0A"/>
            </a:solidFill>
            <a:prstDash val="solid"/>
            <a:tailEnd type="triangle"/>
          </a:ln>
        </p:spPr>
        <p:txBody>
          <a:bodyPr/>
          <a:lstStyle/>
          <a:p>
            <a:endParaRPr lang="en-IN" sz="3600"/>
          </a:p>
        </p:txBody>
      </p:sp>
      <p:sp>
        <p:nvSpPr>
          <p:cNvPr id="3" name="TextBox 2">
            <a:extLst>
              <a:ext uri="{FF2B5EF4-FFF2-40B4-BE49-F238E27FC236}">
                <a16:creationId xmlns:a16="http://schemas.microsoft.com/office/drawing/2014/main" id="{4B7A76A4-ECD4-C272-4DBD-6283EAC2F29B}"/>
              </a:ext>
            </a:extLst>
          </p:cNvPr>
          <p:cNvSpPr txBox="1"/>
          <p:nvPr/>
        </p:nvSpPr>
        <p:spPr>
          <a:xfrm>
            <a:off x="667508" y="388181"/>
            <a:ext cx="4410973" cy="5386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ea typeface="+mn-lt"/>
                <a:cs typeface="+mn-lt"/>
              </a:rPr>
              <a:t>AI-driven, evidence-based and action-oriented</a:t>
            </a:r>
            <a:endParaRPr lang="en-US" sz="1100"/>
          </a:p>
          <a:p>
            <a:pPr algn="l"/>
            <a:endParaRPr lang="en-US"/>
          </a:p>
        </p:txBody>
      </p:sp>
      <p:sp>
        <p:nvSpPr>
          <p:cNvPr id="5" name="Text 36">
            <a:extLst>
              <a:ext uri="{FF2B5EF4-FFF2-40B4-BE49-F238E27FC236}">
                <a16:creationId xmlns:a16="http://schemas.microsoft.com/office/drawing/2014/main" id="{D9AEEBAB-D5DD-CE61-044C-B96029BBE577}"/>
              </a:ext>
            </a:extLst>
          </p:cNvPr>
          <p:cNvSpPr/>
          <p:nvPr/>
        </p:nvSpPr>
        <p:spPr>
          <a:xfrm>
            <a:off x="11411712" y="6473952"/>
            <a:ext cx="411480" cy="137160"/>
          </a:xfrm>
          <a:prstGeom prst="rect">
            <a:avLst/>
          </a:prstGeom>
          <a:noFill/>
          <a:ln/>
        </p:spPr>
        <p:txBody>
          <a:bodyPr wrap="square" lIns="508" tIns="508" rIns="508" bIns="508" rtlCol="0" anchor="ctr">
            <a:normAutofit/>
          </a:bodyPr>
          <a:lstStyle/>
          <a:p>
            <a:pPr marL="0" indent="0" algn="l">
              <a:buNone/>
            </a:pPr>
            <a:r>
              <a:rPr lang="en-US" sz="700" b="1">
                <a:solidFill>
                  <a:srgbClr val="FB4D0A"/>
                </a:solidFill>
                <a:latin typeface="Aptos" pitchFamily="34" charset="0"/>
                <a:ea typeface="Aptos" pitchFamily="34" charset="-122"/>
                <a:cs typeface="Aptos" pitchFamily="34" charset="-120"/>
              </a:rPr>
              <a:t>EXL</a:t>
            </a:r>
            <a:endParaRPr lang="en-US" sz="700"/>
          </a:p>
        </p:txBody>
      </p:sp>
    </p:spTree>
    <p:extLst>
      <p:ext uri="{BB962C8B-B14F-4D97-AF65-F5344CB8AC3E}">
        <p14:creationId xmlns:p14="http://schemas.microsoft.com/office/powerpoint/2010/main" val="796395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4008"/>
          </a:xfrm>
          <a:prstGeom prst="rect">
            <a:avLst/>
          </a:prstGeom>
          <a:solidFill>
            <a:srgbClr val="FB4D0A"/>
          </a:solidFill>
          <a:ln>
            <a:solidFill>
              <a:srgbClr val="FB4D0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19456" y="731520"/>
            <a:ext cx="11777472" cy="9144"/>
          </a:xfrm>
          <a:prstGeom prst="rect">
            <a:avLst/>
          </a:prstGeom>
          <a:solidFill>
            <a:srgbClr val="D8E1EA"/>
          </a:solidFill>
          <a:ln>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208123" y="1077727"/>
            <a:ext cx="2788920" cy="5468112"/>
          </a:xfrm>
          <a:prstGeom prst="roundRect">
            <a:avLst/>
          </a:prstGeom>
          <a:solidFill>
            <a:srgbClr val="F4F7FA"/>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203436" y="1538331"/>
            <a:ext cx="2468880" cy="2909514"/>
          </a:xfrm>
          <a:prstGeom prst="rect">
            <a:avLst/>
          </a:prstGeom>
          <a:noFill/>
        </p:spPr>
        <p:txBody>
          <a:bodyPr wrap="square" lIns="45720" tIns="18288" rIns="45720" bIns="18288">
            <a:spAutoFit/>
          </a:bodyPr>
          <a:lstStyle/>
          <a:p>
            <a:pPr>
              <a:spcAft>
                <a:spcPts val="150"/>
              </a:spcAft>
              <a:defRPr sz="600">
                <a:solidFill>
                  <a:srgbClr val="3B4652"/>
                </a:solidFill>
                <a:latin typeface="Aptos"/>
              </a:defRPr>
            </a:pPr>
            <a:r>
              <a:rPr sz="1200"/>
              <a:t>• Shows InsightForge as an embedded AI layer, not a standalone product.</a:t>
            </a:r>
          </a:p>
          <a:p>
            <a:pPr>
              <a:spcAft>
                <a:spcPts val="150"/>
              </a:spcAft>
              <a:defRPr sz="600">
                <a:solidFill>
                  <a:srgbClr val="3B4652"/>
                </a:solidFill>
                <a:latin typeface="Aptos"/>
              </a:defRPr>
            </a:pPr>
            <a:r>
              <a:rPr sz="1200"/>
              <a:t>• Clarifies integration with existing dashboards such as Power BI, Tableau and reporting portals.</a:t>
            </a:r>
          </a:p>
          <a:p>
            <a:pPr>
              <a:spcAft>
                <a:spcPts val="150"/>
              </a:spcAft>
              <a:defRPr sz="600">
                <a:solidFill>
                  <a:srgbClr val="3B4652"/>
                </a:solidFill>
                <a:latin typeface="Aptos"/>
              </a:defRPr>
            </a:pPr>
            <a:r>
              <a:rPr sz="1200"/>
              <a:t>• Connects business users to AI investigation, tool calling, RCA and recommended actions.</a:t>
            </a:r>
          </a:p>
          <a:p>
            <a:pPr>
              <a:spcAft>
                <a:spcPts val="150"/>
              </a:spcAft>
              <a:defRPr sz="600">
                <a:solidFill>
                  <a:srgbClr val="3B4652"/>
                </a:solidFill>
                <a:latin typeface="Aptos"/>
              </a:defRPr>
            </a:pPr>
            <a:r>
              <a:rPr sz="1200"/>
              <a:t>• Highlights role-based outputs for business, consumer-service and sales/operations users.</a:t>
            </a:r>
          </a:p>
          <a:p>
            <a:pPr>
              <a:spcAft>
                <a:spcPts val="150"/>
              </a:spcAft>
              <a:defRPr sz="600">
                <a:solidFill>
                  <a:srgbClr val="3B4652"/>
                </a:solidFill>
                <a:latin typeface="Aptos"/>
              </a:defRPr>
            </a:pPr>
            <a:r>
              <a:rPr sz="1200"/>
              <a:t>• Makes the architecture easier for judges and stakeholders to understand in one view.</a:t>
            </a:r>
          </a:p>
        </p:txBody>
      </p:sp>
      <p:sp>
        <p:nvSpPr>
          <p:cNvPr id="16" name="Rounded Rectangle 15"/>
          <p:cNvSpPr/>
          <p:nvPr/>
        </p:nvSpPr>
        <p:spPr>
          <a:xfrm>
            <a:off x="9203436" y="4472505"/>
            <a:ext cx="2377440" cy="1651083"/>
          </a:xfrm>
          <a:prstGeom prst="roundRect">
            <a:avLst/>
          </a:prstGeom>
          <a:solidFill>
            <a:srgbClr val="00263E"/>
          </a:solidFill>
          <a:ln w="10160">
            <a:solidFill>
              <a:srgbClr val="002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7" name="TextBox 16"/>
          <p:cNvSpPr txBox="1"/>
          <p:nvPr/>
        </p:nvSpPr>
        <p:spPr>
          <a:xfrm>
            <a:off x="9349740" y="4673674"/>
            <a:ext cx="1255280" cy="252377"/>
          </a:xfrm>
          <a:prstGeom prst="rect">
            <a:avLst/>
          </a:prstGeom>
          <a:noFill/>
        </p:spPr>
        <p:txBody>
          <a:bodyPr wrap="none" lIns="36576" tIns="18288" rIns="36576" bIns="18288">
            <a:spAutoFit/>
          </a:bodyPr>
          <a:lstStyle/>
          <a:p>
            <a:r>
              <a:rPr sz="1400" b="1">
                <a:solidFill>
                  <a:srgbClr val="FB4D0A"/>
                </a:solidFill>
                <a:latin typeface="Aptos"/>
              </a:rPr>
              <a:t>Slide purpose:</a:t>
            </a:r>
          </a:p>
        </p:txBody>
      </p:sp>
      <p:sp>
        <p:nvSpPr>
          <p:cNvPr id="18" name="TextBox 17"/>
          <p:cNvSpPr txBox="1"/>
          <p:nvPr/>
        </p:nvSpPr>
        <p:spPr>
          <a:xfrm>
            <a:off x="9349740" y="5096442"/>
            <a:ext cx="1699260" cy="883319"/>
          </a:xfrm>
          <a:prstGeom prst="rect">
            <a:avLst/>
          </a:prstGeom>
          <a:noFill/>
        </p:spPr>
        <p:txBody>
          <a:bodyPr wrap="square" lIns="36576" tIns="18288" rIns="36576" bIns="18288">
            <a:spAutoFit/>
          </a:bodyPr>
          <a:lstStyle/>
          <a:p>
            <a:r>
              <a:rPr sz="1100" b="1">
                <a:solidFill>
                  <a:srgbClr val="FFFFFF"/>
                </a:solidFill>
                <a:latin typeface="Aptos"/>
              </a:rPr>
              <a:t>One-view architecture: existing dashboard → AI investigation → evidence → root cause → actions → follow-up chat.</a:t>
            </a:r>
          </a:p>
        </p:txBody>
      </p:sp>
      <p:sp>
        <p:nvSpPr>
          <p:cNvPr id="19" name="TextBox 18"/>
          <p:cNvSpPr txBox="1"/>
          <p:nvPr/>
        </p:nvSpPr>
        <p:spPr>
          <a:xfrm>
            <a:off x="356616" y="6574536"/>
            <a:ext cx="3246120" cy="137160"/>
          </a:xfrm>
          <a:prstGeom prst="rect">
            <a:avLst/>
          </a:prstGeom>
          <a:noFill/>
        </p:spPr>
        <p:txBody>
          <a:bodyPr wrap="none" lIns="36576" tIns="18288" rIns="36576" bIns="18288">
            <a:spAutoFit/>
          </a:bodyPr>
          <a:lstStyle/>
          <a:p>
            <a:r>
              <a:rPr sz="550" b="0">
                <a:solidFill>
                  <a:srgbClr val="6A7785"/>
                </a:solidFill>
                <a:latin typeface="Aptos"/>
              </a:rPr>
              <a:t>InsightForge-AI | AI Operations Intelligence Agent</a:t>
            </a:r>
          </a:p>
        </p:txBody>
      </p:sp>
      <p:sp>
        <p:nvSpPr>
          <p:cNvPr id="22" name="Text 1">
            <a:extLst>
              <a:ext uri="{FF2B5EF4-FFF2-40B4-BE49-F238E27FC236}">
                <a16:creationId xmlns:a16="http://schemas.microsoft.com/office/drawing/2014/main" id="{AD2948D6-0E30-0ADD-0B5A-F9D472223BC9}"/>
              </a:ext>
            </a:extLst>
          </p:cNvPr>
          <p:cNvSpPr/>
          <p:nvPr/>
        </p:nvSpPr>
        <p:spPr>
          <a:xfrm>
            <a:off x="749808" y="118871"/>
            <a:ext cx="9308592" cy="374903"/>
          </a:xfrm>
          <a:prstGeom prst="rect">
            <a:avLst/>
          </a:prstGeom>
          <a:noFill/>
          <a:ln/>
        </p:spPr>
        <p:txBody>
          <a:bodyPr wrap="square" lIns="254" tIns="254" rIns="254" bIns="254" rtlCol="0" anchor="ctr">
            <a:noAutofit/>
          </a:bodyPr>
          <a:lstStyle/>
          <a:p>
            <a:r>
              <a:rPr lang="en-US" sz="2400" b="1">
                <a:solidFill>
                  <a:srgbClr val="005071"/>
                </a:solidFill>
                <a:latin typeface="Aptos Display"/>
              </a:rPr>
              <a:t>High-Level Architecture: InsightForge Inside Existing Dashboards</a:t>
            </a:r>
          </a:p>
        </p:txBody>
      </p:sp>
      <p:sp>
        <p:nvSpPr>
          <p:cNvPr id="24" name="TextBox 23">
            <a:extLst>
              <a:ext uri="{FF2B5EF4-FFF2-40B4-BE49-F238E27FC236}">
                <a16:creationId xmlns:a16="http://schemas.microsoft.com/office/drawing/2014/main" id="{4C1B4A31-26D0-D41F-8147-0BBFD8147826}"/>
              </a:ext>
            </a:extLst>
          </p:cNvPr>
          <p:cNvSpPr txBox="1"/>
          <p:nvPr/>
        </p:nvSpPr>
        <p:spPr>
          <a:xfrm>
            <a:off x="649220" y="442476"/>
            <a:ext cx="9089140"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solidFill>
                  <a:srgbClr val="3B4652"/>
                </a:solidFill>
              </a:rPr>
              <a:t>InsightForge adds an AI investigation layer to the existing reporting ecosystem — without replacing the dashboard.</a:t>
            </a:r>
          </a:p>
        </p:txBody>
      </p:sp>
      <p:sp>
        <p:nvSpPr>
          <p:cNvPr id="30" name="Text 36">
            <a:extLst>
              <a:ext uri="{FF2B5EF4-FFF2-40B4-BE49-F238E27FC236}">
                <a16:creationId xmlns:a16="http://schemas.microsoft.com/office/drawing/2014/main" id="{FB31A0D1-C1F7-E897-3FEA-3B3D30C9953C}"/>
              </a:ext>
            </a:extLst>
          </p:cNvPr>
          <p:cNvSpPr/>
          <p:nvPr/>
        </p:nvSpPr>
        <p:spPr>
          <a:xfrm>
            <a:off x="11411712" y="6473952"/>
            <a:ext cx="411480" cy="137160"/>
          </a:xfrm>
          <a:prstGeom prst="rect">
            <a:avLst/>
          </a:prstGeom>
          <a:noFill/>
          <a:ln/>
        </p:spPr>
        <p:txBody>
          <a:bodyPr wrap="square" lIns="508" tIns="508" rIns="508" bIns="508" rtlCol="0" anchor="ctr">
            <a:normAutofit/>
          </a:bodyPr>
          <a:lstStyle/>
          <a:p>
            <a:pPr marL="0" indent="0" algn="l">
              <a:buNone/>
            </a:pPr>
            <a:r>
              <a:rPr lang="en-US" sz="700" b="1">
                <a:solidFill>
                  <a:srgbClr val="FB4D0A"/>
                </a:solidFill>
                <a:latin typeface="Aptos" pitchFamily="34" charset="0"/>
                <a:ea typeface="Aptos" pitchFamily="34" charset="-122"/>
                <a:cs typeface="Aptos" pitchFamily="34" charset="-120"/>
              </a:rPr>
              <a:t>EXL</a:t>
            </a:r>
            <a:endParaRPr lang="en-US" sz="700"/>
          </a:p>
        </p:txBody>
      </p:sp>
      <p:pic>
        <p:nvPicPr>
          <p:cNvPr id="3" name="Picture 2">
            <a:extLst>
              <a:ext uri="{FF2B5EF4-FFF2-40B4-BE49-F238E27FC236}">
                <a16:creationId xmlns:a16="http://schemas.microsoft.com/office/drawing/2014/main" id="{C1CDA87B-6484-1E43-8B16-497B593CF116}"/>
              </a:ext>
            </a:extLst>
          </p:cNvPr>
          <p:cNvPicPr>
            <a:picLocks noChangeAspect="1"/>
          </p:cNvPicPr>
          <p:nvPr/>
        </p:nvPicPr>
        <p:blipFill>
          <a:blip r:embed="rId3"/>
          <a:srcRect l="-57" t="10023" r="-524"/>
          <a:stretch>
            <a:fillRect/>
          </a:stretch>
        </p:blipFill>
        <p:spPr>
          <a:xfrm>
            <a:off x="3595" y="733245"/>
            <a:ext cx="9219672" cy="566468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36000"/>
          </a:xfrm>
          <a:prstGeom prst="rect">
            <a:avLst/>
          </a:prstGeom>
          <a:solidFill>
            <a:srgbClr val="FB4D0A"/>
          </a:solidFill>
          <a:ln>
            <a:solidFill>
              <a:srgbClr val="FB4D0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 name="Rounded Rectangle 6"/>
          <p:cNvSpPr/>
          <p:nvPr/>
        </p:nvSpPr>
        <p:spPr>
          <a:xfrm>
            <a:off x="320040" y="960120"/>
            <a:ext cx="11503152" cy="658368"/>
          </a:xfrm>
          <a:prstGeom prst="roundRect">
            <a:avLst/>
          </a:prstGeom>
          <a:solidFill>
            <a:srgbClr val="FFF2EA"/>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 name="TextBox 7"/>
          <p:cNvSpPr txBox="1"/>
          <p:nvPr/>
        </p:nvSpPr>
        <p:spPr>
          <a:xfrm>
            <a:off x="566928" y="1188720"/>
            <a:ext cx="9375452" cy="313932"/>
          </a:xfrm>
          <a:prstGeom prst="rect">
            <a:avLst/>
          </a:prstGeom>
          <a:noFill/>
        </p:spPr>
        <p:txBody>
          <a:bodyPr wrap="none" lIns="36576" tIns="18288" rIns="36576" bIns="18288">
            <a:spAutoFit/>
          </a:bodyPr>
          <a:lstStyle/>
          <a:p>
            <a:r>
              <a:rPr b="1">
                <a:solidFill>
                  <a:srgbClr val="00263E"/>
                </a:solidFill>
                <a:latin typeface="Aptos Display"/>
              </a:rPr>
              <a:t>Implementation principle: keep the existing reporting estate and add an AI investigation layer on top.</a:t>
            </a:r>
          </a:p>
        </p:txBody>
      </p:sp>
      <p:sp>
        <p:nvSpPr>
          <p:cNvPr id="9" name="Rounded Rectangle 8"/>
          <p:cNvSpPr/>
          <p:nvPr/>
        </p:nvSpPr>
        <p:spPr>
          <a:xfrm>
            <a:off x="502920" y="1901952"/>
            <a:ext cx="3383280" cy="804672"/>
          </a:xfrm>
          <a:prstGeom prst="roundRect">
            <a:avLst/>
          </a:prstGeom>
          <a:solidFill>
            <a:srgbClr val="FFFFFF"/>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 name="Oval 9"/>
          <p:cNvSpPr/>
          <p:nvPr/>
        </p:nvSpPr>
        <p:spPr>
          <a:xfrm>
            <a:off x="685800" y="2084832"/>
            <a:ext cx="347472" cy="347472"/>
          </a:xfrm>
          <a:prstGeom prst="ellipse">
            <a:avLst/>
          </a:prstGeom>
          <a:solidFill>
            <a:srgbClr val="FB4D0A"/>
          </a:solidFill>
          <a:ln>
            <a:solidFill>
              <a:srgbClr val="FB4D0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1" name="TextBox 10"/>
          <p:cNvSpPr txBox="1"/>
          <p:nvPr/>
        </p:nvSpPr>
        <p:spPr>
          <a:xfrm>
            <a:off x="788138" y="2203704"/>
            <a:ext cx="142796" cy="190821"/>
          </a:xfrm>
          <a:prstGeom prst="rect">
            <a:avLst/>
          </a:prstGeom>
          <a:noFill/>
        </p:spPr>
        <p:txBody>
          <a:bodyPr wrap="none" lIns="36576" tIns="18288" rIns="36576" bIns="18288">
            <a:spAutoFit/>
          </a:bodyPr>
          <a:lstStyle/>
          <a:p>
            <a:pPr algn="ctr"/>
            <a:r>
              <a:rPr sz="1000" b="1">
                <a:solidFill>
                  <a:srgbClr val="FFFFFF"/>
                </a:solidFill>
                <a:latin typeface="Aptos"/>
              </a:rPr>
              <a:t>1</a:t>
            </a:r>
          </a:p>
        </p:txBody>
      </p:sp>
      <p:sp>
        <p:nvSpPr>
          <p:cNvPr id="12" name="TextBox 11"/>
          <p:cNvSpPr txBox="1"/>
          <p:nvPr/>
        </p:nvSpPr>
        <p:spPr>
          <a:xfrm>
            <a:off x="1143000" y="2066544"/>
            <a:ext cx="966740" cy="190821"/>
          </a:xfrm>
          <a:prstGeom prst="rect">
            <a:avLst/>
          </a:prstGeom>
          <a:noFill/>
        </p:spPr>
        <p:txBody>
          <a:bodyPr wrap="none" lIns="36576" tIns="18288" rIns="36576" bIns="18288">
            <a:spAutoFit/>
          </a:bodyPr>
          <a:lstStyle/>
          <a:p>
            <a:r>
              <a:rPr sz="1000" b="1">
                <a:solidFill>
                  <a:srgbClr val="FB4D0A"/>
                </a:solidFill>
                <a:latin typeface="Aptos"/>
              </a:rPr>
              <a:t>Reuse KPI logic</a:t>
            </a:r>
          </a:p>
        </p:txBody>
      </p:sp>
      <p:sp>
        <p:nvSpPr>
          <p:cNvPr id="13" name="TextBox 12"/>
          <p:cNvSpPr txBox="1"/>
          <p:nvPr/>
        </p:nvSpPr>
        <p:spPr>
          <a:xfrm>
            <a:off x="1143000" y="2276856"/>
            <a:ext cx="2377320" cy="360099"/>
          </a:xfrm>
          <a:prstGeom prst="rect">
            <a:avLst/>
          </a:prstGeom>
          <a:noFill/>
        </p:spPr>
        <p:txBody>
          <a:bodyPr wrap="square" lIns="36576" tIns="18288" rIns="36576" bIns="18288">
            <a:spAutoFit/>
          </a:bodyPr>
          <a:lstStyle/>
          <a:p>
            <a:r>
              <a:rPr sz="1050">
                <a:solidFill>
                  <a:srgbClr val="3B4652"/>
                </a:solidFill>
                <a:latin typeface="Aptos"/>
              </a:rPr>
              <a:t>Existing KPI calculations and reporting logic can remain in place.</a:t>
            </a:r>
          </a:p>
        </p:txBody>
      </p:sp>
      <p:sp>
        <p:nvSpPr>
          <p:cNvPr id="14" name="Rounded Rectangle 13"/>
          <p:cNvSpPr/>
          <p:nvPr/>
        </p:nvSpPr>
        <p:spPr>
          <a:xfrm>
            <a:off x="502920" y="2926080"/>
            <a:ext cx="3383280" cy="804672"/>
          </a:xfrm>
          <a:prstGeom prst="roundRect">
            <a:avLst/>
          </a:prstGeom>
          <a:solidFill>
            <a:srgbClr val="F4F7FA"/>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5" name="Oval 14"/>
          <p:cNvSpPr/>
          <p:nvPr/>
        </p:nvSpPr>
        <p:spPr>
          <a:xfrm>
            <a:off x="685800" y="3108960"/>
            <a:ext cx="347472" cy="347472"/>
          </a:xfrm>
          <a:prstGeom prst="ellipse">
            <a:avLst/>
          </a:prstGeom>
          <a:solidFill>
            <a:srgbClr val="00263E"/>
          </a:solidFill>
          <a:ln>
            <a:solidFill>
              <a:srgbClr val="002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6" name="TextBox 15"/>
          <p:cNvSpPr txBox="1"/>
          <p:nvPr/>
        </p:nvSpPr>
        <p:spPr>
          <a:xfrm>
            <a:off x="788138" y="3227832"/>
            <a:ext cx="142796" cy="190821"/>
          </a:xfrm>
          <a:prstGeom prst="rect">
            <a:avLst/>
          </a:prstGeom>
          <a:noFill/>
        </p:spPr>
        <p:txBody>
          <a:bodyPr wrap="none" lIns="36576" tIns="18288" rIns="36576" bIns="18288">
            <a:spAutoFit/>
          </a:bodyPr>
          <a:lstStyle/>
          <a:p>
            <a:pPr algn="ctr"/>
            <a:r>
              <a:rPr sz="1000" b="1">
                <a:solidFill>
                  <a:srgbClr val="FFFFFF"/>
                </a:solidFill>
                <a:latin typeface="Aptos"/>
              </a:rPr>
              <a:t>2</a:t>
            </a:r>
          </a:p>
        </p:txBody>
      </p:sp>
      <p:sp>
        <p:nvSpPr>
          <p:cNvPr id="17" name="TextBox 16"/>
          <p:cNvSpPr txBox="1"/>
          <p:nvPr/>
        </p:nvSpPr>
        <p:spPr>
          <a:xfrm>
            <a:off x="1143000" y="3090672"/>
            <a:ext cx="1272913" cy="190821"/>
          </a:xfrm>
          <a:prstGeom prst="rect">
            <a:avLst/>
          </a:prstGeom>
          <a:noFill/>
        </p:spPr>
        <p:txBody>
          <a:bodyPr wrap="none" lIns="36576" tIns="18288" rIns="36576" bIns="18288">
            <a:spAutoFit/>
          </a:bodyPr>
          <a:lstStyle/>
          <a:p>
            <a:r>
              <a:rPr sz="1000" b="1">
                <a:solidFill>
                  <a:srgbClr val="FB4D0A"/>
                </a:solidFill>
                <a:latin typeface="Aptos"/>
              </a:rPr>
              <a:t>Connect to BigQuery</a:t>
            </a:r>
          </a:p>
        </p:txBody>
      </p:sp>
      <p:sp>
        <p:nvSpPr>
          <p:cNvPr id="18" name="TextBox 17"/>
          <p:cNvSpPr txBox="1"/>
          <p:nvPr/>
        </p:nvSpPr>
        <p:spPr>
          <a:xfrm>
            <a:off x="1143000" y="3267973"/>
            <a:ext cx="2644960" cy="521681"/>
          </a:xfrm>
          <a:prstGeom prst="rect">
            <a:avLst/>
          </a:prstGeom>
          <a:noFill/>
        </p:spPr>
        <p:txBody>
          <a:bodyPr wrap="square" lIns="36576" tIns="18288" rIns="36576" bIns="18288">
            <a:spAutoFit/>
          </a:bodyPr>
          <a:lstStyle/>
          <a:p>
            <a:r>
              <a:rPr sz="1050">
                <a:solidFill>
                  <a:srgbClr val="3B4652"/>
                </a:solidFill>
                <a:latin typeface="Aptos"/>
              </a:rPr>
              <a:t>Agent connects to approved reporting datasets rather than rebuilding source systems.</a:t>
            </a:r>
          </a:p>
        </p:txBody>
      </p:sp>
      <p:sp>
        <p:nvSpPr>
          <p:cNvPr id="19" name="Rounded Rectangle 18"/>
          <p:cNvSpPr/>
          <p:nvPr/>
        </p:nvSpPr>
        <p:spPr>
          <a:xfrm>
            <a:off x="502920" y="3950208"/>
            <a:ext cx="3383280" cy="804672"/>
          </a:xfrm>
          <a:prstGeom prst="roundRect">
            <a:avLst/>
          </a:prstGeom>
          <a:solidFill>
            <a:srgbClr val="FFFFFF"/>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0" name="Oval 19"/>
          <p:cNvSpPr/>
          <p:nvPr/>
        </p:nvSpPr>
        <p:spPr>
          <a:xfrm>
            <a:off x="685800" y="4133088"/>
            <a:ext cx="347472" cy="347472"/>
          </a:xfrm>
          <a:prstGeom prst="ellipse">
            <a:avLst/>
          </a:prstGeom>
          <a:solidFill>
            <a:srgbClr val="00263E"/>
          </a:solidFill>
          <a:ln>
            <a:solidFill>
              <a:srgbClr val="002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1" name="TextBox 20"/>
          <p:cNvSpPr txBox="1"/>
          <p:nvPr/>
        </p:nvSpPr>
        <p:spPr>
          <a:xfrm>
            <a:off x="788138" y="4251960"/>
            <a:ext cx="142796" cy="190821"/>
          </a:xfrm>
          <a:prstGeom prst="rect">
            <a:avLst/>
          </a:prstGeom>
          <a:noFill/>
        </p:spPr>
        <p:txBody>
          <a:bodyPr wrap="none" lIns="36576" tIns="18288" rIns="36576" bIns="18288">
            <a:spAutoFit/>
          </a:bodyPr>
          <a:lstStyle/>
          <a:p>
            <a:pPr algn="ctr"/>
            <a:r>
              <a:rPr sz="1000" b="1">
                <a:solidFill>
                  <a:srgbClr val="FFFFFF"/>
                </a:solidFill>
                <a:latin typeface="Aptos"/>
              </a:rPr>
              <a:t>3</a:t>
            </a:r>
          </a:p>
        </p:txBody>
      </p:sp>
      <p:sp>
        <p:nvSpPr>
          <p:cNvPr id="22" name="TextBox 21"/>
          <p:cNvSpPr txBox="1"/>
          <p:nvPr/>
        </p:nvSpPr>
        <p:spPr>
          <a:xfrm>
            <a:off x="1143000" y="4114800"/>
            <a:ext cx="1309782" cy="190821"/>
          </a:xfrm>
          <a:prstGeom prst="rect">
            <a:avLst/>
          </a:prstGeom>
          <a:noFill/>
        </p:spPr>
        <p:txBody>
          <a:bodyPr wrap="none" lIns="36576" tIns="18288" rIns="36576" bIns="18288">
            <a:spAutoFit/>
          </a:bodyPr>
          <a:lstStyle/>
          <a:p>
            <a:r>
              <a:rPr sz="1000" b="1">
                <a:solidFill>
                  <a:srgbClr val="FB4D0A"/>
                </a:solidFill>
                <a:latin typeface="Aptos"/>
              </a:rPr>
              <a:t>Use existing domains</a:t>
            </a:r>
          </a:p>
        </p:txBody>
      </p:sp>
      <p:sp>
        <p:nvSpPr>
          <p:cNvPr id="23" name="TextBox 22"/>
          <p:cNvSpPr txBox="1"/>
          <p:nvPr/>
        </p:nvSpPr>
        <p:spPr>
          <a:xfrm>
            <a:off x="1143000" y="4325112"/>
            <a:ext cx="2644960" cy="360099"/>
          </a:xfrm>
          <a:prstGeom prst="rect">
            <a:avLst/>
          </a:prstGeom>
          <a:noFill/>
        </p:spPr>
        <p:txBody>
          <a:bodyPr wrap="square" lIns="36576" tIns="18288" rIns="36576" bIns="18288">
            <a:spAutoFit/>
          </a:bodyPr>
          <a:lstStyle/>
          <a:p>
            <a:r>
              <a:rPr sz="1050">
                <a:solidFill>
                  <a:srgbClr val="3B4652"/>
                </a:solidFill>
                <a:latin typeface="Aptos"/>
              </a:rPr>
              <a:t>Complaint, billing, meter and customer data can be accessed through focused tools.</a:t>
            </a:r>
          </a:p>
        </p:txBody>
      </p:sp>
      <p:sp>
        <p:nvSpPr>
          <p:cNvPr id="24" name="Rounded Rectangle 23"/>
          <p:cNvSpPr/>
          <p:nvPr/>
        </p:nvSpPr>
        <p:spPr>
          <a:xfrm>
            <a:off x="4251960" y="1874519"/>
            <a:ext cx="3611880" cy="2907792"/>
          </a:xfrm>
          <a:prstGeom prst="roundRect">
            <a:avLst/>
          </a:prstGeom>
          <a:solidFill>
            <a:srgbClr val="F4F7FA"/>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5" name="TextBox 24"/>
          <p:cNvSpPr txBox="1"/>
          <p:nvPr/>
        </p:nvSpPr>
        <p:spPr>
          <a:xfrm>
            <a:off x="4480560" y="2057400"/>
            <a:ext cx="1854803" cy="198516"/>
          </a:xfrm>
          <a:prstGeom prst="rect">
            <a:avLst/>
          </a:prstGeom>
          <a:noFill/>
        </p:spPr>
        <p:txBody>
          <a:bodyPr wrap="none" lIns="36576" tIns="18288" rIns="36576" bIns="18288">
            <a:spAutoFit/>
          </a:bodyPr>
          <a:lstStyle/>
          <a:p>
            <a:r>
              <a:rPr sz="1050" b="1">
                <a:solidFill>
                  <a:srgbClr val="FB4D0A"/>
                </a:solidFill>
                <a:latin typeface="Aptos"/>
              </a:rPr>
              <a:t>How it fits into current estate</a:t>
            </a:r>
          </a:p>
        </p:txBody>
      </p:sp>
      <p:sp>
        <p:nvSpPr>
          <p:cNvPr id="26" name="Rounded Rectangle 25"/>
          <p:cNvSpPr/>
          <p:nvPr/>
        </p:nvSpPr>
        <p:spPr>
          <a:xfrm>
            <a:off x="4617720" y="2542032"/>
            <a:ext cx="2880360" cy="457200"/>
          </a:xfrm>
          <a:prstGeom prst="roundRect">
            <a:avLst/>
          </a:prstGeom>
          <a:solidFill>
            <a:srgbClr val="EAF3FB"/>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7" name="TextBox 26"/>
          <p:cNvSpPr txBox="1"/>
          <p:nvPr/>
        </p:nvSpPr>
        <p:spPr>
          <a:xfrm>
            <a:off x="5340216" y="2541600"/>
            <a:ext cx="1426224" cy="483209"/>
          </a:xfrm>
          <a:prstGeom prst="rect">
            <a:avLst/>
          </a:prstGeom>
          <a:noFill/>
        </p:spPr>
        <p:txBody>
          <a:bodyPr wrap="none" lIns="36576" tIns="18288" rIns="36576" bIns="18288">
            <a:spAutoFit/>
          </a:bodyPr>
          <a:lstStyle/>
          <a:p>
            <a:pPr algn="ctr"/>
            <a:r>
              <a:rPr sz="900" b="1">
                <a:solidFill>
                  <a:srgbClr val="00263E"/>
                </a:solidFill>
                <a:latin typeface="Aptos"/>
              </a:rPr>
              <a:t>Existing</a:t>
            </a:r>
            <a:br>
              <a:rPr sz="2000"/>
            </a:br>
            <a:r>
              <a:rPr sz="2000"/>
              <a:t>Dashboards</a:t>
            </a:r>
          </a:p>
        </p:txBody>
      </p:sp>
      <p:sp>
        <p:nvSpPr>
          <p:cNvPr id="29" name="Rounded Rectangle 28"/>
          <p:cNvSpPr/>
          <p:nvPr/>
        </p:nvSpPr>
        <p:spPr>
          <a:xfrm>
            <a:off x="4617720" y="3291840"/>
            <a:ext cx="2880360" cy="457200"/>
          </a:xfrm>
          <a:prstGeom prst="roundRect">
            <a:avLst/>
          </a:prstGeom>
          <a:solidFill>
            <a:srgbClr val="FFF2EA"/>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0" name="TextBox 29"/>
          <p:cNvSpPr txBox="1"/>
          <p:nvPr/>
        </p:nvSpPr>
        <p:spPr>
          <a:xfrm>
            <a:off x="5598473" y="3289251"/>
            <a:ext cx="946285" cy="483209"/>
          </a:xfrm>
          <a:prstGeom prst="rect">
            <a:avLst/>
          </a:prstGeom>
          <a:noFill/>
        </p:spPr>
        <p:txBody>
          <a:bodyPr wrap="none" lIns="36576" tIns="18288" rIns="36576" bIns="18288">
            <a:spAutoFit/>
          </a:bodyPr>
          <a:lstStyle/>
          <a:p>
            <a:pPr algn="ctr"/>
            <a:r>
              <a:rPr sz="900" b="1">
                <a:solidFill>
                  <a:srgbClr val="FB4D0A"/>
                </a:solidFill>
                <a:latin typeface="Aptos"/>
              </a:rPr>
              <a:t>InsightForge</a:t>
            </a:r>
            <a:br>
              <a:rPr sz="2000"/>
            </a:br>
            <a:r>
              <a:rPr sz="2000"/>
              <a:t>AI Layer</a:t>
            </a:r>
          </a:p>
        </p:txBody>
      </p:sp>
      <p:sp>
        <p:nvSpPr>
          <p:cNvPr id="32" name="Rounded Rectangle 31"/>
          <p:cNvSpPr/>
          <p:nvPr/>
        </p:nvSpPr>
        <p:spPr>
          <a:xfrm>
            <a:off x="4617720" y="4041648"/>
            <a:ext cx="2880360" cy="457200"/>
          </a:xfrm>
          <a:prstGeom prst="roundRect">
            <a:avLst/>
          </a:prstGeom>
          <a:solidFill>
            <a:srgbClr val="EAF3FB"/>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3" name="TextBox 32"/>
          <p:cNvSpPr txBox="1"/>
          <p:nvPr/>
        </p:nvSpPr>
        <p:spPr>
          <a:xfrm>
            <a:off x="4962742" y="4046416"/>
            <a:ext cx="2181174" cy="483209"/>
          </a:xfrm>
          <a:prstGeom prst="rect">
            <a:avLst/>
          </a:prstGeom>
          <a:noFill/>
        </p:spPr>
        <p:txBody>
          <a:bodyPr wrap="none" lIns="36576" tIns="18288" rIns="36576" bIns="18288" anchor="t">
            <a:spAutoFit/>
          </a:bodyPr>
          <a:lstStyle/>
          <a:p>
            <a:pPr algn="ctr"/>
            <a:r>
              <a:rPr sz="900" b="1">
                <a:solidFill>
                  <a:srgbClr val="00263E"/>
                </a:solidFill>
                <a:latin typeface="Aptos"/>
              </a:rPr>
              <a:t>RCA + Evidence</a:t>
            </a:r>
            <a:br>
              <a:rPr sz="2000"/>
            </a:br>
            <a:r>
              <a:rPr lang="en-US" sz="2000"/>
              <a:t>Recommendations</a:t>
            </a:r>
            <a:endParaRPr sz="2000"/>
          </a:p>
        </p:txBody>
      </p:sp>
      <p:sp>
        <p:nvSpPr>
          <p:cNvPr id="34" name="Rounded Rectangle 33"/>
          <p:cNvSpPr/>
          <p:nvPr/>
        </p:nvSpPr>
        <p:spPr>
          <a:xfrm>
            <a:off x="8229600" y="1874519"/>
            <a:ext cx="3429000" cy="2907792"/>
          </a:xfrm>
          <a:prstGeom prst="roundRect">
            <a:avLst/>
          </a:prstGeom>
          <a:solidFill>
            <a:srgbClr val="FFFFFF"/>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5" name="TextBox 34"/>
          <p:cNvSpPr txBox="1"/>
          <p:nvPr/>
        </p:nvSpPr>
        <p:spPr>
          <a:xfrm>
            <a:off x="8458200" y="2057400"/>
            <a:ext cx="1160702" cy="206210"/>
          </a:xfrm>
          <a:prstGeom prst="rect">
            <a:avLst/>
          </a:prstGeom>
          <a:noFill/>
        </p:spPr>
        <p:txBody>
          <a:bodyPr wrap="none" lIns="36576" tIns="18288" rIns="36576" bIns="18288">
            <a:spAutoFit/>
          </a:bodyPr>
          <a:lstStyle/>
          <a:p>
            <a:r>
              <a:rPr sz="1100" b="1">
                <a:solidFill>
                  <a:srgbClr val="FB4D0A"/>
                </a:solidFill>
                <a:latin typeface="Aptos"/>
              </a:rPr>
              <a:t>Why it is feasible</a:t>
            </a:r>
          </a:p>
        </p:txBody>
      </p:sp>
      <p:sp>
        <p:nvSpPr>
          <p:cNvPr id="36" name="TextBox 35"/>
          <p:cNvSpPr txBox="1"/>
          <p:nvPr/>
        </p:nvSpPr>
        <p:spPr>
          <a:xfrm>
            <a:off x="8346124" y="2725730"/>
            <a:ext cx="3126387" cy="1406539"/>
          </a:xfrm>
          <a:prstGeom prst="rect">
            <a:avLst/>
          </a:prstGeom>
          <a:noFill/>
        </p:spPr>
        <p:txBody>
          <a:bodyPr wrap="square" lIns="36576" tIns="18288" rIns="36576" bIns="18288">
            <a:spAutoFit/>
          </a:bodyPr>
          <a:lstStyle/>
          <a:p>
            <a:pPr>
              <a:spcAft>
                <a:spcPts val="150"/>
              </a:spcAft>
              <a:defRPr sz="610">
                <a:solidFill>
                  <a:srgbClr val="3B4652"/>
                </a:solidFill>
                <a:latin typeface="Aptos"/>
              </a:defRPr>
            </a:pPr>
            <a:r>
              <a:rPr sz="1050">
                <a:solidFill>
                  <a:srgbClr val="3B4652"/>
                </a:solidFill>
                <a:latin typeface="Aptos"/>
              </a:rPr>
              <a:t>• Cloud Run can host the </a:t>
            </a:r>
            <a:r>
              <a:rPr sz="1050" err="1">
                <a:solidFill>
                  <a:srgbClr val="3B4652"/>
                </a:solidFill>
                <a:latin typeface="Aptos"/>
              </a:rPr>
              <a:t>Streamlit</a:t>
            </a:r>
            <a:r>
              <a:rPr sz="1050">
                <a:solidFill>
                  <a:srgbClr val="3B4652"/>
                </a:solidFill>
                <a:latin typeface="Aptos"/>
              </a:rPr>
              <a:t> UI and AI services.</a:t>
            </a:r>
          </a:p>
          <a:p>
            <a:pPr>
              <a:spcAft>
                <a:spcPts val="150"/>
              </a:spcAft>
              <a:defRPr sz="610">
                <a:solidFill>
                  <a:srgbClr val="3B4652"/>
                </a:solidFill>
                <a:latin typeface="Aptos"/>
              </a:defRPr>
            </a:pPr>
            <a:r>
              <a:rPr sz="1050">
                <a:solidFill>
                  <a:srgbClr val="3B4652"/>
                </a:solidFill>
                <a:latin typeface="Aptos"/>
              </a:rPr>
              <a:t>• OpenAI / Claude API integration supports the agent layer.</a:t>
            </a:r>
          </a:p>
          <a:p>
            <a:pPr>
              <a:spcAft>
                <a:spcPts val="150"/>
              </a:spcAft>
              <a:defRPr sz="610">
                <a:solidFill>
                  <a:srgbClr val="3B4652"/>
                </a:solidFill>
                <a:latin typeface="Aptos"/>
              </a:defRPr>
            </a:pPr>
            <a:r>
              <a:rPr sz="1050">
                <a:solidFill>
                  <a:srgbClr val="3B4652"/>
                </a:solidFill>
                <a:latin typeface="Aptos"/>
              </a:rPr>
              <a:t>• Tool calling framework limits the agent to targeted metric retrieval.</a:t>
            </a:r>
          </a:p>
          <a:p>
            <a:pPr>
              <a:spcAft>
                <a:spcPts val="150"/>
              </a:spcAft>
              <a:defRPr sz="610">
                <a:solidFill>
                  <a:srgbClr val="3B4652"/>
                </a:solidFill>
                <a:latin typeface="Aptos"/>
              </a:defRPr>
            </a:pPr>
            <a:r>
              <a:rPr sz="1050">
                <a:solidFill>
                  <a:srgbClr val="3B4652"/>
                </a:solidFill>
                <a:latin typeface="Aptos"/>
              </a:rPr>
              <a:t>• PoC can start with Complaint Rate before expanding to more KPIs.</a:t>
            </a:r>
          </a:p>
        </p:txBody>
      </p:sp>
      <p:sp>
        <p:nvSpPr>
          <p:cNvPr id="37" name="Rounded Rectangle 36"/>
          <p:cNvSpPr/>
          <p:nvPr/>
        </p:nvSpPr>
        <p:spPr>
          <a:xfrm>
            <a:off x="502920" y="5257800"/>
            <a:ext cx="11155680" cy="594360"/>
          </a:xfrm>
          <a:prstGeom prst="roundRect">
            <a:avLst/>
          </a:prstGeom>
          <a:solidFill>
            <a:srgbClr val="00263E"/>
          </a:solidFill>
          <a:ln w="10160">
            <a:solidFill>
              <a:srgbClr val="002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8" name="TextBox 37"/>
          <p:cNvSpPr txBox="1"/>
          <p:nvPr/>
        </p:nvSpPr>
        <p:spPr>
          <a:xfrm>
            <a:off x="652416" y="5451875"/>
            <a:ext cx="1127040" cy="206210"/>
          </a:xfrm>
          <a:prstGeom prst="rect">
            <a:avLst/>
          </a:prstGeom>
          <a:noFill/>
        </p:spPr>
        <p:txBody>
          <a:bodyPr wrap="none" lIns="36576" tIns="18288" rIns="36576" bIns="18288">
            <a:spAutoFit/>
          </a:bodyPr>
          <a:lstStyle/>
          <a:p>
            <a:r>
              <a:rPr sz="1100" b="1">
                <a:solidFill>
                  <a:srgbClr val="FB4D0A"/>
                </a:solidFill>
                <a:latin typeface="Aptos"/>
              </a:rPr>
              <a:t>Judge takeaway:</a:t>
            </a:r>
          </a:p>
        </p:txBody>
      </p:sp>
      <p:sp>
        <p:nvSpPr>
          <p:cNvPr id="39" name="TextBox 38"/>
          <p:cNvSpPr txBox="1"/>
          <p:nvPr/>
        </p:nvSpPr>
        <p:spPr>
          <a:xfrm>
            <a:off x="1895903" y="5364459"/>
            <a:ext cx="9576608" cy="371898"/>
          </a:xfrm>
          <a:prstGeom prst="rect">
            <a:avLst/>
          </a:prstGeom>
          <a:noFill/>
        </p:spPr>
        <p:txBody>
          <a:bodyPr wrap="square" lIns="36576" tIns="18288" rIns="36576" bIns="18288">
            <a:spAutoFit/>
          </a:bodyPr>
          <a:lstStyle/>
          <a:p>
            <a:r>
              <a:rPr lang="en-US" sz="1050" b="1">
                <a:solidFill>
                  <a:srgbClr val="FFFFFF"/>
                </a:solidFill>
              </a:rPr>
              <a:t>Feasible because InsightForge reuses existing reports, governed data and KPI logic, adding AI-led investigation, evidence and actions rather than replacing the reporting estate.</a:t>
            </a:r>
          </a:p>
        </p:txBody>
      </p:sp>
      <p:sp>
        <p:nvSpPr>
          <p:cNvPr id="41" name="Shape 12">
            <a:extLst>
              <a:ext uri="{FF2B5EF4-FFF2-40B4-BE49-F238E27FC236}">
                <a16:creationId xmlns:a16="http://schemas.microsoft.com/office/drawing/2014/main" id="{191F7C32-5FD6-CC61-B585-D9037A02EBE9}"/>
              </a:ext>
            </a:extLst>
          </p:cNvPr>
          <p:cNvSpPr/>
          <p:nvPr/>
        </p:nvSpPr>
        <p:spPr>
          <a:xfrm rot="5400000">
            <a:off x="5903637" y="3137176"/>
            <a:ext cx="299381" cy="1"/>
          </a:xfrm>
          <a:prstGeom prst="line">
            <a:avLst/>
          </a:prstGeom>
          <a:noFill/>
          <a:ln w="13970">
            <a:solidFill>
              <a:srgbClr val="FB4D0A"/>
            </a:solidFill>
            <a:prstDash val="solid"/>
            <a:tailEnd type="triangle"/>
          </a:ln>
        </p:spPr>
        <p:txBody>
          <a:bodyPr/>
          <a:lstStyle/>
          <a:p>
            <a:endParaRPr lang="en-IN" sz="3600"/>
          </a:p>
        </p:txBody>
      </p:sp>
      <p:sp>
        <p:nvSpPr>
          <p:cNvPr id="43" name="Shape 12">
            <a:extLst>
              <a:ext uri="{FF2B5EF4-FFF2-40B4-BE49-F238E27FC236}">
                <a16:creationId xmlns:a16="http://schemas.microsoft.com/office/drawing/2014/main" id="{681BC2C8-DDF8-E7B5-5EC0-036B9628567A}"/>
              </a:ext>
            </a:extLst>
          </p:cNvPr>
          <p:cNvSpPr/>
          <p:nvPr/>
        </p:nvSpPr>
        <p:spPr>
          <a:xfrm rot="5400000">
            <a:off x="5903636" y="3896538"/>
            <a:ext cx="299381" cy="1"/>
          </a:xfrm>
          <a:prstGeom prst="line">
            <a:avLst/>
          </a:prstGeom>
          <a:noFill/>
          <a:ln w="13970">
            <a:solidFill>
              <a:srgbClr val="FB4D0A"/>
            </a:solidFill>
            <a:prstDash val="solid"/>
            <a:tailEnd type="triangle"/>
          </a:ln>
        </p:spPr>
        <p:txBody>
          <a:bodyPr/>
          <a:lstStyle/>
          <a:p>
            <a:endParaRPr lang="en-IN" sz="3600"/>
          </a:p>
        </p:txBody>
      </p:sp>
      <p:sp>
        <p:nvSpPr>
          <p:cNvPr id="47" name="Text 1">
            <a:extLst>
              <a:ext uri="{FF2B5EF4-FFF2-40B4-BE49-F238E27FC236}">
                <a16:creationId xmlns:a16="http://schemas.microsoft.com/office/drawing/2014/main" id="{EBC3B550-055A-BB18-C66F-8D7ACC3C2725}"/>
              </a:ext>
            </a:extLst>
          </p:cNvPr>
          <p:cNvSpPr/>
          <p:nvPr/>
        </p:nvSpPr>
        <p:spPr>
          <a:xfrm>
            <a:off x="749808" y="118872"/>
            <a:ext cx="6035040" cy="274320"/>
          </a:xfrm>
          <a:prstGeom prst="rect">
            <a:avLst/>
          </a:prstGeom>
          <a:noFill/>
          <a:ln/>
        </p:spPr>
        <p:txBody>
          <a:bodyPr wrap="square" lIns="254" tIns="254" rIns="254" bIns="254" rtlCol="0" anchor="ctr">
            <a:noAutofit/>
          </a:bodyPr>
          <a:lstStyle/>
          <a:p>
            <a:r>
              <a:rPr lang="en-US" sz="2400" b="1">
                <a:solidFill>
                  <a:srgbClr val="005071"/>
                </a:solidFill>
                <a:latin typeface="Aptos Display"/>
              </a:rPr>
              <a:t>Feasibility to Incorporate in Existing Systems</a:t>
            </a:r>
          </a:p>
        </p:txBody>
      </p:sp>
      <p:sp>
        <p:nvSpPr>
          <p:cNvPr id="49" name="Text 2">
            <a:extLst>
              <a:ext uri="{FF2B5EF4-FFF2-40B4-BE49-F238E27FC236}">
                <a16:creationId xmlns:a16="http://schemas.microsoft.com/office/drawing/2014/main" id="{395A86E8-12FF-1EEC-A0DE-24724E646611}"/>
              </a:ext>
            </a:extLst>
          </p:cNvPr>
          <p:cNvSpPr/>
          <p:nvPr/>
        </p:nvSpPr>
        <p:spPr>
          <a:xfrm>
            <a:off x="761746" y="438912"/>
            <a:ext cx="10881360" cy="164592"/>
          </a:xfrm>
          <a:prstGeom prst="rect">
            <a:avLst/>
          </a:prstGeom>
          <a:noFill/>
          <a:ln/>
        </p:spPr>
        <p:txBody>
          <a:bodyPr wrap="square" lIns="508" tIns="508" rIns="508" bIns="508" rtlCol="0" anchor="ctr">
            <a:normAutofit/>
          </a:bodyPr>
          <a:lstStyle/>
          <a:p>
            <a:r>
              <a:rPr lang="en-US" sz="1000">
                <a:solidFill>
                  <a:srgbClr val="3B4652"/>
                </a:solidFill>
              </a:rPr>
              <a:t>Designed as an additional intelligence layer on top of current reporting and analytics capabilities.</a:t>
            </a:r>
          </a:p>
        </p:txBody>
      </p:sp>
      <p:sp>
        <p:nvSpPr>
          <p:cNvPr id="55" name="Shape 3">
            <a:extLst>
              <a:ext uri="{FF2B5EF4-FFF2-40B4-BE49-F238E27FC236}">
                <a16:creationId xmlns:a16="http://schemas.microsoft.com/office/drawing/2014/main" id="{0FFD4AB3-0069-CAC2-C21A-52E2655AE937}"/>
              </a:ext>
            </a:extLst>
          </p:cNvPr>
          <p:cNvSpPr/>
          <p:nvPr/>
        </p:nvSpPr>
        <p:spPr>
          <a:xfrm>
            <a:off x="219456" y="737870"/>
            <a:ext cx="11777472" cy="1"/>
          </a:xfrm>
          <a:prstGeom prst="line">
            <a:avLst/>
          </a:prstGeom>
          <a:noFill/>
          <a:ln w="10160">
            <a:solidFill>
              <a:srgbClr val="D8E1EA"/>
            </a:solidFill>
            <a:prstDash val="solid"/>
          </a:ln>
        </p:spPr>
        <p:txBody>
          <a:bodyPr/>
          <a:lstStyle/>
          <a:p>
            <a:endParaRPr lang="en-IN" sz="2800"/>
          </a:p>
        </p:txBody>
      </p:sp>
      <p:sp>
        <p:nvSpPr>
          <p:cNvPr id="6" name="Text 36">
            <a:extLst>
              <a:ext uri="{FF2B5EF4-FFF2-40B4-BE49-F238E27FC236}">
                <a16:creationId xmlns:a16="http://schemas.microsoft.com/office/drawing/2014/main" id="{26D5D2C9-F806-FCDE-768A-28430EBD6E70}"/>
              </a:ext>
            </a:extLst>
          </p:cNvPr>
          <p:cNvSpPr/>
          <p:nvPr/>
        </p:nvSpPr>
        <p:spPr>
          <a:xfrm>
            <a:off x="11411712" y="6473952"/>
            <a:ext cx="411480" cy="137160"/>
          </a:xfrm>
          <a:prstGeom prst="rect">
            <a:avLst/>
          </a:prstGeom>
          <a:noFill/>
          <a:ln/>
        </p:spPr>
        <p:txBody>
          <a:bodyPr wrap="square" lIns="508" tIns="508" rIns="508" bIns="508" rtlCol="0" anchor="ctr">
            <a:normAutofit/>
          </a:bodyPr>
          <a:lstStyle/>
          <a:p>
            <a:pPr marL="0" indent="0" algn="l">
              <a:buNone/>
            </a:pPr>
            <a:r>
              <a:rPr lang="en-US" sz="700" b="1">
                <a:solidFill>
                  <a:srgbClr val="FB4D0A"/>
                </a:solidFill>
                <a:latin typeface="Aptos" pitchFamily="34" charset="0"/>
                <a:ea typeface="Aptos" pitchFamily="34" charset="-122"/>
                <a:cs typeface="Aptos" pitchFamily="34" charset="-120"/>
              </a:rPr>
              <a:t>EXL</a:t>
            </a:r>
            <a:endParaRPr lang="en-US" sz="7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Shape 0"/>
          <p:cNvSpPr/>
          <p:nvPr/>
        </p:nvSpPr>
        <p:spPr>
          <a:xfrm>
            <a:off x="0" y="0"/>
            <a:ext cx="12191695" cy="64008"/>
          </a:xfrm>
          <a:prstGeom prst="rect">
            <a:avLst/>
          </a:prstGeom>
          <a:solidFill>
            <a:srgbClr val="FB4D0A"/>
          </a:solidFill>
          <a:ln w="12700">
            <a:solidFill>
              <a:srgbClr val="FB4D0A"/>
            </a:solidFill>
            <a:prstDash val="solid"/>
          </a:ln>
        </p:spPr>
        <p:txBody>
          <a:bodyPr/>
          <a:lstStyle/>
          <a:p>
            <a:endParaRPr lang="en-IN" sz="2000"/>
          </a:p>
        </p:txBody>
      </p:sp>
      <p:sp>
        <p:nvSpPr>
          <p:cNvPr id="3" name="Text 1"/>
          <p:cNvSpPr/>
          <p:nvPr/>
        </p:nvSpPr>
        <p:spPr>
          <a:xfrm>
            <a:off x="411480" y="219456"/>
            <a:ext cx="5669280" cy="310896"/>
          </a:xfrm>
          <a:prstGeom prst="rect">
            <a:avLst/>
          </a:prstGeom>
          <a:noFill/>
          <a:ln/>
        </p:spPr>
        <p:txBody>
          <a:bodyPr wrap="square" lIns="254" tIns="254" rIns="254" bIns="254" rtlCol="0" anchor="ctr">
            <a:noAutofit/>
          </a:bodyPr>
          <a:lstStyle/>
          <a:p>
            <a:pPr marL="0" indent="0">
              <a:buNone/>
            </a:pPr>
            <a:r>
              <a:rPr lang="en-US" sz="2400" b="1">
                <a:solidFill>
                  <a:srgbClr val="005071"/>
                </a:solidFill>
                <a:latin typeface="Aptos Display" pitchFamily="34" charset="0"/>
                <a:ea typeface="Aptos Display" pitchFamily="34" charset="-122"/>
                <a:cs typeface="Aptos Display" pitchFamily="34" charset="-120"/>
              </a:rPr>
              <a:t>Why InsightForge Is Different</a:t>
            </a:r>
            <a:endParaRPr lang="en-US" sz="2400"/>
          </a:p>
        </p:txBody>
      </p:sp>
      <p:sp>
        <p:nvSpPr>
          <p:cNvPr id="4" name="Text 2"/>
          <p:cNvSpPr/>
          <p:nvPr/>
        </p:nvSpPr>
        <p:spPr>
          <a:xfrm>
            <a:off x="438912" y="676656"/>
            <a:ext cx="8503920" cy="182880"/>
          </a:xfrm>
          <a:prstGeom prst="rect">
            <a:avLst/>
          </a:prstGeom>
          <a:noFill/>
          <a:ln/>
        </p:spPr>
        <p:txBody>
          <a:bodyPr wrap="square" lIns="508" tIns="508" rIns="508" bIns="508" rtlCol="0" anchor="ctr">
            <a:normAutofit/>
          </a:bodyPr>
          <a:lstStyle/>
          <a:p>
            <a:pPr marL="0" indent="0" algn="l">
              <a:buNone/>
            </a:pPr>
            <a:r>
              <a:rPr lang="en-US" sz="1000">
                <a:solidFill>
                  <a:srgbClr val="3B4652"/>
                </a:solidFill>
                <a:latin typeface="Aptos" pitchFamily="34" charset="0"/>
                <a:ea typeface="Aptos" pitchFamily="34" charset="-122"/>
                <a:cs typeface="Aptos" pitchFamily="34" charset="-120"/>
              </a:rPr>
              <a:t>One-stop intelligence layer: see the problem, investigate the cause, act on the evidence, ask follow-up questions.</a:t>
            </a:r>
            <a:endParaRPr lang="en-US" sz="1000"/>
          </a:p>
        </p:txBody>
      </p:sp>
      <p:sp>
        <p:nvSpPr>
          <p:cNvPr id="5" name="Shape 3"/>
          <p:cNvSpPr/>
          <p:nvPr/>
        </p:nvSpPr>
        <p:spPr>
          <a:xfrm>
            <a:off x="411480" y="987552"/>
            <a:ext cx="11292840" cy="1"/>
          </a:xfrm>
          <a:prstGeom prst="line">
            <a:avLst/>
          </a:prstGeom>
          <a:noFill/>
          <a:ln w="11430">
            <a:solidFill>
              <a:srgbClr val="D8E1EA"/>
            </a:solidFill>
            <a:prstDash val="solid"/>
          </a:ln>
        </p:spPr>
        <p:txBody>
          <a:bodyPr/>
          <a:lstStyle/>
          <a:p>
            <a:endParaRPr lang="en-IN" sz="2000"/>
          </a:p>
        </p:txBody>
      </p:sp>
      <p:sp>
        <p:nvSpPr>
          <p:cNvPr id="6" name="Shape 4"/>
          <p:cNvSpPr/>
          <p:nvPr/>
        </p:nvSpPr>
        <p:spPr>
          <a:xfrm>
            <a:off x="502920" y="1188720"/>
            <a:ext cx="11201400" cy="658368"/>
          </a:xfrm>
          <a:prstGeom prst="roundRect">
            <a:avLst>
              <a:gd name="adj" fmla="val 11111"/>
            </a:avLst>
          </a:prstGeom>
          <a:solidFill>
            <a:srgbClr val="FFF2EA"/>
          </a:solidFill>
          <a:ln w="8890">
            <a:solidFill>
              <a:srgbClr val="D8E1EA"/>
            </a:solidFill>
            <a:prstDash val="solid"/>
          </a:ln>
          <a:effectLst>
            <a:outerShdw blurRad="12700" dist="6350" dir="2700000" algn="bl" rotWithShape="0">
              <a:srgbClr val="000000">
                <a:alpha val="10000"/>
              </a:srgbClr>
            </a:outerShdw>
          </a:effectLst>
        </p:spPr>
        <p:txBody>
          <a:bodyPr/>
          <a:lstStyle/>
          <a:p>
            <a:endParaRPr lang="en-IN" sz="2000"/>
          </a:p>
        </p:txBody>
      </p:sp>
      <p:sp>
        <p:nvSpPr>
          <p:cNvPr id="7" name="Text 5"/>
          <p:cNvSpPr/>
          <p:nvPr/>
        </p:nvSpPr>
        <p:spPr>
          <a:xfrm>
            <a:off x="749808" y="1408176"/>
            <a:ext cx="9966960" cy="164592"/>
          </a:xfrm>
          <a:prstGeom prst="rect">
            <a:avLst/>
          </a:prstGeom>
          <a:noFill/>
          <a:ln/>
        </p:spPr>
        <p:txBody>
          <a:bodyPr wrap="square" lIns="254" tIns="254" rIns="254" bIns="254" rtlCol="0" anchor="ctr">
            <a:noAutofit/>
          </a:bodyPr>
          <a:lstStyle/>
          <a:p>
            <a:pPr marL="0" indent="0">
              <a:buNone/>
            </a:pPr>
            <a:r>
              <a:rPr lang="en-US" sz="1400" b="1">
                <a:solidFill>
                  <a:srgbClr val="00263E"/>
                </a:solidFill>
                <a:latin typeface="Aptos Display" pitchFamily="34" charset="0"/>
                <a:ea typeface="Aptos Display" pitchFamily="34" charset="-122"/>
                <a:cs typeface="Aptos Display" pitchFamily="34" charset="-120"/>
              </a:rPr>
              <a:t>InsightForge is not a standalone dashboard. It connects the existing KPI view with AI investigation, evidence, actions and conversational follow-up.</a:t>
            </a:r>
            <a:endParaRPr lang="en-US" sz="1400"/>
          </a:p>
        </p:txBody>
      </p:sp>
      <p:sp>
        <p:nvSpPr>
          <p:cNvPr id="8" name="Shape 6"/>
          <p:cNvSpPr/>
          <p:nvPr/>
        </p:nvSpPr>
        <p:spPr>
          <a:xfrm>
            <a:off x="640080" y="2103120"/>
            <a:ext cx="3154680" cy="1234440"/>
          </a:xfrm>
          <a:prstGeom prst="roundRect">
            <a:avLst>
              <a:gd name="adj" fmla="val 5926"/>
            </a:avLst>
          </a:prstGeom>
          <a:solidFill>
            <a:srgbClr val="FFFFFF"/>
          </a:solidFill>
          <a:ln w="8890">
            <a:solidFill>
              <a:srgbClr val="D8E1EA"/>
            </a:solidFill>
            <a:prstDash val="solid"/>
          </a:ln>
          <a:effectLst>
            <a:outerShdw blurRad="12700" dist="6350" dir="2700000" algn="bl" rotWithShape="0">
              <a:srgbClr val="000000">
                <a:alpha val="10000"/>
              </a:srgbClr>
            </a:outerShdw>
          </a:effectLst>
        </p:spPr>
        <p:txBody>
          <a:bodyPr/>
          <a:lstStyle/>
          <a:p>
            <a:endParaRPr lang="en-IN" sz="4000"/>
          </a:p>
        </p:txBody>
      </p:sp>
      <p:sp>
        <p:nvSpPr>
          <p:cNvPr id="9" name="Shape 7"/>
          <p:cNvSpPr/>
          <p:nvPr/>
        </p:nvSpPr>
        <p:spPr>
          <a:xfrm>
            <a:off x="804672" y="2322576"/>
            <a:ext cx="384048" cy="274320"/>
          </a:xfrm>
          <a:prstGeom prst="roundRect">
            <a:avLst>
              <a:gd name="adj" fmla="val 26667"/>
            </a:avLst>
          </a:prstGeom>
          <a:solidFill>
            <a:srgbClr val="00263E"/>
          </a:solidFill>
          <a:ln w="12700">
            <a:solidFill>
              <a:srgbClr val="00263E"/>
            </a:solidFill>
            <a:prstDash val="solid"/>
          </a:ln>
        </p:spPr>
        <p:txBody>
          <a:bodyPr/>
          <a:lstStyle/>
          <a:p>
            <a:endParaRPr lang="en-IN" sz="4000"/>
          </a:p>
        </p:txBody>
      </p:sp>
      <p:sp>
        <p:nvSpPr>
          <p:cNvPr id="10" name="Text 8"/>
          <p:cNvSpPr/>
          <p:nvPr/>
        </p:nvSpPr>
        <p:spPr>
          <a:xfrm>
            <a:off x="841248" y="2386584"/>
            <a:ext cx="310896" cy="109728"/>
          </a:xfrm>
          <a:prstGeom prst="rect">
            <a:avLst/>
          </a:prstGeom>
          <a:noFill/>
          <a:ln/>
        </p:spPr>
        <p:txBody>
          <a:bodyPr wrap="square" lIns="508" tIns="508" rIns="508" bIns="508" rtlCol="0" anchor="ctr">
            <a:noAutofit/>
          </a:bodyPr>
          <a:lstStyle/>
          <a:p>
            <a:pPr marL="0" indent="0" algn="ctr">
              <a:buNone/>
            </a:pPr>
            <a:r>
              <a:rPr lang="en-US" sz="1100" b="1">
                <a:solidFill>
                  <a:srgbClr val="FFFFFF"/>
                </a:solidFill>
                <a:latin typeface="Aptos" pitchFamily="34" charset="0"/>
                <a:ea typeface="Aptos" pitchFamily="34" charset="-122"/>
                <a:cs typeface="Aptos" pitchFamily="34" charset="-120"/>
              </a:rPr>
              <a:t>1</a:t>
            </a:r>
            <a:endParaRPr lang="en-US" sz="1100"/>
          </a:p>
        </p:txBody>
      </p:sp>
      <p:sp>
        <p:nvSpPr>
          <p:cNvPr id="11" name="Text 9"/>
          <p:cNvSpPr/>
          <p:nvPr/>
        </p:nvSpPr>
        <p:spPr>
          <a:xfrm>
            <a:off x="1298448" y="2258567"/>
            <a:ext cx="2148840" cy="438909"/>
          </a:xfrm>
          <a:prstGeom prst="rect">
            <a:avLst/>
          </a:prstGeom>
          <a:noFill/>
          <a:ln/>
        </p:spPr>
        <p:txBody>
          <a:bodyPr wrap="square" lIns="508" tIns="508" rIns="508" bIns="508" rtlCol="0" anchor="ctr">
            <a:noAutofit/>
          </a:bodyPr>
          <a:lstStyle/>
          <a:p>
            <a:pPr marL="0" indent="0" algn="l">
              <a:buNone/>
            </a:pPr>
            <a:r>
              <a:rPr lang="en-US" sz="1400" b="1">
                <a:solidFill>
                  <a:srgbClr val="00263E"/>
                </a:solidFill>
                <a:latin typeface="Aptos" pitchFamily="34" charset="0"/>
                <a:ea typeface="Aptos" pitchFamily="34" charset="-122"/>
                <a:cs typeface="Aptos" pitchFamily="34" charset="-120"/>
              </a:rPr>
              <a:t>Existing Dashboard / Report</a:t>
            </a:r>
            <a:endParaRPr lang="en-US" sz="1400"/>
          </a:p>
        </p:txBody>
      </p:sp>
      <p:sp>
        <p:nvSpPr>
          <p:cNvPr id="12" name="Text 10"/>
          <p:cNvSpPr/>
          <p:nvPr/>
        </p:nvSpPr>
        <p:spPr>
          <a:xfrm>
            <a:off x="1298448" y="2784348"/>
            <a:ext cx="2194560" cy="329184"/>
          </a:xfrm>
          <a:prstGeom prst="rect">
            <a:avLst/>
          </a:prstGeom>
          <a:noFill/>
          <a:ln/>
        </p:spPr>
        <p:txBody>
          <a:bodyPr wrap="square" lIns="508" tIns="508" rIns="508" bIns="508" rtlCol="0" anchor="ctr">
            <a:noAutofit/>
          </a:bodyPr>
          <a:lstStyle/>
          <a:p>
            <a:pPr marL="0" indent="0" algn="l">
              <a:buNone/>
            </a:pPr>
            <a:r>
              <a:rPr lang="en-US" sz="1100">
                <a:solidFill>
                  <a:srgbClr val="3B4652"/>
                </a:solidFill>
                <a:latin typeface="Aptos" pitchFamily="34" charset="0"/>
                <a:ea typeface="Aptos" pitchFamily="34" charset="-122"/>
                <a:cs typeface="Aptos" pitchFamily="34" charset="-120"/>
              </a:rPr>
              <a:t>Shows KPI movement, historical trends and performance change.</a:t>
            </a:r>
            <a:endParaRPr lang="en-US" sz="1100"/>
          </a:p>
        </p:txBody>
      </p:sp>
      <p:sp>
        <p:nvSpPr>
          <p:cNvPr id="13" name="Shape 11"/>
          <p:cNvSpPr/>
          <p:nvPr/>
        </p:nvSpPr>
        <p:spPr>
          <a:xfrm>
            <a:off x="3785616" y="2697480"/>
            <a:ext cx="475488" cy="1"/>
          </a:xfrm>
          <a:prstGeom prst="line">
            <a:avLst/>
          </a:prstGeom>
          <a:noFill/>
          <a:ln w="17780">
            <a:solidFill>
              <a:srgbClr val="FB4D0A"/>
            </a:solidFill>
            <a:prstDash val="solid"/>
            <a:tailEnd type="triangle"/>
          </a:ln>
        </p:spPr>
        <p:txBody>
          <a:bodyPr/>
          <a:lstStyle/>
          <a:p>
            <a:endParaRPr lang="en-IN" sz="4000"/>
          </a:p>
        </p:txBody>
      </p:sp>
      <p:sp>
        <p:nvSpPr>
          <p:cNvPr id="14" name="Shape 12"/>
          <p:cNvSpPr/>
          <p:nvPr/>
        </p:nvSpPr>
        <p:spPr>
          <a:xfrm>
            <a:off x="4434840" y="2103120"/>
            <a:ext cx="3154680" cy="1234440"/>
          </a:xfrm>
          <a:prstGeom prst="roundRect">
            <a:avLst>
              <a:gd name="adj" fmla="val 5926"/>
            </a:avLst>
          </a:prstGeom>
          <a:solidFill>
            <a:srgbClr val="FFF2EA"/>
          </a:solidFill>
          <a:ln w="8890">
            <a:solidFill>
              <a:srgbClr val="D8E1EA"/>
            </a:solidFill>
            <a:prstDash val="solid"/>
          </a:ln>
          <a:effectLst>
            <a:outerShdw blurRad="12700" dist="6350" dir="2700000" algn="bl" rotWithShape="0">
              <a:srgbClr val="000000">
                <a:alpha val="10000"/>
              </a:srgbClr>
            </a:outerShdw>
          </a:effectLst>
        </p:spPr>
        <p:txBody>
          <a:bodyPr/>
          <a:lstStyle/>
          <a:p>
            <a:endParaRPr lang="en-IN" sz="4000"/>
          </a:p>
        </p:txBody>
      </p:sp>
      <p:sp>
        <p:nvSpPr>
          <p:cNvPr id="15" name="Shape 13"/>
          <p:cNvSpPr/>
          <p:nvPr/>
        </p:nvSpPr>
        <p:spPr>
          <a:xfrm>
            <a:off x="4599432" y="2322576"/>
            <a:ext cx="384048" cy="274320"/>
          </a:xfrm>
          <a:prstGeom prst="roundRect">
            <a:avLst>
              <a:gd name="adj" fmla="val 26667"/>
            </a:avLst>
          </a:prstGeom>
          <a:solidFill>
            <a:srgbClr val="FB4D0A"/>
          </a:solidFill>
          <a:ln w="12700">
            <a:solidFill>
              <a:srgbClr val="FB4D0A"/>
            </a:solidFill>
            <a:prstDash val="solid"/>
          </a:ln>
        </p:spPr>
        <p:txBody>
          <a:bodyPr/>
          <a:lstStyle/>
          <a:p>
            <a:endParaRPr lang="en-IN" sz="4000"/>
          </a:p>
        </p:txBody>
      </p:sp>
      <p:sp>
        <p:nvSpPr>
          <p:cNvPr id="16" name="Text 14"/>
          <p:cNvSpPr/>
          <p:nvPr/>
        </p:nvSpPr>
        <p:spPr>
          <a:xfrm>
            <a:off x="4636008" y="2386584"/>
            <a:ext cx="310896" cy="109728"/>
          </a:xfrm>
          <a:prstGeom prst="rect">
            <a:avLst/>
          </a:prstGeom>
          <a:noFill/>
          <a:ln/>
        </p:spPr>
        <p:txBody>
          <a:bodyPr wrap="square" lIns="508" tIns="508" rIns="508" bIns="508" rtlCol="0" anchor="ctr">
            <a:noAutofit/>
          </a:bodyPr>
          <a:lstStyle/>
          <a:p>
            <a:pPr marL="0" indent="0" algn="ctr">
              <a:buNone/>
            </a:pPr>
            <a:r>
              <a:rPr lang="en-US" sz="1100" b="1">
                <a:solidFill>
                  <a:srgbClr val="FFFFFF"/>
                </a:solidFill>
                <a:latin typeface="Aptos" pitchFamily="34" charset="0"/>
                <a:ea typeface="Aptos" pitchFamily="34" charset="-122"/>
                <a:cs typeface="Aptos" pitchFamily="34" charset="-120"/>
              </a:rPr>
              <a:t>2</a:t>
            </a:r>
            <a:endParaRPr lang="en-US" sz="1100"/>
          </a:p>
        </p:txBody>
      </p:sp>
      <p:sp>
        <p:nvSpPr>
          <p:cNvPr id="17" name="Text 15"/>
          <p:cNvSpPr/>
          <p:nvPr/>
        </p:nvSpPr>
        <p:spPr>
          <a:xfrm>
            <a:off x="5093208" y="2258568"/>
            <a:ext cx="2148840" cy="338328"/>
          </a:xfrm>
          <a:prstGeom prst="rect">
            <a:avLst/>
          </a:prstGeom>
          <a:noFill/>
          <a:ln/>
        </p:spPr>
        <p:txBody>
          <a:bodyPr wrap="square" lIns="508" tIns="508" rIns="508" bIns="508" rtlCol="0" anchor="ctr">
            <a:noAutofit/>
          </a:bodyPr>
          <a:lstStyle/>
          <a:p>
            <a:pPr marL="0" indent="0" algn="l">
              <a:buNone/>
            </a:pPr>
            <a:r>
              <a:rPr lang="en-US" sz="1400" b="1">
                <a:solidFill>
                  <a:srgbClr val="FB4D0A"/>
                </a:solidFill>
                <a:latin typeface="Aptos" pitchFamily="34" charset="0"/>
                <a:ea typeface="Aptos" pitchFamily="34" charset="-122"/>
                <a:cs typeface="Aptos" pitchFamily="34" charset="-120"/>
              </a:rPr>
              <a:t>InsightForge AI Layer</a:t>
            </a:r>
            <a:endParaRPr lang="en-US" sz="1400"/>
          </a:p>
        </p:txBody>
      </p:sp>
      <p:sp>
        <p:nvSpPr>
          <p:cNvPr id="18" name="Text 16"/>
          <p:cNvSpPr/>
          <p:nvPr/>
        </p:nvSpPr>
        <p:spPr>
          <a:xfrm>
            <a:off x="5093208" y="2578608"/>
            <a:ext cx="2194560" cy="658368"/>
          </a:xfrm>
          <a:prstGeom prst="rect">
            <a:avLst/>
          </a:prstGeom>
          <a:noFill/>
          <a:ln/>
        </p:spPr>
        <p:txBody>
          <a:bodyPr wrap="square" lIns="508" tIns="508" rIns="508" bIns="508" rtlCol="0" anchor="ctr">
            <a:noAutofit/>
          </a:bodyPr>
          <a:lstStyle/>
          <a:p>
            <a:pPr marL="0" indent="0" algn="l">
              <a:buNone/>
            </a:pPr>
            <a:r>
              <a:rPr lang="en-US" sz="1100">
                <a:solidFill>
                  <a:srgbClr val="3B4652"/>
                </a:solidFill>
                <a:latin typeface="Aptos" pitchFamily="34" charset="0"/>
                <a:ea typeface="Aptos" pitchFamily="34" charset="-122"/>
                <a:cs typeface="Aptos" pitchFamily="34" charset="-120"/>
              </a:rPr>
              <a:t>Forms hypotheses, chooses the relevant tools, evaluates evidence and challenges alternatives before concluding.</a:t>
            </a:r>
            <a:endParaRPr lang="en-US" sz="1100"/>
          </a:p>
        </p:txBody>
      </p:sp>
      <p:sp>
        <p:nvSpPr>
          <p:cNvPr id="19" name="Shape 17"/>
          <p:cNvSpPr/>
          <p:nvPr/>
        </p:nvSpPr>
        <p:spPr>
          <a:xfrm>
            <a:off x="7580376" y="2697480"/>
            <a:ext cx="475488" cy="1"/>
          </a:xfrm>
          <a:prstGeom prst="line">
            <a:avLst/>
          </a:prstGeom>
          <a:noFill/>
          <a:ln w="17780">
            <a:solidFill>
              <a:srgbClr val="FB4D0A"/>
            </a:solidFill>
            <a:prstDash val="solid"/>
            <a:tailEnd type="triangle"/>
          </a:ln>
        </p:spPr>
        <p:txBody>
          <a:bodyPr/>
          <a:lstStyle/>
          <a:p>
            <a:endParaRPr lang="en-IN" sz="4000"/>
          </a:p>
        </p:txBody>
      </p:sp>
      <p:sp>
        <p:nvSpPr>
          <p:cNvPr id="20" name="Shape 18"/>
          <p:cNvSpPr/>
          <p:nvPr/>
        </p:nvSpPr>
        <p:spPr>
          <a:xfrm>
            <a:off x="8229600" y="2103120"/>
            <a:ext cx="3154680" cy="1234440"/>
          </a:xfrm>
          <a:prstGeom prst="roundRect">
            <a:avLst>
              <a:gd name="adj" fmla="val 5926"/>
            </a:avLst>
          </a:prstGeom>
          <a:solidFill>
            <a:srgbClr val="EAF3FB"/>
          </a:solidFill>
          <a:ln w="8890">
            <a:solidFill>
              <a:srgbClr val="D8E1EA"/>
            </a:solidFill>
            <a:prstDash val="solid"/>
          </a:ln>
          <a:effectLst>
            <a:outerShdw blurRad="12700" dist="6350" dir="2700000" algn="bl" rotWithShape="0">
              <a:srgbClr val="000000">
                <a:alpha val="10000"/>
              </a:srgbClr>
            </a:outerShdw>
          </a:effectLst>
        </p:spPr>
        <p:txBody>
          <a:bodyPr/>
          <a:lstStyle/>
          <a:p>
            <a:endParaRPr lang="en-IN" sz="4000"/>
          </a:p>
        </p:txBody>
      </p:sp>
      <p:sp>
        <p:nvSpPr>
          <p:cNvPr id="21" name="Shape 19"/>
          <p:cNvSpPr/>
          <p:nvPr/>
        </p:nvSpPr>
        <p:spPr>
          <a:xfrm>
            <a:off x="8394192" y="2322576"/>
            <a:ext cx="384048" cy="274320"/>
          </a:xfrm>
          <a:prstGeom prst="roundRect">
            <a:avLst>
              <a:gd name="adj" fmla="val 26667"/>
            </a:avLst>
          </a:prstGeom>
          <a:solidFill>
            <a:srgbClr val="00263E"/>
          </a:solidFill>
          <a:ln w="12700">
            <a:solidFill>
              <a:srgbClr val="00263E"/>
            </a:solidFill>
            <a:prstDash val="solid"/>
          </a:ln>
        </p:spPr>
        <p:txBody>
          <a:bodyPr/>
          <a:lstStyle/>
          <a:p>
            <a:endParaRPr lang="en-IN" sz="4000"/>
          </a:p>
        </p:txBody>
      </p:sp>
      <p:sp>
        <p:nvSpPr>
          <p:cNvPr id="22" name="Text 20"/>
          <p:cNvSpPr/>
          <p:nvPr/>
        </p:nvSpPr>
        <p:spPr>
          <a:xfrm>
            <a:off x="8430768" y="2386584"/>
            <a:ext cx="310896" cy="109728"/>
          </a:xfrm>
          <a:prstGeom prst="rect">
            <a:avLst/>
          </a:prstGeom>
          <a:noFill/>
          <a:ln/>
        </p:spPr>
        <p:txBody>
          <a:bodyPr wrap="square" lIns="508" tIns="508" rIns="508" bIns="508" rtlCol="0" anchor="ctr">
            <a:noAutofit/>
          </a:bodyPr>
          <a:lstStyle/>
          <a:p>
            <a:pPr marL="0" indent="0" algn="ctr">
              <a:buNone/>
            </a:pPr>
            <a:r>
              <a:rPr lang="en-US" sz="1100" b="1">
                <a:solidFill>
                  <a:srgbClr val="FFFFFF"/>
                </a:solidFill>
                <a:latin typeface="Aptos" pitchFamily="34" charset="0"/>
                <a:ea typeface="Aptos" pitchFamily="34" charset="-122"/>
                <a:cs typeface="Aptos" pitchFamily="34" charset="-120"/>
              </a:rPr>
              <a:t>3</a:t>
            </a:r>
            <a:endParaRPr lang="en-US" sz="1100"/>
          </a:p>
        </p:txBody>
      </p:sp>
      <p:sp>
        <p:nvSpPr>
          <p:cNvPr id="23" name="Text 21"/>
          <p:cNvSpPr/>
          <p:nvPr/>
        </p:nvSpPr>
        <p:spPr>
          <a:xfrm>
            <a:off x="8887968" y="2258568"/>
            <a:ext cx="2148840" cy="329184"/>
          </a:xfrm>
          <a:prstGeom prst="rect">
            <a:avLst/>
          </a:prstGeom>
          <a:noFill/>
          <a:ln/>
        </p:spPr>
        <p:txBody>
          <a:bodyPr wrap="square" lIns="508" tIns="508" rIns="508" bIns="508" rtlCol="0" anchor="ctr">
            <a:noAutofit/>
          </a:bodyPr>
          <a:lstStyle/>
          <a:p>
            <a:pPr marL="0" indent="0" algn="l">
              <a:buNone/>
            </a:pPr>
            <a:r>
              <a:rPr lang="en-US" sz="1400" b="1">
                <a:solidFill>
                  <a:srgbClr val="00263E"/>
                </a:solidFill>
                <a:latin typeface="Aptos" pitchFamily="34" charset="0"/>
                <a:ea typeface="Aptos" pitchFamily="34" charset="-122"/>
                <a:cs typeface="Aptos" pitchFamily="34" charset="-120"/>
              </a:rPr>
              <a:t>Role-Based Action Items</a:t>
            </a:r>
            <a:endParaRPr lang="en-US" sz="1400"/>
          </a:p>
        </p:txBody>
      </p:sp>
      <p:sp>
        <p:nvSpPr>
          <p:cNvPr id="24" name="Text 22"/>
          <p:cNvSpPr/>
          <p:nvPr/>
        </p:nvSpPr>
        <p:spPr>
          <a:xfrm>
            <a:off x="8887968" y="2578608"/>
            <a:ext cx="2194560" cy="658368"/>
          </a:xfrm>
          <a:prstGeom prst="rect">
            <a:avLst/>
          </a:prstGeom>
          <a:noFill/>
          <a:ln/>
        </p:spPr>
        <p:txBody>
          <a:bodyPr wrap="square" lIns="508" tIns="508" rIns="508" bIns="508" rtlCol="0" anchor="ctr">
            <a:noAutofit/>
          </a:bodyPr>
          <a:lstStyle/>
          <a:p>
            <a:pPr marL="0" indent="0" algn="l">
              <a:buNone/>
            </a:pPr>
            <a:r>
              <a:rPr lang="en-US" sz="1100">
                <a:solidFill>
                  <a:srgbClr val="3B4652"/>
                </a:solidFill>
                <a:latin typeface="Aptos" pitchFamily="34" charset="0"/>
                <a:ea typeface="Aptos" pitchFamily="34" charset="-122"/>
                <a:cs typeface="Aptos" pitchFamily="34" charset="-120"/>
              </a:rPr>
              <a:t>Recommends practical next actions for business, customer-service and operations users — then lets users ask follow-up questions.</a:t>
            </a:r>
            <a:endParaRPr lang="en-US" sz="1100"/>
          </a:p>
        </p:txBody>
      </p:sp>
      <p:sp>
        <p:nvSpPr>
          <p:cNvPr id="25" name="Shape 23"/>
          <p:cNvSpPr/>
          <p:nvPr/>
        </p:nvSpPr>
        <p:spPr>
          <a:xfrm>
            <a:off x="502920" y="3822192"/>
            <a:ext cx="3566160" cy="1554480"/>
          </a:xfrm>
          <a:prstGeom prst="roundRect">
            <a:avLst>
              <a:gd name="adj" fmla="val 4706"/>
            </a:avLst>
          </a:prstGeom>
          <a:solidFill>
            <a:srgbClr val="F4F7FA"/>
          </a:solidFill>
          <a:ln w="8890">
            <a:solidFill>
              <a:srgbClr val="D8E1EA"/>
            </a:solidFill>
            <a:prstDash val="solid"/>
          </a:ln>
          <a:effectLst>
            <a:outerShdw blurRad="12700" dist="6350" dir="2700000" algn="bl" rotWithShape="0">
              <a:srgbClr val="000000">
                <a:alpha val="10000"/>
              </a:srgbClr>
            </a:outerShdw>
          </a:effectLst>
        </p:spPr>
        <p:txBody>
          <a:bodyPr/>
          <a:lstStyle/>
          <a:p>
            <a:endParaRPr lang="en-IN" sz="4000"/>
          </a:p>
        </p:txBody>
      </p:sp>
      <p:sp>
        <p:nvSpPr>
          <p:cNvPr id="26" name="Text 24"/>
          <p:cNvSpPr/>
          <p:nvPr/>
        </p:nvSpPr>
        <p:spPr>
          <a:xfrm>
            <a:off x="749808" y="4032504"/>
            <a:ext cx="2011680" cy="137160"/>
          </a:xfrm>
          <a:prstGeom prst="rect">
            <a:avLst/>
          </a:prstGeom>
          <a:noFill/>
          <a:ln/>
        </p:spPr>
        <p:txBody>
          <a:bodyPr wrap="square" lIns="508" tIns="508" rIns="508" bIns="508" rtlCol="0" anchor="ctr">
            <a:noAutofit/>
          </a:bodyPr>
          <a:lstStyle/>
          <a:p>
            <a:pPr marL="0" indent="0" algn="l">
              <a:buNone/>
            </a:pPr>
            <a:r>
              <a:rPr lang="en-US" sz="1200" b="1">
                <a:solidFill>
                  <a:srgbClr val="FB4D0A"/>
                </a:solidFill>
                <a:latin typeface="Aptos" pitchFamily="34" charset="0"/>
                <a:ea typeface="Aptos" pitchFamily="34" charset="-122"/>
                <a:cs typeface="Aptos" pitchFamily="34" charset="-120"/>
              </a:rPr>
              <a:t>Dashboard / Automation</a:t>
            </a:r>
            <a:endParaRPr lang="en-US" sz="1200"/>
          </a:p>
        </p:txBody>
      </p:sp>
      <p:sp>
        <p:nvSpPr>
          <p:cNvPr id="27" name="Text 25"/>
          <p:cNvSpPr/>
          <p:nvPr/>
        </p:nvSpPr>
        <p:spPr>
          <a:xfrm>
            <a:off x="749808" y="4169664"/>
            <a:ext cx="2926080" cy="1207008"/>
          </a:xfrm>
          <a:prstGeom prst="rect">
            <a:avLst/>
          </a:prstGeom>
          <a:noFill/>
          <a:ln/>
        </p:spPr>
        <p:txBody>
          <a:bodyPr wrap="square" lIns="381" tIns="381" rIns="381" bIns="381" rtlCol="0" anchor="ctr">
            <a:noAutofit/>
          </a:bodyPr>
          <a:lstStyle/>
          <a:p>
            <a:pPr marL="0" indent="0">
              <a:buNone/>
            </a:pPr>
            <a:r>
              <a:rPr lang="en-US" sz="1200">
                <a:solidFill>
                  <a:srgbClr val="FB4D0A"/>
                </a:solidFill>
                <a:latin typeface="Aptos" pitchFamily="34" charset="0"/>
                <a:ea typeface="Aptos" pitchFamily="34" charset="-122"/>
                <a:cs typeface="Aptos" pitchFamily="34" charset="-120"/>
              </a:rPr>
              <a:t>• Shows KPI movement and trends.
• Highlights that a deviation exists.
• Root-cause explanation still requires manual investigation.</a:t>
            </a:r>
            <a:r>
              <a:rPr lang="en-US" sz="1200">
                <a:solidFill>
                  <a:srgbClr val="3B4652"/>
                </a:solidFill>
                <a:latin typeface="Aptos" pitchFamily="34" charset="0"/>
                <a:ea typeface="Aptos" pitchFamily="34" charset="-122"/>
                <a:cs typeface="Aptos" pitchFamily="34" charset="-120"/>
              </a:rPr>
              <a:t/>
            </a:r>
            <a:r>
              <a:rPr lang="en-US" sz="1200">
                <a:solidFill>
                  <a:srgbClr val="FB4D0A"/>
                </a:solidFill>
                <a:latin typeface="Aptos" pitchFamily="34" charset="0"/>
                <a:ea typeface="Aptos" pitchFamily="34" charset="-122"/>
                <a:cs typeface="Aptos" pitchFamily="34" charset="-120"/>
              </a:rPr>
              <a:t/>
            </a:r>
            <a:r>
              <a:rPr lang="en-US" sz="1200">
                <a:solidFill>
                  <a:srgbClr val="3B4652"/>
                </a:solidFill>
                <a:latin typeface="Aptos" pitchFamily="34" charset="0"/>
                <a:ea typeface="Aptos" pitchFamily="34" charset="-122"/>
                <a:cs typeface="Aptos" pitchFamily="34" charset="-120"/>
              </a:rPr>
              <a:t/>
            </a:r>
            <a:r>
              <a:rPr lang="en-US" sz="1200">
                <a:solidFill>
                  <a:srgbClr val="FB4D0A"/>
                </a:solidFill>
                <a:latin typeface="Aptos" pitchFamily="34" charset="0"/>
                <a:ea typeface="Aptos" pitchFamily="34" charset="-122"/>
                <a:cs typeface="Aptos" pitchFamily="34" charset="-120"/>
              </a:rPr>
              <a:t/>
            </a:r>
            <a:r>
              <a:rPr lang="en-US" sz="1200">
                <a:solidFill>
                  <a:srgbClr val="3B4652"/>
                </a:solidFill>
                <a:latin typeface="Aptos" pitchFamily="34" charset="0"/>
                <a:ea typeface="Aptos" pitchFamily="34" charset="-122"/>
                <a:cs typeface="Aptos" pitchFamily="34" charset="-120"/>
              </a:rPr>
              <a:t/>
            </a:r>
            <a:endParaRPr lang="en-US" sz="1200"/>
          </a:p>
        </p:txBody>
      </p:sp>
      <p:sp>
        <p:nvSpPr>
          <p:cNvPr id="28" name="Shape 26"/>
          <p:cNvSpPr/>
          <p:nvPr/>
        </p:nvSpPr>
        <p:spPr>
          <a:xfrm>
            <a:off x="4315968" y="3822192"/>
            <a:ext cx="3566160" cy="1554480"/>
          </a:xfrm>
          <a:prstGeom prst="roundRect">
            <a:avLst>
              <a:gd name="adj" fmla="val 4706"/>
            </a:avLst>
          </a:prstGeom>
          <a:solidFill>
            <a:srgbClr val="FFFFFF"/>
          </a:solidFill>
          <a:ln w="8890">
            <a:solidFill>
              <a:srgbClr val="D8E1EA"/>
            </a:solidFill>
            <a:prstDash val="solid"/>
          </a:ln>
          <a:effectLst>
            <a:outerShdw blurRad="12700" dist="6350" dir="2700000" algn="bl" rotWithShape="0">
              <a:srgbClr val="000000">
                <a:alpha val="10000"/>
              </a:srgbClr>
            </a:outerShdw>
          </a:effectLst>
        </p:spPr>
        <p:txBody>
          <a:bodyPr/>
          <a:lstStyle/>
          <a:p>
            <a:endParaRPr lang="en-IN" sz="4000"/>
          </a:p>
        </p:txBody>
      </p:sp>
      <p:sp>
        <p:nvSpPr>
          <p:cNvPr id="29" name="Text 27"/>
          <p:cNvSpPr/>
          <p:nvPr/>
        </p:nvSpPr>
        <p:spPr>
          <a:xfrm>
            <a:off x="4562856" y="4032504"/>
            <a:ext cx="2103120" cy="137160"/>
          </a:xfrm>
          <a:prstGeom prst="rect">
            <a:avLst/>
          </a:prstGeom>
          <a:noFill/>
          <a:ln/>
        </p:spPr>
        <p:txBody>
          <a:bodyPr wrap="square" lIns="508" tIns="508" rIns="508" bIns="508" rtlCol="0" anchor="ctr">
            <a:noAutofit/>
          </a:bodyPr>
          <a:lstStyle/>
          <a:p>
            <a:pPr marL="0" indent="0" algn="l">
              <a:buNone/>
            </a:pPr>
            <a:r>
              <a:rPr lang="en-US" sz="1200" b="1">
                <a:solidFill>
                  <a:srgbClr val="FB4D0A"/>
                </a:solidFill>
                <a:latin typeface="Aptos" pitchFamily="34" charset="0"/>
                <a:ea typeface="Aptos" pitchFamily="34" charset="-122"/>
                <a:cs typeface="Aptos" pitchFamily="34" charset="-120"/>
              </a:rPr>
              <a:t>InsightForge Intelligence</a:t>
            </a:r>
            <a:endParaRPr lang="en-US" sz="1200"/>
          </a:p>
        </p:txBody>
      </p:sp>
      <p:sp>
        <p:nvSpPr>
          <p:cNvPr id="30" name="Text 28"/>
          <p:cNvSpPr/>
          <p:nvPr/>
        </p:nvSpPr>
        <p:spPr>
          <a:xfrm>
            <a:off x="4562856" y="4169664"/>
            <a:ext cx="2971800" cy="1207008"/>
          </a:xfrm>
          <a:prstGeom prst="rect">
            <a:avLst/>
          </a:prstGeom>
          <a:noFill/>
          <a:ln/>
        </p:spPr>
        <p:txBody>
          <a:bodyPr wrap="square" lIns="381" tIns="381" rIns="381" bIns="381" rtlCol="0" anchor="ctr">
            <a:noAutofit/>
          </a:bodyPr>
          <a:lstStyle/>
          <a:p>
            <a:pPr marL="0" indent="0">
              <a:buNone/>
            </a:pPr>
            <a:r>
              <a:rPr lang="en-US" sz="1200" b="1">
                <a:solidFill>
                  <a:srgbClr val="FB4D0A"/>
                </a:solidFill>
                <a:latin typeface="Aptos" pitchFamily="34" charset="0"/>
                <a:ea typeface="Aptos" pitchFamily="34" charset="-122"/>
                <a:cs typeface="Aptos" pitchFamily="34" charset="-120"/>
              </a:rPr>
              <a:t>• Chooses investigation tools dynamically based on KPI context.
• Compares evidence across multiple drivers before concluding.
• Produces evidence, confidence, root cause and recommended actions.</a:t>
            </a:r>
            <a:r>
              <a:rPr lang="en-US" sz="1200">
                <a:solidFill>
                  <a:srgbClr val="3B4652"/>
                </a:solidFill>
                <a:latin typeface="Aptos" pitchFamily="34" charset="0"/>
                <a:ea typeface="Aptos" pitchFamily="34" charset="-122"/>
                <a:cs typeface="Aptos" pitchFamily="34" charset="-120"/>
              </a:rPr>
              <a:t/>
            </a:r>
            <a:r>
              <a:rPr lang="en-US" sz="1200" b="1">
                <a:solidFill>
                  <a:srgbClr val="FB4D0A"/>
                </a:solidFill>
                <a:latin typeface="Aptos" pitchFamily="34" charset="0"/>
                <a:ea typeface="Aptos" pitchFamily="34" charset="-122"/>
                <a:cs typeface="Aptos" pitchFamily="34" charset="-120"/>
              </a:rPr>
              <a:t/>
            </a:r>
            <a:r>
              <a:rPr lang="en-US" sz="1200">
                <a:solidFill>
                  <a:srgbClr val="3B4652"/>
                </a:solidFill>
                <a:latin typeface="Aptos" pitchFamily="34" charset="0"/>
                <a:ea typeface="Aptos" pitchFamily="34" charset="-122"/>
                <a:cs typeface="Aptos" pitchFamily="34" charset="-120"/>
              </a:rPr>
              <a:t/>
            </a:r>
            <a:r>
              <a:rPr lang="en-US" sz="1200" b="1">
                <a:solidFill>
                  <a:srgbClr val="FB4D0A"/>
                </a:solidFill>
                <a:latin typeface="Aptos" pitchFamily="34" charset="0"/>
                <a:ea typeface="Aptos" pitchFamily="34" charset="-122"/>
                <a:cs typeface="Aptos" pitchFamily="34" charset="-120"/>
              </a:rPr>
              <a:t/>
            </a:r>
            <a:r>
              <a:rPr lang="en-US" sz="1200">
                <a:solidFill>
                  <a:srgbClr val="3B4652"/>
                </a:solidFill>
                <a:latin typeface="Aptos" pitchFamily="34" charset="0"/>
                <a:ea typeface="Aptos" pitchFamily="34" charset="-122"/>
                <a:cs typeface="Aptos" pitchFamily="34" charset="-120"/>
              </a:rPr>
              <a:t/>
            </a:r>
            <a:endParaRPr lang="en-US" sz="1200"/>
          </a:p>
        </p:txBody>
      </p:sp>
      <p:sp>
        <p:nvSpPr>
          <p:cNvPr id="31" name="Shape 29"/>
          <p:cNvSpPr/>
          <p:nvPr/>
        </p:nvSpPr>
        <p:spPr>
          <a:xfrm>
            <a:off x="8138160" y="3822192"/>
            <a:ext cx="3566160" cy="1554480"/>
          </a:xfrm>
          <a:prstGeom prst="roundRect">
            <a:avLst>
              <a:gd name="adj" fmla="val 4706"/>
            </a:avLst>
          </a:prstGeom>
          <a:solidFill>
            <a:srgbClr val="F4F7FA"/>
          </a:solidFill>
          <a:ln w="8890">
            <a:solidFill>
              <a:srgbClr val="D8E1EA"/>
            </a:solidFill>
            <a:prstDash val="solid"/>
          </a:ln>
          <a:effectLst>
            <a:outerShdw blurRad="12700" dist="6350" dir="2700000" algn="bl" rotWithShape="0">
              <a:srgbClr val="000000">
                <a:alpha val="10000"/>
              </a:srgbClr>
            </a:outerShdw>
          </a:effectLst>
        </p:spPr>
        <p:txBody>
          <a:bodyPr/>
          <a:lstStyle/>
          <a:p>
            <a:endParaRPr lang="en-IN" sz="4000"/>
          </a:p>
        </p:txBody>
      </p:sp>
      <p:sp>
        <p:nvSpPr>
          <p:cNvPr id="32" name="Text 30"/>
          <p:cNvSpPr/>
          <p:nvPr/>
        </p:nvSpPr>
        <p:spPr>
          <a:xfrm>
            <a:off x="8385048" y="4032504"/>
            <a:ext cx="2286000" cy="137160"/>
          </a:xfrm>
          <a:prstGeom prst="rect">
            <a:avLst/>
          </a:prstGeom>
          <a:noFill/>
          <a:ln/>
        </p:spPr>
        <p:txBody>
          <a:bodyPr wrap="square" lIns="508" tIns="508" rIns="508" bIns="508" rtlCol="0" anchor="ctr">
            <a:noAutofit/>
          </a:bodyPr>
          <a:lstStyle/>
          <a:p>
            <a:pPr marL="0" indent="0" algn="l">
              <a:buNone/>
            </a:pPr>
            <a:r>
              <a:rPr lang="en-US" sz="1200" b="1">
                <a:solidFill>
                  <a:srgbClr val="FB4D0A"/>
                </a:solidFill>
                <a:latin typeface="Aptos" pitchFamily="34" charset="0"/>
                <a:ea typeface="Aptos" pitchFamily="34" charset="-122"/>
                <a:cs typeface="Aptos" pitchFamily="34" charset="-120"/>
              </a:rPr>
              <a:t>Action Items by User Type</a:t>
            </a:r>
            <a:endParaRPr lang="en-US" sz="1200"/>
          </a:p>
        </p:txBody>
      </p:sp>
      <p:sp>
        <p:nvSpPr>
          <p:cNvPr id="33" name="Text 31"/>
          <p:cNvSpPr/>
          <p:nvPr/>
        </p:nvSpPr>
        <p:spPr>
          <a:xfrm>
            <a:off x="8385048" y="4169664"/>
            <a:ext cx="2971800" cy="1207008"/>
          </a:xfrm>
          <a:prstGeom prst="rect">
            <a:avLst/>
          </a:prstGeom>
          <a:noFill/>
          <a:ln/>
        </p:spPr>
        <p:txBody>
          <a:bodyPr wrap="square" lIns="381" tIns="381" rIns="381" bIns="381" rtlCol="0" anchor="ctr">
            <a:noAutofit/>
          </a:bodyPr>
          <a:lstStyle/>
          <a:p>
            <a:pPr marL="0" indent="0">
              <a:buNone/>
            </a:pPr>
            <a:r>
              <a:rPr lang="en-US" sz="1200" b="1">
                <a:solidFill>
                  <a:srgbClr val="FB4D0A"/>
                </a:solidFill>
                <a:latin typeface="Aptos" pitchFamily="34" charset="0"/>
                <a:ea typeface="Aptos" pitchFamily="34" charset="-122"/>
                <a:cs typeface="Aptos" pitchFamily="34" charset="-120"/>
              </a:rPr>
              <a:t>• Business users: root cause, evidence and priority.
• Customer-service users: impacted customers and support actions.
• Operations users: driver, segment and remediation actions.
• All users: follow-up questions through the chatbot.</a:t>
            </a:r>
            <a:r>
              <a:rPr lang="en-US" sz="1200">
                <a:solidFill>
                  <a:srgbClr val="3B4652"/>
                </a:solidFill>
                <a:latin typeface="Aptos" pitchFamily="34" charset="0"/>
                <a:ea typeface="Aptos" pitchFamily="34" charset="-122"/>
                <a:cs typeface="Aptos" pitchFamily="34" charset="-120"/>
              </a:rPr>
              <a:t/>
            </a:r>
            <a:r>
              <a:rPr lang="en-US" sz="1200" b="1">
                <a:solidFill>
                  <a:srgbClr val="FB4D0A"/>
                </a:solidFill>
                <a:latin typeface="Aptos" pitchFamily="34" charset="0"/>
                <a:ea typeface="Aptos" pitchFamily="34" charset="-122"/>
                <a:cs typeface="Aptos" pitchFamily="34" charset="-120"/>
              </a:rPr>
              <a:t/>
            </a:r>
            <a:r>
              <a:rPr lang="en-US" sz="1200">
                <a:solidFill>
                  <a:srgbClr val="3B4652"/>
                </a:solidFill>
                <a:latin typeface="Aptos" pitchFamily="34" charset="0"/>
                <a:ea typeface="Aptos" pitchFamily="34" charset="-122"/>
                <a:cs typeface="Aptos" pitchFamily="34" charset="-120"/>
              </a:rPr>
              <a:t/>
            </a:r>
            <a:r>
              <a:rPr lang="en-US" sz="1200" b="1">
                <a:solidFill>
                  <a:srgbClr val="FB4D0A"/>
                </a:solidFill>
                <a:latin typeface="Aptos" pitchFamily="34" charset="0"/>
                <a:ea typeface="Aptos" pitchFamily="34" charset="-122"/>
                <a:cs typeface="Aptos" pitchFamily="34" charset="-120"/>
              </a:rPr>
              <a:t/>
            </a:r>
            <a:r>
              <a:rPr lang="en-US" sz="1200">
                <a:solidFill>
                  <a:srgbClr val="3B4652"/>
                </a:solidFill>
                <a:latin typeface="Aptos" pitchFamily="34" charset="0"/>
                <a:ea typeface="Aptos" pitchFamily="34" charset="-122"/>
                <a:cs typeface="Aptos" pitchFamily="34" charset="-120"/>
              </a:rPr>
              <a:t/>
            </a:r>
            <a:endParaRPr lang="en-US" sz="1200"/>
          </a:p>
        </p:txBody>
      </p:sp>
      <p:sp>
        <p:nvSpPr>
          <p:cNvPr id="34" name="Shape 32"/>
          <p:cNvSpPr/>
          <p:nvPr/>
        </p:nvSpPr>
        <p:spPr>
          <a:xfrm>
            <a:off x="502920" y="5742432"/>
            <a:ext cx="11201400" cy="530352"/>
          </a:xfrm>
          <a:prstGeom prst="roundRect">
            <a:avLst>
              <a:gd name="adj" fmla="val 13793"/>
            </a:avLst>
          </a:prstGeom>
          <a:solidFill>
            <a:srgbClr val="00263E"/>
          </a:solidFill>
          <a:ln w="8890">
            <a:solidFill>
              <a:srgbClr val="00263E"/>
            </a:solidFill>
            <a:prstDash val="solid"/>
          </a:ln>
          <a:effectLst>
            <a:outerShdw blurRad="12700" dist="6350" dir="2700000" algn="bl" rotWithShape="0">
              <a:srgbClr val="000000">
                <a:alpha val="10000"/>
              </a:srgbClr>
            </a:outerShdw>
          </a:effectLst>
        </p:spPr>
        <p:txBody>
          <a:bodyPr/>
          <a:lstStyle/>
          <a:p>
            <a:endParaRPr lang="en-IN" sz="3600"/>
          </a:p>
        </p:txBody>
      </p:sp>
      <p:sp>
        <p:nvSpPr>
          <p:cNvPr id="35" name="Text 33"/>
          <p:cNvSpPr/>
          <p:nvPr/>
        </p:nvSpPr>
        <p:spPr>
          <a:xfrm>
            <a:off x="749808" y="5907024"/>
            <a:ext cx="1508760" cy="118872"/>
          </a:xfrm>
          <a:prstGeom prst="rect">
            <a:avLst/>
          </a:prstGeom>
          <a:noFill/>
          <a:ln/>
        </p:spPr>
        <p:txBody>
          <a:bodyPr wrap="square" lIns="508" tIns="508" rIns="508" bIns="508" rtlCol="0" anchor="ctr">
            <a:noAutofit/>
          </a:bodyPr>
          <a:lstStyle/>
          <a:p>
            <a:pPr marL="0" indent="0" algn="l">
              <a:buNone/>
            </a:pPr>
            <a:r>
              <a:rPr lang="en-US" sz="1100" b="1">
                <a:solidFill>
                  <a:srgbClr val="FB4D0A"/>
                </a:solidFill>
                <a:latin typeface="Aptos" pitchFamily="34" charset="0"/>
                <a:ea typeface="Aptos" pitchFamily="34" charset="-122"/>
                <a:cs typeface="Aptos" pitchFamily="34" charset="-120"/>
              </a:rPr>
              <a:t>Judge-friendly message:</a:t>
            </a:r>
            <a:endParaRPr lang="en-US" sz="1100"/>
          </a:p>
        </p:txBody>
      </p:sp>
      <p:sp>
        <p:nvSpPr>
          <p:cNvPr id="36" name="Text 34"/>
          <p:cNvSpPr/>
          <p:nvPr/>
        </p:nvSpPr>
        <p:spPr>
          <a:xfrm>
            <a:off x="2240280" y="5833872"/>
            <a:ext cx="8732520" cy="182880"/>
          </a:xfrm>
          <a:prstGeom prst="rect">
            <a:avLst/>
          </a:prstGeom>
          <a:noFill/>
          <a:ln/>
        </p:spPr>
        <p:txBody>
          <a:bodyPr wrap="square" lIns="508" tIns="508" rIns="508" bIns="508" rtlCol="0" anchor="ctr">
            <a:normAutofit fontScale="92500"/>
          </a:bodyPr>
          <a:lstStyle/>
          <a:p>
            <a:pPr marL="0" indent="0" algn="l">
              <a:buNone/>
            </a:pPr>
            <a:r>
              <a:rPr lang="en-US" sz="1000" b="1">
                <a:solidFill>
                  <a:srgbClr val="FFFFFF"/>
                </a:solidFill>
                <a:latin typeface="Aptos" pitchFamily="34" charset="0"/>
                <a:ea typeface="Aptos" pitchFamily="34" charset="-122"/>
                <a:cs typeface="Aptos" pitchFamily="34" charset="-120"/>
              </a:rPr>
              <a:t>Dashboards show what changed. InsightForge explains why, who is affected and what to do next — then lets users interrogate the evidence through chat.</a:t>
            </a:r>
            <a:endParaRPr lang="en-US" sz="1000"/>
          </a:p>
        </p:txBody>
      </p:sp>
      <p:sp>
        <p:nvSpPr>
          <p:cNvPr id="37" name="Text 35"/>
          <p:cNvSpPr/>
          <p:nvPr/>
        </p:nvSpPr>
        <p:spPr>
          <a:xfrm>
            <a:off x="292608" y="6473952"/>
            <a:ext cx="3246120" cy="137160"/>
          </a:xfrm>
          <a:prstGeom prst="rect">
            <a:avLst/>
          </a:prstGeom>
          <a:noFill/>
          <a:ln/>
        </p:spPr>
        <p:txBody>
          <a:bodyPr wrap="square" lIns="508" tIns="508" rIns="508" bIns="508" rtlCol="0" anchor="ctr">
            <a:normAutofit/>
          </a:bodyPr>
          <a:lstStyle/>
          <a:p>
            <a:pPr marL="0" indent="0" algn="l">
              <a:buNone/>
            </a:pPr>
            <a:r>
              <a:rPr lang="en-US" sz="700">
                <a:solidFill>
                  <a:srgbClr val="6A7785"/>
                </a:solidFill>
                <a:latin typeface="Aptos" pitchFamily="34" charset="0"/>
                <a:ea typeface="Aptos" pitchFamily="34" charset="-122"/>
                <a:cs typeface="Aptos" pitchFamily="34" charset="-120"/>
              </a:rPr>
              <a:t>InsightForge-AI | AI Operations Intelligence Agent</a:t>
            </a:r>
            <a:endParaRPr lang="en-US" sz="700"/>
          </a:p>
        </p:txBody>
      </p:sp>
      <p:sp>
        <p:nvSpPr>
          <p:cNvPr id="40" name="Text 36">
            <a:extLst>
              <a:ext uri="{FF2B5EF4-FFF2-40B4-BE49-F238E27FC236}">
                <a16:creationId xmlns:a16="http://schemas.microsoft.com/office/drawing/2014/main" id="{88FFFBD7-650F-BEA5-19FA-CE22267BC2AA}"/>
              </a:ext>
            </a:extLst>
          </p:cNvPr>
          <p:cNvSpPr/>
          <p:nvPr/>
        </p:nvSpPr>
        <p:spPr>
          <a:xfrm>
            <a:off x="11411712" y="6473952"/>
            <a:ext cx="411480" cy="137160"/>
          </a:xfrm>
          <a:prstGeom prst="rect">
            <a:avLst/>
          </a:prstGeom>
          <a:noFill/>
          <a:ln/>
        </p:spPr>
        <p:txBody>
          <a:bodyPr wrap="square" lIns="508" tIns="508" rIns="508" bIns="508" rtlCol="0" anchor="ctr">
            <a:normAutofit/>
          </a:bodyPr>
          <a:lstStyle/>
          <a:p>
            <a:pPr marL="0" indent="0" algn="l">
              <a:buNone/>
            </a:pPr>
            <a:r>
              <a:rPr lang="en-US" sz="700" b="1">
                <a:solidFill>
                  <a:srgbClr val="FB4D0A"/>
                </a:solidFill>
                <a:latin typeface="Aptos" pitchFamily="34" charset="0"/>
                <a:ea typeface="Aptos" pitchFamily="34" charset="-122"/>
                <a:cs typeface="Aptos" pitchFamily="34" charset="-120"/>
              </a:rPr>
              <a:t>EXL</a:t>
            </a:r>
            <a:endParaRPr lang="en-US" sz="7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Rectangle 1"/>
          <p:cNvSpPr/>
          <p:nvPr/>
        </p:nvSpPr>
        <p:spPr>
          <a:xfrm>
            <a:off x="0" y="0"/>
            <a:ext cx="12192000" cy="36000"/>
          </a:xfrm>
          <a:prstGeom prst="rect">
            <a:avLst/>
          </a:prstGeom>
          <a:solidFill>
            <a:srgbClr val="FB4D0A"/>
          </a:solidFill>
          <a:ln>
            <a:solidFill>
              <a:srgbClr val="FB4D0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 name="Rounded Rectangle 6"/>
          <p:cNvSpPr/>
          <p:nvPr/>
        </p:nvSpPr>
        <p:spPr>
          <a:xfrm>
            <a:off x="320040" y="960120"/>
            <a:ext cx="11503152" cy="658368"/>
          </a:xfrm>
          <a:prstGeom prst="roundRect">
            <a:avLst/>
          </a:prstGeom>
          <a:solidFill>
            <a:srgbClr val="FFF2EA"/>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 name="TextBox 7"/>
          <p:cNvSpPr txBox="1"/>
          <p:nvPr/>
        </p:nvSpPr>
        <p:spPr>
          <a:xfrm>
            <a:off x="416965" y="1014984"/>
            <a:ext cx="11406227" cy="590931"/>
          </a:xfrm>
          <a:prstGeom prst="rect">
            <a:avLst/>
          </a:prstGeom>
          <a:noFill/>
        </p:spPr>
        <p:txBody>
          <a:bodyPr wrap="square" lIns="36576" tIns="18288" rIns="36576" bIns="18288">
            <a:spAutoFit/>
          </a:bodyPr>
          <a:lstStyle/>
          <a:p>
            <a:r>
              <a:rPr b="1">
                <a:solidFill>
                  <a:srgbClr val="00263E"/>
                </a:solidFill>
                <a:latin typeface="Aptos Display"/>
              </a:rPr>
              <a:t>Governance principle: the agent uses governed tools and approved reporting data — not unrestricted raw-data access.</a:t>
            </a:r>
          </a:p>
        </p:txBody>
      </p:sp>
      <p:sp>
        <p:nvSpPr>
          <p:cNvPr id="9" name="Rounded Rectangle 8"/>
          <p:cNvSpPr/>
          <p:nvPr/>
        </p:nvSpPr>
        <p:spPr>
          <a:xfrm>
            <a:off x="502920" y="1901952"/>
            <a:ext cx="3429000" cy="2148840"/>
          </a:xfrm>
          <a:prstGeom prst="roundRect">
            <a:avLst/>
          </a:prstGeom>
          <a:solidFill>
            <a:srgbClr val="EAF3FB"/>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 name="Oval 9"/>
          <p:cNvSpPr/>
          <p:nvPr/>
        </p:nvSpPr>
        <p:spPr>
          <a:xfrm>
            <a:off x="1124668" y="2333564"/>
            <a:ext cx="365760" cy="365760"/>
          </a:xfrm>
          <a:prstGeom prst="ellipse">
            <a:avLst/>
          </a:prstGeom>
          <a:solidFill>
            <a:srgbClr val="FB4D0A"/>
          </a:solidFill>
          <a:ln>
            <a:solidFill>
              <a:srgbClr val="FB4D0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1" name="TextBox 10"/>
          <p:cNvSpPr txBox="1"/>
          <p:nvPr/>
        </p:nvSpPr>
        <p:spPr>
          <a:xfrm>
            <a:off x="1234396" y="2424398"/>
            <a:ext cx="142796" cy="190821"/>
          </a:xfrm>
          <a:prstGeom prst="rect">
            <a:avLst/>
          </a:prstGeom>
          <a:noFill/>
        </p:spPr>
        <p:txBody>
          <a:bodyPr wrap="none" lIns="36576" tIns="18288" rIns="36576" bIns="18288">
            <a:spAutoFit/>
          </a:bodyPr>
          <a:lstStyle/>
          <a:p>
            <a:pPr algn="ctr"/>
            <a:r>
              <a:rPr sz="1000" b="1">
                <a:solidFill>
                  <a:srgbClr val="FFFFFF"/>
                </a:solidFill>
                <a:latin typeface="Aptos"/>
              </a:rPr>
              <a:t>1</a:t>
            </a:r>
          </a:p>
        </p:txBody>
      </p:sp>
      <p:sp>
        <p:nvSpPr>
          <p:cNvPr id="12" name="TextBox 11"/>
          <p:cNvSpPr txBox="1"/>
          <p:nvPr/>
        </p:nvSpPr>
        <p:spPr>
          <a:xfrm>
            <a:off x="1600156" y="2351852"/>
            <a:ext cx="1474634" cy="221599"/>
          </a:xfrm>
          <a:prstGeom prst="rect">
            <a:avLst/>
          </a:prstGeom>
          <a:noFill/>
        </p:spPr>
        <p:txBody>
          <a:bodyPr wrap="none" lIns="36576" tIns="18288" rIns="36576" bIns="18288">
            <a:spAutoFit/>
          </a:bodyPr>
          <a:lstStyle/>
          <a:p>
            <a:r>
              <a:rPr sz="1200" b="1">
                <a:solidFill>
                  <a:srgbClr val="FB4D0A"/>
                </a:solidFill>
                <a:latin typeface="Aptos"/>
              </a:rPr>
              <a:t>Data access control</a:t>
            </a:r>
          </a:p>
        </p:txBody>
      </p:sp>
      <p:sp>
        <p:nvSpPr>
          <p:cNvPr id="13" name="TextBox 12"/>
          <p:cNvSpPr txBox="1"/>
          <p:nvPr/>
        </p:nvSpPr>
        <p:spPr>
          <a:xfrm>
            <a:off x="695821" y="2811447"/>
            <a:ext cx="3043198" cy="1196225"/>
          </a:xfrm>
          <a:prstGeom prst="rect">
            <a:avLst/>
          </a:prstGeom>
          <a:noFill/>
        </p:spPr>
        <p:txBody>
          <a:bodyPr wrap="square" lIns="36576" tIns="18288" rIns="36576" bIns="18288">
            <a:spAutoFit/>
          </a:bodyPr>
          <a:lstStyle/>
          <a:p>
            <a:pPr>
              <a:spcAft>
                <a:spcPts val="150"/>
              </a:spcAft>
              <a:defRPr sz="620">
                <a:solidFill>
                  <a:srgbClr val="3B4652"/>
                </a:solidFill>
                <a:latin typeface="Aptos"/>
              </a:defRPr>
            </a:pPr>
            <a:r>
              <a:rPr sz="1200"/>
              <a:t>• Read-only access to approved reporting datasets.</a:t>
            </a:r>
          </a:p>
          <a:p>
            <a:pPr>
              <a:spcAft>
                <a:spcPts val="150"/>
              </a:spcAft>
              <a:defRPr sz="620">
                <a:solidFill>
                  <a:srgbClr val="3B4652"/>
                </a:solidFill>
                <a:latin typeface="Aptos"/>
              </a:defRPr>
            </a:pPr>
            <a:r>
              <a:rPr sz="1200"/>
              <a:t>• RCA uses focused tool outputs, not full raw-data exposure.</a:t>
            </a:r>
          </a:p>
          <a:p>
            <a:pPr>
              <a:spcAft>
                <a:spcPts val="150"/>
              </a:spcAft>
              <a:defRPr sz="620">
                <a:solidFill>
                  <a:srgbClr val="3B4652"/>
                </a:solidFill>
                <a:latin typeface="Aptos"/>
              </a:defRPr>
            </a:pPr>
            <a:r>
              <a:rPr sz="1200"/>
              <a:t>• BigQuery remains the governed reporting layer.</a:t>
            </a:r>
          </a:p>
        </p:txBody>
      </p:sp>
      <p:sp>
        <p:nvSpPr>
          <p:cNvPr id="14" name="Rounded Rectangle 13"/>
          <p:cNvSpPr/>
          <p:nvPr/>
        </p:nvSpPr>
        <p:spPr>
          <a:xfrm>
            <a:off x="4297680" y="1901952"/>
            <a:ext cx="3429000" cy="2148840"/>
          </a:xfrm>
          <a:prstGeom prst="roundRect">
            <a:avLst/>
          </a:prstGeom>
          <a:solidFill>
            <a:srgbClr val="FFFFFF"/>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5" name="Oval 14"/>
          <p:cNvSpPr/>
          <p:nvPr/>
        </p:nvSpPr>
        <p:spPr>
          <a:xfrm>
            <a:off x="4919428" y="2333564"/>
            <a:ext cx="365760" cy="365760"/>
          </a:xfrm>
          <a:prstGeom prst="ellipse">
            <a:avLst/>
          </a:prstGeom>
          <a:solidFill>
            <a:srgbClr val="00263E"/>
          </a:solidFill>
          <a:ln>
            <a:solidFill>
              <a:srgbClr val="002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6" name="TextBox 15"/>
          <p:cNvSpPr txBox="1"/>
          <p:nvPr/>
        </p:nvSpPr>
        <p:spPr>
          <a:xfrm>
            <a:off x="5030910" y="2421033"/>
            <a:ext cx="142796" cy="190821"/>
          </a:xfrm>
          <a:prstGeom prst="rect">
            <a:avLst/>
          </a:prstGeom>
          <a:noFill/>
        </p:spPr>
        <p:txBody>
          <a:bodyPr wrap="none" lIns="36576" tIns="18288" rIns="36576" bIns="18288">
            <a:spAutoFit/>
          </a:bodyPr>
          <a:lstStyle/>
          <a:p>
            <a:pPr algn="ctr"/>
            <a:r>
              <a:rPr sz="1000" b="1">
                <a:solidFill>
                  <a:srgbClr val="FFFFFF"/>
                </a:solidFill>
                <a:latin typeface="Aptos"/>
              </a:rPr>
              <a:t>2</a:t>
            </a:r>
          </a:p>
        </p:txBody>
      </p:sp>
      <p:sp>
        <p:nvSpPr>
          <p:cNvPr id="17" name="TextBox 16"/>
          <p:cNvSpPr txBox="1"/>
          <p:nvPr/>
        </p:nvSpPr>
        <p:spPr>
          <a:xfrm>
            <a:off x="5394916" y="2351852"/>
            <a:ext cx="1572546" cy="221599"/>
          </a:xfrm>
          <a:prstGeom prst="rect">
            <a:avLst/>
          </a:prstGeom>
          <a:noFill/>
        </p:spPr>
        <p:txBody>
          <a:bodyPr wrap="none" lIns="36576" tIns="18288" rIns="36576" bIns="18288">
            <a:spAutoFit/>
          </a:bodyPr>
          <a:lstStyle/>
          <a:p>
            <a:r>
              <a:rPr sz="1200" b="1">
                <a:solidFill>
                  <a:srgbClr val="FB4D0A"/>
                </a:solidFill>
                <a:latin typeface="Aptos"/>
              </a:rPr>
              <a:t>Identity &amp; credentials</a:t>
            </a:r>
          </a:p>
        </p:txBody>
      </p:sp>
      <p:sp>
        <p:nvSpPr>
          <p:cNvPr id="18" name="TextBox 17"/>
          <p:cNvSpPr txBox="1"/>
          <p:nvPr/>
        </p:nvSpPr>
        <p:spPr>
          <a:xfrm>
            <a:off x="4376211" y="2911996"/>
            <a:ext cx="3350469" cy="642227"/>
          </a:xfrm>
          <a:prstGeom prst="rect">
            <a:avLst/>
          </a:prstGeom>
          <a:noFill/>
        </p:spPr>
        <p:txBody>
          <a:bodyPr wrap="none" lIns="36576" tIns="18288" rIns="36576" bIns="18288">
            <a:spAutoFit/>
          </a:bodyPr>
          <a:lstStyle/>
          <a:p>
            <a:pPr>
              <a:spcAft>
                <a:spcPts val="150"/>
              </a:spcAft>
              <a:defRPr sz="620">
                <a:solidFill>
                  <a:srgbClr val="3B4652"/>
                </a:solidFill>
                <a:latin typeface="Aptos"/>
              </a:defRPr>
            </a:pPr>
            <a:r>
              <a:rPr sz="1200"/>
              <a:t>• IAM supports role-based access control.</a:t>
            </a:r>
          </a:p>
          <a:p>
            <a:pPr>
              <a:spcAft>
                <a:spcPts val="150"/>
              </a:spcAft>
              <a:defRPr sz="620">
                <a:solidFill>
                  <a:srgbClr val="3B4652"/>
                </a:solidFill>
                <a:latin typeface="Aptos"/>
              </a:defRPr>
            </a:pPr>
            <a:r>
              <a:rPr sz="1200"/>
              <a:t>• Secret Manager stores API keys and credentials.</a:t>
            </a:r>
          </a:p>
          <a:p>
            <a:pPr>
              <a:spcAft>
                <a:spcPts val="150"/>
              </a:spcAft>
              <a:defRPr sz="620">
                <a:solidFill>
                  <a:srgbClr val="3B4652"/>
                </a:solidFill>
                <a:latin typeface="Aptos"/>
              </a:defRPr>
            </a:pPr>
            <a:r>
              <a:rPr sz="1200"/>
              <a:t>• SSO / IAM can control portal access.</a:t>
            </a:r>
          </a:p>
        </p:txBody>
      </p:sp>
      <p:sp>
        <p:nvSpPr>
          <p:cNvPr id="19" name="Rounded Rectangle 18"/>
          <p:cNvSpPr/>
          <p:nvPr/>
        </p:nvSpPr>
        <p:spPr>
          <a:xfrm>
            <a:off x="8092440" y="1892808"/>
            <a:ext cx="3429000" cy="2148840"/>
          </a:xfrm>
          <a:prstGeom prst="roundRect">
            <a:avLst/>
          </a:prstGeom>
          <a:solidFill>
            <a:srgbClr val="F4F7FA"/>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0" name="Oval 19"/>
          <p:cNvSpPr/>
          <p:nvPr/>
        </p:nvSpPr>
        <p:spPr>
          <a:xfrm>
            <a:off x="8714188" y="2333564"/>
            <a:ext cx="365760" cy="365760"/>
          </a:xfrm>
          <a:prstGeom prst="ellipse">
            <a:avLst/>
          </a:prstGeom>
          <a:solidFill>
            <a:srgbClr val="00263E"/>
          </a:solidFill>
          <a:ln>
            <a:solidFill>
              <a:srgbClr val="002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1" name="TextBox 20"/>
          <p:cNvSpPr txBox="1"/>
          <p:nvPr/>
        </p:nvSpPr>
        <p:spPr>
          <a:xfrm>
            <a:off x="8825670" y="2410045"/>
            <a:ext cx="142796" cy="190821"/>
          </a:xfrm>
          <a:prstGeom prst="rect">
            <a:avLst/>
          </a:prstGeom>
          <a:noFill/>
        </p:spPr>
        <p:txBody>
          <a:bodyPr wrap="none" lIns="36576" tIns="18288" rIns="36576" bIns="18288">
            <a:spAutoFit/>
          </a:bodyPr>
          <a:lstStyle/>
          <a:p>
            <a:pPr algn="ctr"/>
            <a:r>
              <a:rPr sz="1000" b="1">
                <a:solidFill>
                  <a:srgbClr val="FFFFFF"/>
                </a:solidFill>
                <a:latin typeface="Aptos"/>
              </a:rPr>
              <a:t>3</a:t>
            </a:r>
          </a:p>
        </p:txBody>
      </p:sp>
      <p:sp>
        <p:nvSpPr>
          <p:cNvPr id="22" name="TextBox 21"/>
          <p:cNvSpPr txBox="1"/>
          <p:nvPr/>
        </p:nvSpPr>
        <p:spPr>
          <a:xfrm>
            <a:off x="9189676" y="2351852"/>
            <a:ext cx="1410771" cy="221599"/>
          </a:xfrm>
          <a:prstGeom prst="rect">
            <a:avLst/>
          </a:prstGeom>
          <a:noFill/>
        </p:spPr>
        <p:txBody>
          <a:bodyPr wrap="none" lIns="36576" tIns="18288" rIns="36576" bIns="18288">
            <a:spAutoFit/>
          </a:bodyPr>
          <a:lstStyle/>
          <a:p>
            <a:r>
              <a:rPr sz="1200" b="1">
                <a:solidFill>
                  <a:srgbClr val="FB4D0A"/>
                </a:solidFill>
                <a:latin typeface="Aptos"/>
              </a:rPr>
              <a:t>Output governance</a:t>
            </a:r>
          </a:p>
        </p:txBody>
      </p:sp>
      <p:sp>
        <p:nvSpPr>
          <p:cNvPr id="23" name="TextBox 22"/>
          <p:cNvSpPr txBox="1"/>
          <p:nvPr/>
        </p:nvSpPr>
        <p:spPr>
          <a:xfrm>
            <a:off x="8253487" y="2864706"/>
            <a:ext cx="3429000" cy="1011559"/>
          </a:xfrm>
          <a:prstGeom prst="rect">
            <a:avLst/>
          </a:prstGeom>
          <a:noFill/>
        </p:spPr>
        <p:txBody>
          <a:bodyPr wrap="square" lIns="36576" tIns="18288" rIns="36576" bIns="18288">
            <a:spAutoFit/>
          </a:bodyPr>
          <a:lstStyle/>
          <a:p>
            <a:pPr>
              <a:spcAft>
                <a:spcPts val="150"/>
              </a:spcAft>
              <a:defRPr sz="620">
                <a:solidFill>
                  <a:srgbClr val="3B4652"/>
                </a:solidFill>
                <a:latin typeface="Aptos"/>
              </a:defRPr>
            </a:pPr>
            <a:r>
              <a:rPr sz="1200"/>
              <a:t>• Agent outputs evidence, drivers and recommendations.</a:t>
            </a:r>
          </a:p>
          <a:p>
            <a:pPr>
              <a:spcAft>
                <a:spcPts val="150"/>
              </a:spcAft>
              <a:defRPr sz="620">
                <a:solidFill>
                  <a:srgbClr val="3B4652"/>
                </a:solidFill>
                <a:latin typeface="Aptos"/>
              </a:defRPr>
            </a:pPr>
            <a:r>
              <a:rPr sz="1200"/>
              <a:t>• Business users see summarized RCA metrics and role-based action items.</a:t>
            </a:r>
          </a:p>
          <a:p>
            <a:pPr>
              <a:spcAft>
                <a:spcPts val="150"/>
              </a:spcAft>
              <a:defRPr sz="620">
                <a:solidFill>
                  <a:srgbClr val="3B4652"/>
                </a:solidFill>
                <a:latin typeface="Aptos"/>
              </a:defRPr>
            </a:pPr>
            <a:r>
              <a:rPr sz="1200"/>
              <a:t>• Existing governance controls remain in place.</a:t>
            </a:r>
          </a:p>
        </p:txBody>
      </p:sp>
      <p:sp>
        <p:nvSpPr>
          <p:cNvPr id="24" name="Rounded Rectangle 23"/>
          <p:cNvSpPr/>
          <p:nvPr/>
        </p:nvSpPr>
        <p:spPr>
          <a:xfrm>
            <a:off x="502920" y="4434840"/>
            <a:ext cx="5440680" cy="1335024"/>
          </a:xfrm>
          <a:prstGeom prst="roundRect">
            <a:avLst/>
          </a:prstGeom>
          <a:solidFill>
            <a:srgbClr val="FFFFFF"/>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5" name="TextBox 24"/>
          <p:cNvSpPr txBox="1"/>
          <p:nvPr/>
        </p:nvSpPr>
        <p:spPr>
          <a:xfrm>
            <a:off x="731520" y="4645152"/>
            <a:ext cx="3452997" cy="206210"/>
          </a:xfrm>
          <a:prstGeom prst="rect">
            <a:avLst/>
          </a:prstGeom>
          <a:noFill/>
        </p:spPr>
        <p:txBody>
          <a:bodyPr wrap="none" lIns="36576" tIns="18288" rIns="36576" bIns="18288">
            <a:spAutoFit/>
          </a:bodyPr>
          <a:lstStyle/>
          <a:p>
            <a:r>
              <a:rPr sz="1100" b="1">
                <a:solidFill>
                  <a:srgbClr val="FB4D0A"/>
                </a:solidFill>
                <a:latin typeface="Aptos"/>
              </a:rPr>
              <a:t>Why the access model is controlled</a:t>
            </a:r>
          </a:p>
        </p:txBody>
      </p:sp>
      <p:sp>
        <p:nvSpPr>
          <p:cNvPr id="26" name="TextBox 25"/>
          <p:cNvSpPr txBox="1"/>
          <p:nvPr/>
        </p:nvSpPr>
        <p:spPr>
          <a:xfrm>
            <a:off x="731520" y="4937760"/>
            <a:ext cx="5093547" cy="544765"/>
          </a:xfrm>
          <a:prstGeom prst="rect">
            <a:avLst/>
          </a:prstGeom>
          <a:noFill/>
        </p:spPr>
        <p:txBody>
          <a:bodyPr wrap="square" lIns="36576" tIns="18288" rIns="36576" bIns="18288">
            <a:spAutoFit/>
          </a:bodyPr>
          <a:lstStyle/>
          <a:p>
            <a:r>
              <a:rPr sz="1100" b="0">
                <a:solidFill>
                  <a:srgbClr val="3B4652"/>
                </a:solidFill>
                <a:latin typeface="Aptos"/>
              </a:rPr>
              <a:t>The agent calls predefined investigation tools and receives focused outputs required for the investigation. Users receive evidence, metrics and RCA summaries rather than unrestricted raw-data access.</a:t>
            </a:r>
          </a:p>
        </p:txBody>
      </p:sp>
      <p:sp>
        <p:nvSpPr>
          <p:cNvPr id="27" name="Rounded Rectangle 26"/>
          <p:cNvSpPr/>
          <p:nvPr/>
        </p:nvSpPr>
        <p:spPr>
          <a:xfrm>
            <a:off x="6263640" y="4434840"/>
            <a:ext cx="5394960" cy="1335024"/>
          </a:xfrm>
          <a:prstGeom prst="roundRect">
            <a:avLst/>
          </a:prstGeom>
          <a:solidFill>
            <a:srgbClr val="00263E"/>
          </a:solidFill>
          <a:ln w="10160">
            <a:solidFill>
              <a:srgbClr val="002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8" name="TextBox 27"/>
          <p:cNvSpPr txBox="1"/>
          <p:nvPr/>
        </p:nvSpPr>
        <p:spPr>
          <a:xfrm>
            <a:off x="6416470" y="4614021"/>
            <a:ext cx="1457258" cy="206210"/>
          </a:xfrm>
          <a:prstGeom prst="rect">
            <a:avLst/>
          </a:prstGeom>
          <a:noFill/>
        </p:spPr>
        <p:txBody>
          <a:bodyPr wrap="none" lIns="36576" tIns="18288" rIns="36576" bIns="18288">
            <a:spAutoFit/>
          </a:bodyPr>
          <a:lstStyle/>
          <a:p>
            <a:r>
              <a:rPr sz="1100" b="1">
                <a:solidFill>
                  <a:srgbClr val="FB4D0A"/>
                </a:solidFill>
                <a:latin typeface="Aptos"/>
              </a:rPr>
              <a:t>Governance message</a:t>
            </a:r>
          </a:p>
        </p:txBody>
      </p:sp>
      <p:sp>
        <p:nvSpPr>
          <p:cNvPr id="29" name="TextBox 28"/>
          <p:cNvSpPr txBox="1"/>
          <p:nvPr/>
        </p:nvSpPr>
        <p:spPr>
          <a:xfrm>
            <a:off x="6443474" y="4910901"/>
            <a:ext cx="5199632" cy="544765"/>
          </a:xfrm>
          <a:prstGeom prst="rect">
            <a:avLst/>
          </a:prstGeom>
          <a:noFill/>
        </p:spPr>
        <p:txBody>
          <a:bodyPr wrap="square" lIns="36576" tIns="18288" rIns="36576" bIns="18288">
            <a:spAutoFit/>
          </a:bodyPr>
          <a:lstStyle/>
          <a:p>
            <a:r>
              <a:rPr sz="1100" b="1">
                <a:solidFill>
                  <a:srgbClr val="FFFFFF"/>
                </a:solidFill>
                <a:latin typeface="Aptos"/>
              </a:rPr>
              <a:t>InsightForge works inside the client governance model: governed datasets, role-based access, secure credentials and investigation outputs rather than uncontrolled data exposure.</a:t>
            </a:r>
          </a:p>
        </p:txBody>
      </p:sp>
      <p:sp>
        <p:nvSpPr>
          <p:cNvPr id="31" name="Text 0">
            <a:extLst>
              <a:ext uri="{FF2B5EF4-FFF2-40B4-BE49-F238E27FC236}">
                <a16:creationId xmlns:a16="http://schemas.microsoft.com/office/drawing/2014/main" id="{B790CFC0-5F35-F9A9-9650-0DD9EF370411}"/>
              </a:ext>
            </a:extLst>
          </p:cNvPr>
          <p:cNvSpPr/>
          <p:nvPr/>
        </p:nvSpPr>
        <p:spPr>
          <a:xfrm>
            <a:off x="182880" y="128016"/>
            <a:ext cx="585216" cy="256032"/>
          </a:xfrm>
          <a:prstGeom prst="rect">
            <a:avLst/>
          </a:prstGeom>
          <a:noFill/>
          <a:ln/>
        </p:spPr>
        <p:txBody>
          <a:bodyPr wrap="square" lIns="508" tIns="508" rIns="508" bIns="508" rtlCol="0" anchor="ctr">
            <a:noAutofit/>
          </a:bodyPr>
          <a:lstStyle/>
          <a:p>
            <a:pPr marL="0" indent="0" algn="l">
              <a:buNone/>
            </a:pPr>
            <a:endParaRPr lang="en-US" sz="2400" b="1">
              <a:solidFill>
                <a:srgbClr val="FB4D0A"/>
              </a:solidFill>
            </a:endParaRPr>
          </a:p>
        </p:txBody>
      </p:sp>
      <p:sp>
        <p:nvSpPr>
          <p:cNvPr id="33" name="Text 1">
            <a:extLst>
              <a:ext uri="{FF2B5EF4-FFF2-40B4-BE49-F238E27FC236}">
                <a16:creationId xmlns:a16="http://schemas.microsoft.com/office/drawing/2014/main" id="{503B235A-150B-F817-AB24-9D610849E435}"/>
              </a:ext>
            </a:extLst>
          </p:cNvPr>
          <p:cNvSpPr/>
          <p:nvPr/>
        </p:nvSpPr>
        <p:spPr>
          <a:xfrm>
            <a:off x="749808" y="118872"/>
            <a:ext cx="6035040" cy="274320"/>
          </a:xfrm>
          <a:prstGeom prst="rect">
            <a:avLst/>
          </a:prstGeom>
          <a:noFill/>
          <a:ln/>
        </p:spPr>
        <p:txBody>
          <a:bodyPr wrap="square" lIns="254" tIns="254" rIns="254" bIns="254" rtlCol="0" anchor="ctr">
            <a:noAutofit/>
          </a:bodyPr>
          <a:lstStyle/>
          <a:p>
            <a:r>
              <a:rPr lang="en-IN" sz="2400" b="1">
                <a:solidFill>
                  <a:srgbClr val="005071"/>
                </a:solidFill>
                <a:latin typeface="Aptos Display"/>
              </a:rPr>
              <a:t>Compliance, Security &amp; Governance</a:t>
            </a:r>
          </a:p>
        </p:txBody>
      </p:sp>
      <p:sp>
        <p:nvSpPr>
          <p:cNvPr id="35" name="Text 2">
            <a:extLst>
              <a:ext uri="{FF2B5EF4-FFF2-40B4-BE49-F238E27FC236}">
                <a16:creationId xmlns:a16="http://schemas.microsoft.com/office/drawing/2014/main" id="{02C64E96-7579-D63E-D257-4FF211FD179E}"/>
              </a:ext>
            </a:extLst>
          </p:cNvPr>
          <p:cNvSpPr/>
          <p:nvPr/>
        </p:nvSpPr>
        <p:spPr>
          <a:xfrm>
            <a:off x="761746" y="438912"/>
            <a:ext cx="10881360" cy="164592"/>
          </a:xfrm>
          <a:prstGeom prst="rect">
            <a:avLst/>
          </a:prstGeom>
          <a:noFill/>
          <a:ln/>
        </p:spPr>
        <p:txBody>
          <a:bodyPr wrap="square" lIns="508" tIns="508" rIns="508" bIns="508" rtlCol="0" anchor="ctr">
            <a:normAutofit/>
          </a:bodyPr>
          <a:lstStyle/>
          <a:p>
            <a:r>
              <a:rPr lang="en-US" sz="1000">
                <a:solidFill>
                  <a:srgbClr val="3B4652"/>
                </a:solidFill>
              </a:rPr>
              <a:t>Controlled access model: the agent retrieves only the metrics required for investigation, not unrestricted raw data.</a:t>
            </a:r>
          </a:p>
        </p:txBody>
      </p:sp>
      <p:sp>
        <p:nvSpPr>
          <p:cNvPr id="37" name="Shape 3">
            <a:extLst>
              <a:ext uri="{FF2B5EF4-FFF2-40B4-BE49-F238E27FC236}">
                <a16:creationId xmlns:a16="http://schemas.microsoft.com/office/drawing/2014/main" id="{20DE242F-FED4-9FFB-8099-802171BBE82E}"/>
              </a:ext>
            </a:extLst>
          </p:cNvPr>
          <p:cNvSpPr/>
          <p:nvPr/>
        </p:nvSpPr>
        <p:spPr>
          <a:xfrm>
            <a:off x="219456" y="737870"/>
            <a:ext cx="11777472" cy="1"/>
          </a:xfrm>
          <a:prstGeom prst="line">
            <a:avLst/>
          </a:prstGeom>
          <a:noFill/>
          <a:ln w="10160">
            <a:solidFill>
              <a:srgbClr val="D8E1EA"/>
            </a:solidFill>
            <a:prstDash val="solid"/>
          </a:ln>
        </p:spPr>
        <p:txBody>
          <a:bodyPr/>
          <a:lstStyle/>
          <a:p>
            <a:endParaRPr lang="en-IN" sz="2800"/>
          </a:p>
        </p:txBody>
      </p:sp>
      <p:sp>
        <p:nvSpPr>
          <p:cNvPr id="4" name="Text 35">
            <a:extLst>
              <a:ext uri="{FF2B5EF4-FFF2-40B4-BE49-F238E27FC236}">
                <a16:creationId xmlns:a16="http://schemas.microsoft.com/office/drawing/2014/main" id="{8D29BCD6-361C-D75A-2D46-1EF8DFDD290B}"/>
              </a:ext>
            </a:extLst>
          </p:cNvPr>
          <p:cNvSpPr/>
          <p:nvPr/>
        </p:nvSpPr>
        <p:spPr>
          <a:xfrm>
            <a:off x="292608" y="6473952"/>
            <a:ext cx="3246120" cy="137160"/>
          </a:xfrm>
          <a:prstGeom prst="rect">
            <a:avLst/>
          </a:prstGeom>
          <a:noFill/>
          <a:ln/>
        </p:spPr>
        <p:txBody>
          <a:bodyPr wrap="square" lIns="508" tIns="508" rIns="508" bIns="508" rtlCol="0" anchor="ctr">
            <a:normAutofit/>
          </a:bodyPr>
          <a:lstStyle/>
          <a:p>
            <a:pPr marL="0" indent="0" algn="l">
              <a:buNone/>
            </a:pPr>
            <a:r>
              <a:rPr lang="en-US" sz="700">
                <a:solidFill>
                  <a:srgbClr val="6A7785"/>
                </a:solidFill>
                <a:latin typeface="Aptos" pitchFamily="34" charset="0"/>
                <a:ea typeface="Aptos" pitchFamily="34" charset="-122"/>
                <a:cs typeface="Aptos" pitchFamily="34" charset="-120"/>
              </a:rPr>
              <a:t>InsightForge-AI | AI Operations Intelligence Agent</a:t>
            </a:r>
            <a:endParaRPr lang="en-US" sz="700"/>
          </a:p>
        </p:txBody>
      </p:sp>
      <p:sp>
        <p:nvSpPr>
          <p:cNvPr id="6" name="Text 36">
            <a:extLst>
              <a:ext uri="{FF2B5EF4-FFF2-40B4-BE49-F238E27FC236}">
                <a16:creationId xmlns:a16="http://schemas.microsoft.com/office/drawing/2014/main" id="{7A1308CB-5F09-1701-A255-454ED45F58B4}"/>
              </a:ext>
            </a:extLst>
          </p:cNvPr>
          <p:cNvSpPr/>
          <p:nvPr/>
        </p:nvSpPr>
        <p:spPr>
          <a:xfrm>
            <a:off x="11411712" y="6473952"/>
            <a:ext cx="411480" cy="137160"/>
          </a:xfrm>
          <a:prstGeom prst="rect">
            <a:avLst/>
          </a:prstGeom>
          <a:noFill/>
          <a:ln/>
        </p:spPr>
        <p:txBody>
          <a:bodyPr wrap="square" lIns="508" tIns="508" rIns="508" bIns="508" rtlCol="0" anchor="ctr">
            <a:normAutofit/>
          </a:bodyPr>
          <a:lstStyle/>
          <a:p>
            <a:pPr marL="0" indent="0" algn="l">
              <a:buNone/>
            </a:pPr>
            <a:r>
              <a:rPr lang="en-US" sz="700" b="1">
                <a:solidFill>
                  <a:srgbClr val="FB4D0A"/>
                </a:solidFill>
                <a:latin typeface="Aptos" pitchFamily="34" charset="0"/>
                <a:ea typeface="Aptos" pitchFamily="34" charset="-122"/>
                <a:cs typeface="Aptos" pitchFamily="34" charset="-120"/>
              </a:rPr>
              <a:t>EXL</a:t>
            </a:r>
            <a:endParaRPr lang="en-US" sz="7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36000"/>
          </a:xfrm>
          <a:prstGeom prst="rect">
            <a:avLst/>
          </a:prstGeom>
          <a:solidFill>
            <a:srgbClr val="FB4D0A"/>
          </a:solidFill>
          <a:ln>
            <a:solidFill>
              <a:srgbClr val="FB4D0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 name="Rounded Rectangle 6"/>
          <p:cNvSpPr/>
          <p:nvPr/>
        </p:nvSpPr>
        <p:spPr>
          <a:xfrm>
            <a:off x="320040" y="960120"/>
            <a:ext cx="11503152" cy="594360"/>
          </a:xfrm>
          <a:prstGeom prst="roundRect">
            <a:avLst/>
          </a:prstGeom>
          <a:solidFill>
            <a:srgbClr val="FFF2EA"/>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 name="TextBox 7"/>
          <p:cNvSpPr txBox="1"/>
          <p:nvPr/>
        </p:nvSpPr>
        <p:spPr>
          <a:xfrm>
            <a:off x="566928" y="1170432"/>
            <a:ext cx="10645991" cy="283154"/>
          </a:xfrm>
          <a:prstGeom prst="rect">
            <a:avLst/>
          </a:prstGeom>
          <a:noFill/>
        </p:spPr>
        <p:txBody>
          <a:bodyPr wrap="none" lIns="36576" tIns="18288" rIns="36576" bIns="18288">
            <a:spAutoFit/>
          </a:bodyPr>
          <a:lstStyle/>
          <a:p>
            <a:r>
              <a:rPr sz="1600" b="1">
                <a:solidFill>
                  <a:srgbClr val="00263E"/>
                </a:solidFill>
                <a:latin typeface="Aptos Display"/>
              </a:rPr>
              <a:t>Deployment flow: Streamlit portal + AI investigation services on Cloud Run, connected to governed BigQuery reporting data.</a:t>
            </a:r>
          </a:p>
        </p:txBody>
      </p:sp>
      <p:sp>
        <p:nvSpPr>
          <p:cNvPr id="9" name="Rounded Rectangle 8"/>
          <p:cNvSpPr/>
          <p:nvPr/>
        </p:nvSpPr>
        <p:spPr>
          <a:xfrm>
            <a:off x="502920" y="1874519"/>
            <a:ext cx="1417320" cy="749808"/>
          </a:xfrm>
          <a:prstGeom prst="roundRect">
            <a:avLst/>
          </a:prstGeom>
          <a:solidFill>
            <a:srgbClr val="EAF3FB"/>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 name="TextBox 9"/>
          <p:cNvSpPr txBox="1"/>
          <p:nvPr/>
        </p:nvSpPr>
        <p:spPr>
          <a:xfrm>
            <a:off x="678420" y="1946263"/>
            <a:ext cx="974113" cy="621709"/>
          </a:xfrm>
          <a:prstGeom prst="rect">
            <a:avLst/>
          </a:prstGeom>
          <a:noFill/>
        </p:spPr>
        <p:txBody>
          <a:bodyPr wrap="none" lIns="36576" tIns="18288" rIns="36576" bIns="18288">
            <a:spAutoFit/>
          </a:bodyPr>
          <a:lstStyle/>
          <a:p>
            <a:pPr algn="ctr"/>
            <a:r>
              <a:rPr sz="1000" b="1">
                <a:solidFill>
                  <a:srgbClr val="00263E"/>
                </a:solidFill>
                <a:latin typeface="Aptos"/>
              </a:rPr>
              <a:t>Business</a:t>
            </a:r>
            <a:br>
              <a:rPr sz="2800"/>
            </a:br>
            <a:r>
              <a:rPr sz="2800"/>
              <a:t>Users</a:t>
            </a:r>
          </a:p>
        </p:txBody>
      </p:sp>
      <p:sp>
        <p:nvSpPr>
          <p:cNvPr id="12" name="Rounded Rectangle 11"/>
          <p:cNvSpPr/>
          <p:nvPr/>
        </p:nvSpPr>
        <p:spPr>
          <a:xfrm>
            <a:off x="2240280" y="1874519"/>
            <a:ext cx="1417320" cy="749808"/>
          </a:xfrm>
          <a:prstGeom prst="roundRect">
            <a:avLst/>
          </a:prstGeom>
          <a:solidFill>
            <a:srgbClr val="FFFFFF"/>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3" name="TextBox 12"/>
          <p:cNvSpPr txBox="1"/>
          <p:nvPr/>
        </p:nvSpPr>
        <p:spPr>
          <a:xfrm>
            <a:off x="2148553" y="1977039"/>
            <a:ext cx="1594168" cy="560153"/>
          </a:xfrm>
          <a:prstGeom prst="rect">
            <a:avLst/>
          </a:prstGeom>
          <a:noFill/>
        </p:spPr>
        <p:txBody>
          <a:bodyPr wrap="square" lIns="36576" tIns="18288" rIns="36576" bIns="18288">
            <a:spAutoFit/>
          </a:bodyPr>
          <a:lstStyle/>
          <a:p>
            <a:pPr algn="ctr"/>
            <a:r>
              <a:rPr sz="1000" b="1">
                <a:solidFill>
                  <a:srgbClr val="00263E"/>
                </a:solidFill>
                <a:latin typeface="Aptos"/>
              </a:rPr>
              <a:t>Streamlit Portal</a:t>
            </a:r>
            <a:br>
              <a:rPr sz="2400"/>
            </a:br>
            <a:r>
              <a:rPr sz="2400"/>
              <a:t>Cloud Run</a:t>
            </a:r>
          </a:p>
        </p:txBody>
      </p:sp>
      <p:sp>
        <p:nvSpPr>
          <p:cNvPr id="15" name="Rounded Rectangle 14"/>
          <p:cNvSpPr/>
          <p:nvPr/>
        </p:nvSpPr>
        <p:spPr>
          <a:xfrm>
            <a:off x="4069080" y="1874519"/>
            <a:ext cx="1417320" cy="749808"/>
          </a:xfrm>
          <a:prstGeom prst="roundRect">
            <a:avLst/>
          </a:prstGeom>
          <a:solidFill>
            <a:srgbClr val="FFF2EA"/>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6" name="TextBox 15"/>
          <p:cNvSpPr txBox="1"/>
          <p:nvPr/>
        </p:nvSpPr>
        <p:spPr>
          <a:xfrm>
            <a:off x="4062760" y="1946262"/>
            <a:ext cx="1417320" cy="621709"/>
          </a:xfrm>
          <a:prstGeom prst="rect">
            <a:avLst/>
          </a:prstGeom>
          <a:noFill/>
        </p:spPr>
        <p:txBody>
          <a:bodyPr wrap="square" lIns="36576" tIns="18288" rIns="36576" bIns="18288">
            <a:spAutoFit/>
          </a:bodyPr>
          <a:lstStyle/>
          <a:p>
            <a:pPr algn="ctr"/>
            <a:r>
              <a:rPr sz="1000" b="1">
                <a:solidFill>
                  <a:srgbClr val="FB4D0A"/>
                </a:solidFill>
                <a:latin typeface="Aptos"/>
              </a:rPr>
              <a:t>AI Investigation</a:t>
            </a:r>
            <a:br>
              <a:rPr sz="2800"/>
            </a:br>
            <a:r>
              <a:rPr sz="2800"/>
              <a:t>Agent</a:t>
            </a:r>
          </a:p>
        </p:txBody>
      </p:sp>
      <p:sp>
        <p:nvSpPr>
          <p:cNvPr id="18" name="Rounded Rectangle 17"/>
          <p:cNvSpPr/>
          <p:nvPr/>
        </p:nvSpPr>
        <p:spPr>
          <a:xfrm>
            <a:off x="5897880" y="1874519"/>
            <a:ext cx="1417320" cy="749808"/>
          </a:xfrm>
          <a:prstGeom prst="roundRect">
            <a:avLst/>
          </a:prstGeom>
          <a:solidFill>
            <a:srgbClr val="FFFFFF"/>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9" name="TextBox 18"/>
          <p:cNvSpPr txBox="1"/>
          <p:nvPr/>
        </p:nvSpPr>
        <p:spPr>
          <a:xfrm>
            <a:off x="6149197" y="1938568"/>
            <a:ext cx="881908" cy="621709"/>
          </a:xfrm>
          <a:prstGeom prst="rect">
            <a:avLst/>
          </a:prstGeom>
          <a:noFill/>
        </p:spPr>
        <p:txBody>
          <a:bodyPr wrap="none" lIns="36576" tIns="18288" rIns="36576" bIns="18288">
            <a:spAutoFit/>
          </a:bodyPr>
          <a:lstStyle/>
          <a:p>
            <a:pPr algn="ctr"/>
            <a:r>
              <a:rPr sz="1000" b="1">
                <a:solidFill>
                  <a:srgbClr val="00263E"/>
                </a:solidFill>
                <a:latin typeface="Aptos"/>
              </a:rPr>
              <a:t>Investigation</a:t>
            </a:r>
            <a:br>
              <a:rPr sz="2800"/>
            </a:br>
            <a:r>
              <a:rPr sz="2800"/>
              <a:t>Tools</a:t>
            </a:r>
          </a:p>
        </p:txBody>
      </p:sp>
      <p:sp>
        <p:nvSpPr>
          <p:cNvPr id="21" name="Rounded Rectangle 20"/>
          <p:cNvSpPr/>
          <p:nvPr/>
        </p:nvSpPr>
        <p:spPr>
          <a:xfrm>
            <a:off x="7726679" y="1874519"/>
            <a:ext cx="1417320" cy="749808"/>
          </a:xfrm>
          <a:prstGeom prst="roundRect">
            <a:avLst/>
          </a:prstGeom>
          <a:solidFill>
            <a:srgbClr val="EAF3FB"/>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2" name="TextBox 21"/>
          <p:cNvSpPr txBox="1"/>
          <p:nvPr/>
        </p:nvSpPr>
        <p:spPr>
          <a:xfrm>
            <a:off x="7825229" y="1965960"/>
            <a:ext cx="1090170" cy="606320"/>
          </a:xfrm>
          <a:prstGeom prst="rect">
            <a:avLst/>
          </a:prstGeom>
          <a:noFill/>
        </p:spPr>
        <p:txBody>
          <a:bodyPr wrap="none" lIns="36576" tIns="18288" rIns="36576" bIns="18288">
            <a:spAutoFit/>
          </a:bodyPr>
          <a:lstStyle/>
          <a:p>
            <a:pPr algn="ctr"/>
            <a:r>
              <a:rPr sz="900" b="1">
                <a:solidFill>
                  <a:srgbClr val="00263E"/>
                </a:solidFill>
                <a:latin typeface="Aptos"/>
              </a:rPr>
              <a:t>BigQuery Reporting</a:t>
            </a:r>
            <a:br>
              <a:rPr sz="2800"/>
            </a:br>
            <a:r>
              <a:rPr sz="2800"/>
              <a:t>Layer</a:t>
            </a:r>
          </a:p>
        </p:txBody>
      </p:sp>
      <p:sp>
        <p:nvSpPr>
          <p:cNvPr id="24" name="Rounded Rectangle 23"/>
          <p:cNvSpPr/>
          <p:nvPr/>
        </p:nvSpPr>
        <p:spPr>
          <a:xfrm>
            <a:off x="9646920" y="1874519"/>
            <a:ext cx="1417320" cy="749808"/>
          </a:xfrm>
          <a:prstGeom prst="roundRect">
            <a:avLst/>
          </a:prstGeom>
          <a:solidFill>
            <a:srgbClr val="EAF3FB"/>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5" name="TextBox 24"/>
          <p:cNvSpPr txBox="1"/>
          <p:nvPr/>
        </p:nvSpPr>
        <p:spPr>
          <a:xfrm>
            <a:off x="9646920" y="1911626"/>
            <a:ext cx="1404680" cy="606320"/>
          </a:xfrm>
          <a:prstGeom prst="rect">
            <a:avLst/>
          </a:prstGeom>
          <a:noFill/>
        </p:spPr>
        <p:txBody>
          <a:bodyPr wrap="none" lIns="36576" tIns="18288" rIns="36576" bIns="18288">
            <a:spAutoFit/>
          </a:bodyPr>
          <a:lstStyle/>
          <a:p>
            <a:pPr algn="ctr"/>
            <a:r>
              <a:rPr sz="900" b="1">
                <a:solidFill>
                  <a:srgbClr val="00263E"/>
                </a:solidFill>
                <a:latin typeface="Aptos"/>
              </a:rPr>
              <a:t>Operational Data</a:t>
            </a:r>
            <a:br>
              <a:rPr sz="2800"/>
            </a:br>
            <a:r>
              <a:rPr sz="2800"/>
              <a:t>Platform</a:t>
            </a:r>
          </a:p>
        </p:txBody>
      </p:sp>
      <p:sp>
        <p:nvSpPr>
          <p:cNvPr id="26" name="Rounded Rectangle 25"/>
          <p:cNvSpPr/>
          <p:nvPr/>
        </p:nvSpPr>
        <p:spPr>
          <a:xfrm>
            <a:off x="502920" y="3246120"/>
            <a:ext cx="3429000" cy="2011680"/>
          </a:xfrm>
          <a:prstGeom prst="roundRect">
            <a:avLst/>
          </a:prstGeom>
          <a:solidFill>
            <a:srgbClr val="F4F7FA"/>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7" name="TextBox 26"/>
          <p:cNvSpPr txBox="1"/>
          <p:nvPr/>
        </p:nvSpPr>
        <p:spPr>
          <a:xfrm>
            <a:off x="731520" y="3456432"/>
            <a:ext cx="859338" cy="198516"/>
          </a:xfrm>
          <a:prstGeom prst="rect">
            <a:avLst/>
          </a:prstGeom>
          <a:noFill/>
        </p:spPr>
        <p:txBody>
          <a:bodyPr wrap="none" lIns="36576" tIns="18288" rIns="36576" bIns="18288">
            <a:spAutoFit/>
          </a:bodyPr>
          <a:lstStyle/>
          <a:p>
            <a:r>
              <a:rPr sz="1050" b="1">
                <a:solidFill>
                  <a:srgbClr val="FB4D0A"/>
                </a:solidFill>
                <a:latin typeface="Aptos"/>
              </a:rPr>
              <a:t>Environment</a:t>
            </a:r>
          </a:p>
        </p:txBody>
      </p:sp>
      <p:sp>
        <p:nvSpPr>
          <p:cNvPr id="28" name="TextBox 27"/>
          <p:cNvSpPr txBox="1"/>
          <p:nvPr/>
        </p:nvSpPr>
        <p:spPr>
          <a:xfrm>
            <a:off x="731520" y="3730752"/>
            <a:ext cx="2590581" cy="985911"/>
          </a:xfrm>
          <a:prstGeom prst="rect">
            <a:avLst/>
          </a:prstGeom>
          <a:noFill/>
        </p:spPr>
        <p:txBody>
          <a:bodyPr wrap="none" lIns="36576" tIns="18288" rIns="36576" bIns="18288">
            <a:spAutoFit/>
          </a:bodyPr>
          <a:lstStyle/>
          <a:p>
            <a:pPr>
              <a:spcAft>
                <a:spcPts val="150"/>
              </a:spcAft>
              <a:defRPr sz="600">
                <a:solidFill>
                  <a:srgbClr val="3B4652"/>
                </a:solidFill>
                <a:latin typeface="Aptos"/>
              </a:defRPr>
            </a:pPr>
            <a:r>
              <a:rPr sz="1100"/>
              <a:t>• GCP cloud-native deployment.</a:t>
            </a:r>
          </a:p>
          <a:p>
            <a:pPr>
              <a:spcAft>
                <a:spcPts val="150"/>
              </a:spcAft>
              <a:defRPr sz="600">
                <a:solidFill>
                  <a:srgbClr val="3B4652"/>
                </a:solidFill>
                <a:latin typeface="Aptos"/>
              </a:defRPr>
            </a:pPr>
            <a:r>
              <a:rPr sz="1100"/>
              <a:t>• Cloud Run for Streamlit and AI Agent.</a:t>
            </a:r>
          </a:p>
          <a:p>
            <a:pPr>
              <a:spcAft>
                <a:spcPts val="150"/>
              </a:spcAft>
              <a:defRPr sz="600">
                <a:solidFill>
                  <a:srgbClr val="3B4652"/>
                </a:solidFill>
                <a:latin typeface="Aptos"/>
              </a:defRPr>
            </a:pPr>
            <a:r>
              <a:rPr sz="1100"/>
              <a:t>• BigQuery reporting layer.</a:t>
            </a:r>
          </a:p>
          <a:p>
            <a:pPr>
              <a:spcAft>
                <a:spcPts val="150"/>
              </a:spcAft>
              <a:defRPr sz="600">
                <a:solidFill>
                  <a:srgbClr val="3B4652"/>
                </a:solidFill>
                <a:latin typeface="Aptos"/>
              </a:defRPr>
            </a:pPr>
            <a:r>
              <a:rPr sz="1100"/>
              <a:t>• Dev, UAT and Production environments.</a:t>
            </a:r>
          </a:p>
          <a:p>
            <a:pPr>
              <a:spcAft>
                <a:spcPts val="150"/>
              </a:spcAft>
              <a:defRPr sz="600">
                <a:solidFill>
                  <a:srgbClr val="3B4652"/>
                </a:solidFill>
                <a:latin typeface="Aptos"/>
              </a:defRPr>
            </a:pPr>
            <a:r>
              <a:rPr sz="1100"/>
              <a:t>• Auto-scaling serverless architecture.</a:t>
            </a:r>
          </a:p>
        </p:txBody>
      </p:sp>
      <p:sp>
        <p:nvSpPr>
          <p:cNvPr id="29" name="Rounded Rectangle 28"/>
          <p:cNvSpPr/>
          <p:nvPr/>
        </p:nvSpPr>
        <p:spPr>
          <a:xfrm>
            <a:off x="4370832" y="3246120"/>
            <a:ext cx="3429000" cy="2011680"/>
          </a:xfrm>
          <a:prstGeom prst="roundRect">
            <a:avLst/>
          </a:prstGeom>
          <a:solidFill>
            <a:srgbClr val="FFFFFF"/>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0" name="TextBox 29"/>
          <p:cNvSpPr txBox="1"/>
          <p:nvPr/>
        </p:nvSpPr>
        <p:spPr>
          <a:xfrm>
            <a:off x="4599432" y="3456432"/>
            <a:ext cx="1130246" cy="198516"/>
          </a:xfrm>
          <a:prstGeom prst="rect">
            <a:avLst/>
          </a:prstGeom>
          <a:noFill/>
        </p:spPr>
        <p:txBody>
          <a:bodyPr wrap="none" lIns="36576" tIns="18288" rIns="36576" bIns="18288">
            <a:spAutoFit/>
          </a:bodyPr>
          <a:lstStyle/>
          <a:p>
            <a:r>
              <a:rPr sz="1050" b="1">
                <a:solidFill>
                  <a:srgbClr val="FB4D0A"/>
                </a:solidFill>
                <a:latin typeface="Aptos"/>
              </a:rPr>
              <a:t>Rollout approach</a:t>
            </a:r>
          </a:p>
        </p:txBody>
      </p:sp>
      <p:sp>
        <p:nvSpPr>
          <p:cNvPr id="31" name="TextBox 30"/>
          <p:cNvSpPr txBox="1"/>
          <p:nvPr/>
        </p:nvSpPr>
        <p:spPr>
          <a:xfrm>
            <a:off x="4599432" y="3730752"/>
            <a:ext cx="3035807" cy="1129540"/>
          </a:xfrm>
          <a:prstGeom prst="rect">
            <a:avLst/>
          </a:prstGeom>
          <a:noFill/>
        </p:spPr>
        <p:txBody>
          <a:bodyPr wrap="square" lIns="36576" tIns="18288" rIns="36576" bIns="18288">
            <a:spAutoFit/>
          </a:bodyPr>
          <a:lstStyle/>
          <a:p>
            <a:pPr>
              <a:spcAft>
                <a:spcPts val="150"/>
              </a:spcAft>
              <a:defRPr sz="600">
                <a:solidFill>
                  <a:srgbClr val="3B4652"/>
                </a:solidFill>
                <a:latin typeface="Aptos"/>
              </a:defRPr>
            </a:pPr>
            <a:r>
              <a:rPr sz="1100"/>
              <a:t>• Phase 1: Complaint Rate PoC.</a:t>
            </a:r>
          </a:p>
          <a:p>
            <a:pPr>
              <a:spcAft>
                <a:spcPts val="150"/>
              </a:spcAft>
              <a:defRPr sz="600">
                <a:solidFill>
                  <a:srgbClr val="3B4652"/>
                </a:solidFill>
                <a:latin typeface="Aptos"/>
              </a:defRPr>
            </a:pPr>
            <a:r>
              <a:rPr sz="1100"/>
              <a:t>• Phase 2: Business pilot with Operations, Billing and Customer Service.</a:t>
            </a:r>
          </a:p>
          <a:p>
            <a:pPr>
              <a:spcAft>
                <a:spcPts val="150"/>
              </a:spcAft>
              <a:defRPr sz="600">
                <a:solidFill>
                  <a:srgbClr val="3B4652"/>
                </a:solidFill>
                <a:latin typeface="Aptos"/>
              </a:defRPr>
            </a:pPr>
            <a:r>
              <a:rPr sz="1100"/>
              <a:t>• Phase 3: Enterprise rollout with SSO and governance.</a:t>
            </a:r>
          </a:p>
          <a:p>
            <a:pPr>
              <a:spcAft>
                <a:spcPts val="150"/>
              </a:spcAft>
              <a:defRPr sz="600">
                <a:solidFill>
                  <a:srgbClr val="3B4652"/>
                </a:solidFill>
                <a:latin typeface="Aptos"/>
              </a:defRPr>
            </a:pPr>
            <a:r>
              <a:rPr sz="1100"/>
              <a:t>• Phase 4: Multi-KPI expansion.</a:t>
            </a:r>
          </a:p>
        </p:txBody>
      </p:sp>
      <p:sp>
        <p:nvSpPr>
          <p:cNvPr id="32" name="Rounded Rectangle 31"/>
          <p:cNvSpPr/>
          <p:nvPr/>
        </p:nvSpPr>
        <p:spPr>
          <a:xfrm>
            <a:off x="8229600" y="3246120"/>
            <a:ext cx="3429000" cy="2011680"/>
          </a:xfrm>
          <a:prstGeom prst="roundRect">
            <a:avLst/>
          </a:prstGeom>
          <a:solidFill>
            <a:srgbClr val="F4F7FA"/>
          </a:solidFill>
          <a:ln w="1016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3" name="TextBox 32"/>
          <p:cNvSpPr txBox="1"/>
          <p:nvPr/>
        </p:nvSpPr>
        <p:spPr>
          <a:xfrm>
            <a:off x="8458200" y="3456432"/>
            <a:ext cx="1367490" cy="198516"/>
          </a:xfrm>
          <a:prstGeom prst="rect">
            <a:avLst/>
          </a:prstGeom>
          <a:noFill/>
        </p:spPr>
        <p:txBody>
          <a:bodyPr wrap="none" lIns="36576" tIns="18288" rIns="36576" bIns="18288">
            <a:spAutoFit/>
          </a:bodyPr>
          <a:lstStyle/>
          <a:p>
            <a:r>
              <a:rPr sz="1050" b="1">
                <a:solidFill>
                  <a:srgbClr val="FB4D0A"/>
                </a:solidFill>
                <a:latin typeface="Aptos"/>
              </a:rPr>
              <a:t>Ownership &amp; support</a:t>
            </a:r>
          </a:p>
        </p:txBody>
      </p:sp>
      <p:sp>
        <p:nvSpPr>
          <p:cNvPr id="34" name="TextBox 33"/>
          <p:cNvSpPr txBox="1"/>
          <p:nvPr/>
        </p:nvSpPr>
        <p:spPr>
          <a:xfrm>
            <a:off x="8458201" y="3730752"/>
            <a:ext cx="3118104" cy="960263"/>
          </a:xfrm>
          <a:prstGeom prst="rect">
            <a:avLst/>
          </a:prstGeom>
          <a:noFill/>
        </p:spPr>
        <p:txBody>
          <a:bodyPr wrap="square" lIns="36576" tIns="18288" rIns="36576" bIns="18288">
            <a:spAutoFit/>
          </a:bodyPr>
          <a:lstStyle/>
          <a:p>
            <a:pPr>
              <a:spcAft>
                <a:spcPts val="150"/>
              </a:spcAft>
              <a:defRPr sz="600">
                <a:solidFill>
                  <a:srgbClr val="3B4652"/>
                </a:solidFill>
                <a:latin typeface="Aptos"/>
              </a:defRPr>
            </a:pPr>
            <a:r>
              <a:rPr sz="1100"/>
              <a:t>• Analytics team owns KPI logic and validation.</a:t>
            </a:r>
          </a:p>
          <a:p>
            <a:pPr>
              <a:spcAft>
                <a:spcPts val="150"/>
              </a:spcAft>
              <a:defRPr sz="600">
                <a:solidFill>
                  <a:srgbClr val="3B4652"/>
                </a:solidFill>
                <a:latin typeface="Aptos"/>
              </a:defRPr>
            </a:pPr>
            <a:r>
              <a:rPr sz="1100"/>
              <a:t>• Data Engineering supports </a:t>
            </a:r>
            <a:r>
              <a:rPr sz="1100" err="1"/>
              <a:t>BigQuery</a:t>
            </a:r>
            <a:r>
              <a:rPr sz="1100"/>
              <a:t> and tool optimization.</a:t>
            </a:r>
          </a:p>
          <a:p>
            <a:pPr>
              <a:spcAft>
                <a:spcPts val="150"/>
              </a:spcAft>
              <a:defRPr sz="600">
                <a:solidFill>
                  <a:srgbClr val="3B4652"/>
                </a:solidFill>
                <a:latin typeface="Aptos"/>
              </a:defRPr>
            </a:pPr>
            <a:r>
              <a:rPr sz="1100"/>
              <a:t>• Cloud team supports infrastructure and IAM.</a:t>
            </a:r>
          </a:p>
          <a:p>
            <a:pPr>
              <a:spcAft>
                <a:spcPts val="150"/>
              </a:spcAft>
              <a:defRPr sz="600">
                <a:solidFill>
                  <a:srgbClr val="3B4652"/>
                </a:solidFill>
                <a:latin typeface="Aptos"/>
              </a:defRPr>
            </a:pPr>
            <a:r>
              <a:rPr sz="1100"/>
              <a:t>• Business owners validate RCA usefulness.</a:t>
            </a:r>
          </a:p>
        </p:txBody>
      </p:sp>
      <p:sp>
        <p:nvSpPr>
          <p:cNvPr id="35" name="Rounded Rectangle 34"/>
          <p:cNvSpPr/>
          <p:nvPr/>
        </p:nvSpPr>
        <p:spPr>
          <a:xfrm>
            <a:off x="502920" y="5669280"/>
            <a:ext cx="11155680" cy="548640"/>
          </a:xfrm>
          <a:prstGeom prst="roundRect">
            <a:avLst/>
          </a:prstGeom>
          <a:solidFill>
            <a:srgbClr val="00263E"/>
          </a:solidFill>
          <a:ln w="10160">
            <a:solidFill>
              <a:srgbClr val="002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6" name="TextBox 35"/>
          <p:cNvSpPr txBox="1"/>
          <p:nvPr/>
        </p:nvSpPr>
        <p:spPr>
          <a:xfrm>
            <a:off x="678420" y="5779008"/>
            <a:ext cx="1547027" cy="206210"/>
          </a:xfrm>
          <a:prstGeom prst="rect">
            <a:avLst/>
          </a:prstGeom>
          <a:noFill/>
        </p:spPr>
        <p:txBody>
          <a:bodyPr wrap="none" lIns="36576" tIns="18288" rIns="36576" bIns="18288">
            <a:spAutoFit/>
          </a:bodyPr>
          <a:lstStyle/>
          <a:p>
            <a:r>
              <a:rPr sz="1100" b="1">
                <a:solidFill>
                  <a:srgbClr val="FB4D0A"/>
                </a:solidFill>
                <a:latin typeface="Aptos"/>
              </a:rPr>
              <a:t>Deployment takeaway:</a:t>
            </a:r>
          </a:p>
        </p:txBody>
      </p:sp>
      <p:sp>
        <p:nvSpPr>
          <p:cNvPr id="37" name="TextBox 36"/>
          <p:cNvSpPr txBox="1"/>
          <p:nvPr/>
        </p:nvSpPr>
        <p:spPr>
          <a:xfrm>
            <a:off x="2121409" y="5779008"/>
            <a:ext cx="9253728" cy="375487"/>
          </a:xfrm>
          <a:prstGeom prst="rect">
            <a:avLst/>
          </a:prstGeom>
          <a:noFill/>
        </p:spPr>
        <p:txBody>
          <a:bodyPr wrap="square" lIns="36576" tIns="18288" rIns="36576" bIns="18288">
            <a:spAutoFit/>
          </a:bodyPr>
          <a:lstStyle/>
          <a:p>
            <a:r>
              <a:rPr lang="en-US" sz="1100" b="1">
                <a:solidFill>
                  <a:srgbClr val="FFFFFF"/>
                </a:solidFill>
              </a:rPr>
              <a:t>Start with Complaint Rate, validate investigation quality with business users, then scale the same pattern across additional operational KPIs.</a:t>
            </a:r>
          </a:p>
        </p:txBody>
      </p:sp>
      <p:sp>
        <p:nvSpPr>
          <p:cNvPr id="41" name="Text 1">
            <a:extLst>
              <a:ext uri="{FF2B5EF4-FFF2-40B4-BE49-F238E27FC236}">
                <a16:creationId xmlns:a16="http://schemas.microsoft.com/office/drawing/2014/main" id="{0BE89467-5F27-4D94-1F89-15A279284985}"/>
              </a:ext>
            </a:extLst>
          </p:cNvPr>
          <p:cNvSpPr/>
          <p:nvPr/>
        </p:nvSpPr>
        <p:spPr>
          <a:xfrm>
            <a:off x="749808" y="118872"/>
            <a:ext cx="6035040" cy="274320"/>
          </a:xfrm>
          <a:prstGeom prst="rect">
            <a:avLst/>
          </a:prstGeom>
          <a:noFill/>
          <a:ln/>
        </p:spPr>
        <p:txBody>
          <a:bodyPr wrap="square" lIns="254" tIns="254" rIns="254" bIns="254" rtlCol="0" anchor="ctr">
            <a:noAutofit/>
          </a:bodyPr>
          <a:lstStyle/>
          <a:p>
            <a:r>
              <a:rPr lang="en-IN" sz="2400" b="1">
                <a:solidFill>
                  <a:srgbClr val="005071"/>
                </a:solidFill>
                <a:latin typeface="Aptos Display"/>
              </a:rPr>
              <a:t>Deployment Pattern</a:t>
            </a:r>
          </a:p>
        </p:txBody>
      </p:sp>
      <p:sp>
        <p:nvSpPr>
          <p:cNvPr id="43" name="Text 2">
            <a:extLst>
              <a:ext uri="{FF2B5EF4-FFF2-40B4-BE49-F238E27FC236}">
                <a16:creationId xmlns:a16="http://schemas.microsoft.com/office/drawing/2014/main" id="{42DFC1F6-AB88-D909-EBF8-F1BB33961722}"/>
              </a:ext>
            </a:extLst>
          </p:cNvPr>
          <p:cNvSpPr/>
          <p:nvPr/>
        </p:nvSpPr>
        <p:spPr>
          <a:xfrm>
            <a:off x="761746" y="438912"/>
            <a:ext cx="10881360" cy="164592"/>
          </a:xfrm>
          <a:prstGeom prst="rect">
            <a:avLst/>
          </a:prstGeom>
          <a:noFill/>
          <a:ln/>
        </p:spPr>
        <p:txBody>
          <a:bodyPr wrap="square" lIns="508" tIns="508" rIns="508" bIns="508" rtlCol="0" anchor="ctr">
            <a:normAutofit/>
          </a:bodyPr>
          <a:lstStyle/>
          <a:p>
            <a:r>
              <a:rPr lang="en-US" sz="1000">
                <a:solidFill>
                  <a:srgbClr val="3B4652"/>
                </a:solidFill>
              </a:rPr>
              <a:t>Cloud-native deployment pattern for PoC, pilot and enterprise rollout.</a:t>
            </a:r>
          </a:p>
        </p:txBody>
      </p:sp>
      <p:sp>
        <p:nvSpPr>
          <p:cNvPr id="45" name="Shape 3">
            <a:extLst>
              <a:ext uri="{FF2B5EF4-FFF2-40B4-BE49-F238E27FC236}">
                <a16:creationId xmlns:a16="http://schemas.microsoft.com/office/drawing/2014/main" id="{6CDE0141-71D8-A6D8-A9D8-61AF0E69258F}"/>
              </a:ext>
            </a:extLst>
          </p:cNvPr>
          <p:cNvSpPr/>
          <p:nvPr/>
        </p:nvSpPr>
        <p:spPr>
          <a:xfrm>
            <a:off x="219456" y="737870"/>
            <a:ext cx="11777472" cy="1"/>
          </a:xfrm>
          <a:prstGeom prst="line">
            <a:avLst/>
          </a:prstGeom>
          <a:noFill/>
          <a:ln w="10160">
            <a:solidFill>
              <a:srgbClr val="D8E1EA"/>
            </a:solidFill>
            <a:prstDash val="solid"/>
          </a:ln>
        </p:spPr>
        <p:txBody>
          <a:bodyPr/>
          <a:lstStyle/>
          <a:p>
            <a:endParaRPr lang="en-IN" sz="2800"/>
          </a:p>
        </p:txBody>
      </p:sp>
      <p:sp>
        <p:nvSpPr>
          <p:cNvPr id="49" name="Shape 12">
            <a:extLst>
              <a:ext uri="{FF2B5EF4-FFF2-40B4-BE49-F238E27FC236}">
                <a16:creationId xmlns:a16="http://schemas.microsoft.com/office/drawing/2014/main" id="{BB0FCCD3-6AE8-05D0-4728-85046A8AC8BA}"/>
              </a:ext>
            </a:extLst>
          </p:cNvPr>
          <p:cNvSpPr/>
          <p:nvPr/>
        </p:nvSpPr>
        <p:spPr>
          <a:xfrm>
            <a:off x="1913632" y="2245987"/>
            <a:ext cx="320040" cy="1"/>
          </a:xfrm>
          <a:prstGeom prst="line">
            <a:avLst/>
          </a:prstGeom>
          <a:noFill/>
          <a:ln w="13970">
            <a:solidFill>
              <a:srgbClr val="FB4D0A"/>
            </a:solidFill>
            <a:prstDash val="solid"/>
            <a:tailEnd type="triangle"/>
          </a:ln>
        </p:spPr>
        <p:txBody>
          <a:bodyPr/>
          <a:lstStyle/>
          <a:p>
            <a:endParaRPr lang="en-IN" sz="3600"/>
          </a:p>
        </p:txBody>
      </p:sp>
      <p:sp>
        <p:nvSpPr>
          <p:cNvPr id="53" name="Shape 12">
            <a:extLst>
              <a:ext uri="{FF2B5EF4-FFF2-40B4-BE49-F238E27FC236}">
                <a16:creationId xmlns:a16="http://schemas.microsoft.com/office/drawing/2014/main" id="{413A104E-D07B-3508-E215-3E59FDC2DB0C}"/>
              </a:ext>
            </a:extLst>
          </p:cNvPr>
          <p:cNvSpPr/>
          <p:nvPr/>
        </p:nvSpPr>
        <p:spPr>
          <a:xfrm>
            <a:off x="3651280" y="2245987"/>
            <a:ext cx="320040" cy="1"/>
          </a:xfrm>
          <a:prstGeom prst="line">
            <a:avLst/>
          </a:prstGeom>
          <a:noFill/>
          <a:ln w="13970">
            <a:solidFill>
              <a:srgbClr val="FB4D0A"/>
            </a:solidFill>
            <a:prstDash val="solid"/>
            <a:tailEnd type="triangle"/>
          </a:ln>
        </p:spPr>
        <p:txBody>
          <a:bodyPr/>
          <a:lstStyle/>
          <a:p>
            <a:endParaRPr lang="en-IN" sz="3600"/>
          </a:p>
        </p:txBody>
      </p:sp>
      <p:sp>
        <p:nvSpPr>
          <p:cNvPr id="55" name="Shape 12">
            <a:extLst>
              <a:ext uri="{FF2B5EF4-FFF2-40B4-BE49-F238E27FC236}">
                <a16:creationId xmlns:a16="http://schemas.microsoft.com/office/drawing/2014/main" id="{62533277-E7C0-7E24-DC0A-164C498DA660}"/>
              </a:ext>
            </a:extLst>
          </p:cNvPr>
          <p:cNvSpPr/>
          <p:nvPr/>
        </p:nvSpPr>
        <p:spPr>
          <a:xfrm>
            <a:off x="5486256" y="2245987"/>
            <a:ext cx="320040" cy="1"/>
          </a:xfrm>
          <a:prstGeom prst="line">
            <a:avLst/>
          </a:prstGeom>
          <a:noFill/>
          <a:ln w="13970">
            <a:solidFill>
              <a:srgbClr val="FB4D0A"/>
            </a:solidFill>
            <a:prstDash val="solid"/>
            <a:tailEnd type="triangle"/>
          </a:ln>
        </p:spPr>
        <p:txBody>
          <a:bodyPr/>
          <a:lstStyle/>
          <a:p>
            <a:endParaRPr lang="en-IN" sz="3600"/>
          </a:p>
        </p:txBody>
      </p:sp>
      <p:sp>
        <p:nvSpPr>
          <p:cNvPr id="57" name="Shape 12">
            <a:extLst>
              <a:ext uri="{FF2B5EF4-FFF2-40B4-BE49-F238E27FC236}">
                <a16:creationId xmlns:a16="http://schemas.microsoft.com/office/drawing/2014/main" id="{027F3ECC-BC4D-2F19-01D5-D054DDB14E91}"/>
              </a:ext>
            </a:extLst>
          </p:cNvPr>
          <p:cNvSpPr/>
          <p:nvPr/>
        </p:nvSpPr>
        <p:spPr>
          <a:xfrm>
            <a:off x="7315199" y="2245987"/>
            <a:ext cx="320040" cy="1"/>
          </a:xfrm>
          <a:prstGeom prst="line">
            <a:avLst/>
          </a:prstGeom>
          <a:noFill/>
          <a:ln w="13970">
            <a:solidFill>
              <a:srgbClr val="FB4D0A"/>
            </a:solidFill>
            <a:prstDash val="solid"/>
            <a:tailEnd type="triangle"/>
          </a:ln>
        </p:spPr>
        <p:txBody>
          <a:bodyPr/>
          <a:lstStyle/>
          <a:p>
            <a:endParaRPr lang="en-IN" sz="3600"/>
          </a:p>
        </p:txBody>
      </p:sp>
      <p:sp>
        <p:nvSpPr>
          <p:cNvPr id="59" name="Shape 12">
            <a:extLst>
              <a:ext uri="{FF2B5EF4-FFF2-40B4-BE49-F238E27FC236}">
                <a16:creationId xmlns:a16="http://schemas.microsoft.com/office/drawing/2014/main" id="{C288D8CE-44AB-865D-53AB-DD058E195FFE}"/>
              </a:ext>
            </a:extLst>
          </p:cNvPr>
          <p:cNvSpPr/>
          <p:nvPr/>
        </p:nvSpPr>
        <p:spPr>
          <a:xfrm>
            <a:off x="9141945" y="2245987"/>
            <a:ext cx="320040" cy="1"/>
          </a:xfrm>
          <a:prstGeom prst="line">
            <a:avLst/>
          </a:prstGeom>
          <a:noFill/>
          <a:ln w="13970">
            <a:solidFill>
              <a:srgbClr val="FB4D0A"/>
            </a:solidFill>
            <a:prstDash val="solid"/>
            <a:tailEnd type="triangle"/>
          </a:ln>
        </p:spPr>
        <p:txBody>
          <a:bodyPr/>
          <a:lstStyle/>
          <a:p>
            <a:endParaRPr lang="en-IN" sz="3600"/>
          </a:p>
        </p:txBody>
      </p:sp>
      <p:sp>
        <p:nvSpPr>
          <p:cNvPr id="4" name="Text 35">
            <a:extLst>
              <a:ext uri="{FF2B5EF4-FFF2-40B4-BE49-F238E27FC236}">
                <a16:creationId xmlns:a16="http://schemas.microsoft.com/office/drawing/2014/main" id="{32C395D0-CFD7-E2DA-4184-B653A989824F}"/>
              </a:ext>
            </a:extLst>
          </p:cNvPr>
          <p:cNvSpPr/>
          <p:nvPr/>
        </p:nvSpPr>
        <p:spPr>
          <a:xfrm>
            <a:off x="292608" y="6473952"/>
            <a:ext cx="3246120" cy="137160"/>
          </a:xfrm>
          <a:prstGeom prst="rect">
            <a:avLst/>
          </a:prstGeom>
          <a:noFill/>
          <a:ln/>
        </p:spPr>
        <p:txBody>
          <a:bodyPr wrap="square" lIns="508" tIns="508" rIns="508" bIns="508" rtlCol="0" anchor="ctr">
            <a:normAutofit/>
          </a:bodyPr>
          <a:lstStyle/>
          <a:p>
            <a:pPr marL="0" indent="0" algn="l">
              <a:buNone/>
            </a:pPr>
            <a:r>
              <a:rPr lang="en-US" sz="700">
                <a:solidFill>
                  <a:srgbClr val="6A7785"/>
                </a:solidFill>
                <a:latin typeface="Aptos" pitchFamily="34" charset="0"/>
                <a:ea typeface="Aptos" pitchFamily="34" charset="-122"/>
                <a:cs typeface="Aptos" pitchFamily="34" charset="-120"/>
              </a:rPr>
              <a:t>InsightForge-AI | AI Operations Intelligence Agent</a:t>
            </a:r>
            <a:endParaRPr lang="en-US" sz="700"/>
          </a:p>
        </p:txBody>
      </p:sp>
      <p:sp>
        <p:nvSpPr>
          <p:cNvPr id="6" name="Text 36">
            <a:extLst>
              <a:ext uri="{FF2B5EF4-FFF2-40B4-BE49-F238E27FC236}">
                <a16:creationId xmlns:a16="http://schemas.microsoft.com/office/drawing/2014/main" id="{97B416F2-14EE-3C90-15B8-6092132C1A30}"/>
              </a:ext>
            </a:extLst>
          </p:cNvPr>
          <p:cNvSpPr/>
          <p:nvPr/>
        </p:nvSpPr>
        <p:spPr>
          <a:xfrm>
            <a:off x="11411712" y="6473952"/>
            <a:ext cx="411480" cy="137160"/>
          </a:xfrm>
          <a:prstGeom prst="rect">
            <a:avLst/>
          </a:prstGeom>
          <a:noFill/>
          <a:ln/>
        </p:spPr>
        <p:txBody>
          <a:bodyPr wrap="square" lIns="508" tIns="508" rIns="508" bIns="508" rtlCol="0" anchor="ctr">
            <a:normAutofit/>
          </a:bodyPr>
          <a:lstStyle/>
          <a:p>
            <a:pPr marL="0" indent="0" algn="l">
              <a:buNone/>
            </a:pPr>
            <a:r>
              <a:rPr lang="en-US" sz="700" b="1">
                <a:solidFill>
                  <a:srgbClr val="FB4D0A"/>
                </a:solidFill>
                <a:latin typeface="Aptos" pitchFamily="34" charset="0"/>
                <a:ea typeface="Aptos" pitchFamily="34" charset="-122"/>
                <a:cs typeface="Aptos" pitchFamily="34" charset="-120"/>
              </a:rPr>
              <a:t>EXL</a:t>
            </a:r>
            <a:endParaRPr lang="en-US" sz="7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3" name="Text 1"/>
          <p:cNvSpPr/>
          <p:nvPr/>
        </p:nvSpPr>
        <p:spPr>
          <a:xfrm>
            <a:off x="749808" y="118872"/>
            <a:ext cx="6035040" cy="274320"/>
          </a:xfrm>
          <a:prstGeom prst="rect">
            <a:avLst/>
          </a:prstGeom>
          <a:noFill/>
          <a:ln/>
        </p:spPr>
        <p:txBody>
          <a:bodyPr wrap="square" lIns="254" tIns="254" rIns="254" bIns="254" rtlCol="0" anchor="ctr">
            <a:noAutofit/>
          </a:bodyPr>
          <a:lstStyle/>
          <a:p>
            <a:pPr marL="0" indent="0">
              <a:buNone/>
            </a:pPr>
            <a:r>
              <a:rPr lang="en-US" sz="2400" b="1">
                <a:solidFill>
                  <a:srgbClr val="005071"/>
                </a:solidFill>
                <a:latin typeface="Aptos Display" pitchFamily="34" charset="0"/>
                <a:ea typeface="Aptos Display" pitchFamily="34" charset="-122"/>
                <a:cs typeface="Aptos Display" pitchFamily="34" charset="-120"/>
              </a:rPr>
              <a:t>Scale Across the Operations Value Chain</a:t>
            </a:r>
            <a:endParaRPr lang="en-US" sz="2400"/>
          </a:p>
        </p:txBody>
      </p:sp>
      <p:sp>
        <p:nvSpPr>
          <p:cNvPr id="5" name="Shape 3"/>
          <p:cNvSpPr/>
          <p:nvPr/>
        </p:nvSpPr>
        <p:spPr>
          <a:xfrm>
            <a:off x="219456" y="731520"/>
            <a:ext cx="11777472" cy="1"/>
          </a:xfrm>
          <a:prstGeom prst="line">
            <a:avLst/>
          </a:prstGeom>
          <a:noFill/>
          <a:ln w="10160">
            <a:solidFill>
              <a:srgbClr val="D8E1EA"/>
            </a:solidFill>
            <a:prstDash val="solid"/>
          </a:ln>
        </p:spPr>
        <p:txBody>
          <a:bodyPr/>
          <a:lstStyle/>
          <a:p>
            <a:endParaRPr lang="en-IN" sz="2800"/>
          </a:p>
        </p:txBody>
      </p:sp>
      <p:sp>
        <p:nvSpPr>
          <p:cNvPr id="6" name="Shape 4"/>
          <p:cNvSpPr/>
          <p:nvPr/>
        </p:nvSpPr>
        <p:spPr>
          <a:xfrm>
            <a:off x="320040" y="960120"/>
            <a:ext cx="11475720" cy="658368"/>
          </a:xfrm>
          <a:prstGeom prst="roundRect">
            <a:avLst>
              <a:gd name="adj" fmla="val 11111"/>
            </a:avLst>
          </a:prstGeom>
          <a:solidFill>
            <a:srgbClr val="FFF2EA"/>
          </a:solidFill>
          <a:ln w="8890">
            <a:solidFill>
              <a:srgbClr val="D8E1EA"/>
            </a:solidFill>
            <a:prstDash val="solid"/>
          </a:ln>
          <a:effectLst>
            <a:outerShdw blurRad="12700" dist="7620" dir="2700000" algn="bl" rotWithShape="0">
              <a:srgbClr val="000000">
                <a:alpha val="12000"/>
              </a:srgbClr>
            </a:outerShdw>
          </a:effectLst>
        </p:spPr>
        <p:txBody>
          <a:bodyPr/>
          <a:lstStyle/>
          <a:p>
            <a:endParaRPr lang="en-IN" sz="4000"/>
          </a:p>
        </p:txBody>
      </p:sp>
      <p:sp>
        <p:nvSpPr>
          <p:cNvPr id="7" name="Text 5"/>
          <p:cNvSpPr/>
          <p:nvPr/>
        </p:nvSpPr>
        <p:spPr>
          <a:xfrm>
            <a:off x="566928" y="1143000"/>
            <a:ext cx="8787384" cy="347472"/>
          </a:xfrm>
          <a:prstGeom prst="rect">
            <a:avLst/>
          </a:prstGeom>
          <a:noFill/>
          <a:ln/>
        </p:spPr>
        <p:txBody>
          <a:bodyPr wrap="square" lIns="254" tIns="254" rIns="254" bIns="254" rtlCol="0" anchor="ctr">
            <a:noAutofit/>
          </a:bodyPr>
          <a:lstStyle/>
          <a:p>
            <a:pPr marL="0" indent="0">
              <a:buNone/>
            </a:pPr>
            <a:r>
              <a:rPr lang="en-US" sz="2000" b="1">
                <a:solidFill>
                  <a:srgbClr val="00263E"/>
                </a:solidFill>
                <a:latin typeface="Aptos Display" pitchFamily="34" charset="0"/>
                <a:ea typeface="Aptos Display" pitchFamily="34" charset="-122"/>
                <a:cs typeface="Aptos Display" pitchFamily="34" charset="-120"/>
              </a:rPr>
              <a:t>Start with Complaint Rate. Expand the same agentic investigation pattern across operational KPIs without building a separate model for every KPI.</a:t>
            </a:r>
            <a:endParaRPr lang="en-US" sz="2000"/>
          </a:p>
        </p:txBody>
      </p:sp>
      <p:sp>
        <p:nvSpPr>
          <p:cNvPr id="8" name="Shape 6"/>
          <p:cNvSpPr/>
          <p:nvPr/>
        </p:nvSpPr>
        <p:spPr>
          <a:xfrm>
            <a:off x="502920" y="1874520"/>
            <a:ext cx="1828800" cy="1325880"/>
          </a:xfrm>
          <a:prstGeom prst="roundRect">
            <a:avLst>
              <a:gd name="adj" fmla="val 5517"/>
            </a:avLst>
          </a:prstGeom>
          <a:solidFill>
            <a:srgbClr val="FFF2EA"/>
          </a:solidFill>
          <a:ln w="8890">
            <a:solidFill>
              <a:srgbClr val="D8E1EA"/>
            </a:solidFill>
            <a:prstDash val="solid"/>
          </a:ln>
          <a:effectLst>
            <a:outerShdw blurRad="12700" dist="7620" dir="2700000" algn="bl" rotWithShape="0">
              <a:srgbClr val="000000">
                <a:alpha val="12000"/>
              </a:srgbClr>
            </a:outerShdw>
          </a:effectLst>
        </p:spPr>
        <p:txBody>
          <a:bodyPr/>
          <a:lstStyle/>
          <a:p>
            <a:endParaRPr lang="en-IN" sz="4000"/>
          </a:p>
        </p:txBody>
      </p:sp>
      <p:sp>
        <p:nvSpPr>
          <p:cNvPr id="9" name="Shape 7"/>
          <p:cNvSpPr/>
          <p:nvPr/>
        </p:nvSpPr>
        <p:spPr>
          <a:xfrm>
            <a:off x="795528" y="2057400"/>
            <a:ext cx="1097280" cy="274320"/>
          </a:xfrm>
          <a:prstGeom prst="roundRect">
            <a:avLst>
              <a:gd name="adj" fmla="val 26667"/>
            </a:avLst>
          </a:prstGeom>
          <a:solidFill>
            <a:srgbClr val="FB4D0A"/>
          </a:solidFill>
          <a:ln w="12700">
            <a:solidFill>
              <a:srgbClr val="FB4D0A"/>
            </a:solidFill>
            <a:prstDash val="solid"/>
          </a:ln>
        </p:spPr>
        <p:txBody>
          <a:bodyPr/>
          <a:lstStyle/>
          <a:p>
            <a:endParaRPr lang="en-IN" sz="4000"/>
          </a:p>
        </p:txBody>
      </p:sp>
      <p:sp>
        <p:nvSpPr>
          <p:cNvPr id="10" name="Text 8"/>
          <p:cNvSpPr/>
          <p:nvPr/>
        </p:nvSpPr>
        <p:spPr>
          <a:xfrm>
            <a:off x="841248" y="2121408"/>
            <a:ext cx="1005840" cy="109728"/>
          </a:xfrm>
          <a:prstGeom prst="rect">
            <a:avLst/>
          </a:prstGeom>
          <a:noFill/>
          <a:ln/>
        </p:spPr>
        <p:txBody>
          <a:bodyPr wrap="square" lIns="508" tIns="508" rIns="508" bIns="508" rtlCol="0" anchor="ctr">
            <a:noAutofit/>
          </a:bodyPr>
          <a:lstStyle/>
          <a:p>
            <a:pPr marL="0" indent="0" algn="ctr">
              <a:buNone/>
            </a:pPr>
            <a:r>
              <a:rPr lang="en-US" sz="1100" b="1">
                <a:solidFill>
                  <a:srgbClr val="FFFFFF"/>
                </a:solidFill>
                <a:latin typeface="Aptos" pitchFamily="34" charset="0"/>
                <a:ea typeface="Aptos" pitchFamily="34" charset="-122"/>
                <a:cs typeface="Aptos" pitchFamily="34" charset="-120"/>
              </a:rPr>
              <a:t>Phase 1</a:t>
            </a:r>
            <a:endParaRPr lang="en-US" sz="1100"/>
          </a:p>
        </p:txBody>
      </p:sp>
      <p:sp>
        <p:nvSpPr>
          <p:cNvPr id="11" name="Text 9"/>
          <p:cNvSpPr/>
          <p:nvPr/>
        </p:nvSpPr>
        <p:spPr>
          <a:xfrm>
            <a:off x="685800" y="2487168"/>
            <a:ext cx="1463040" cy="137160"/>
          </a:xfrm>
          <a:prstGeom prst="rect">
            <a:avLst/>
          </a:prstGeom>
          <a:noFill/>
          <a:ln/>
        </p:spPr>
        <p:txBody>
          <a:bodyPr wrap="square" lIns="508" tIns="508" rIns="508" bIns="508" rtlCol="0" anchor="ctr">
            <a:noAutofit/>
          </a:bodyPr>
          <a:lstStyle/>
          <a:p>
            <a:pPr marL="0" indent="0" algn="ctr">
              <a:buNone/>
            </a:pPr>
            <a:r>
              <a:rPr lang="en-US" sz="1200" b="1">
                <a:solidFill>
                  <a:srgbClr val="00263E"/>
                </a:solidFill>
                <a:latin typeface="Aptos" pitchFamily="34" charset="0"/>
                <a:ea typeface="Aptos" pitchFamily="34" charset="-122"/>
                <a:cs typeface="Aptos" pitchFamily="34" charset="-120"/>
              </a:rPr>
              <a:t>Complaint Management</a:t>
            </a:r>
            <a:endParaRPr lang="en-US" sz="1200"/>
          </a:p>
        </p:txBody>
      </p:sp>
      <p:sp>
        <p:nvSpPr>
          <p:cNvPr id="12" name="Text 10"/>
          <p:cNvSpPr/>
          <p:nvPr/>
        </p:nvSpPr>
        <p:spPr>
          <a:xfrm>
            <a:off x="667512" y="2798063"/>
            <a:ext cx="1664208" cy="329183"/>
          </a:xfrm>
          <a:prstGeom prst="rect">
            <a:avLst/>
          </a:prstGeom>
          <a:noFill/>
          <a:ln/>
        </p:spPr>
        <p:txBody>
          <a:bodyPr wrap="square" lIns="508" tIns="508" rIns="508" bIns="508" rtlCol="0" anchor="ctr">
            <a:noAutofit/>
          </a:bodyPr>
          <a:lstStyle/>
          <a:p>
            <a:pPr marL="0" indent="0" algn="ctr">
              <a:buNone/>
            </a:pPr>
            <a:r>
              <a:rPr lang="en-US" sz="1100">
                <a:solidFill>
                  <a:srgbClr val="3B4652"/>
                </a:solidFill>
                <a:latin typeface="Aptos" pitchFamily="34" charset="0"/>
                <a:ea typeface="Aptos" pitchFamily="34" charset="-122"/>
                <a:cs typeface="Aptos" pitchFamily="34" charset="-120"/>
              </a:rPr>
              <a:t>Complaint Rate, repeat contacts, issue resolution</a:t>
            </a:r>
            <a:endParaRPr lang="en-US" sz="1100"/>
          </a:p>
        </p:txBody>
      </p:sp>
      <p:sp>
        <p:nvSpPr>
          <p:cNvPr id="13" name="Shape 11"/>
          <p:cNvSpPr/>
          <p:nvPr/>
        </p:nvSpPr>
        <p:spPr>
          <a:xfrm>
            <a:off x="2331720" y="2542032"/>
            <a:ext cx="292608" cy="1"/>
          </a:xfrm>
          <a:prstGeom prst="line">
            <a:avLst/>
          </a:prstGeom>
          <a:noFill/>
          <a:ln w="13970">
            <a:solidFill>
              <a:srgbClr val="FB4D0A"/>
            </a:solidFill>
            <a:prstDash val="solid"/>
            <a:tailEnd type="triangle"/>
          </a:ln>
        </p:spPr>
        <p:txBody>
          <a:bodyPr/>
          <a:lstStyle/>
          <a:p>
            <a:endParaRPr lang="en-IN" sz="4000"/>
          </a:p>
        </p:txBody>
      </p:sp>
      <p:sp>
        <p:nvSpPr>
          <p:cNvPr id="14" name="Shape 12"/>
          <p:cNvSpPr/>
          <p:nvPr/>
        </p:nvSpPr>
        <p:spPr>
          <a:xfrm>
            <a:off x="2715768" y="1874520"/>
            <a:ext cx="1828800" cy="1325880"/>
          </a:xfrm>
          <a:prstGeom prst="roundRect">
            <a:avLst>
              <a:gd name="adj" fmla="val 5517"/>
            </a:avLst>
          </a:prstGeom>
          <a:solidFill>
            <a:srgbClr val="FFFFFF"/>
          </a:solidFill>
          <a:ln w="8890">
            <a:solidFill>
              <a:srgbClr val="D8E1EA"/>
            </a:solidFill>
            <a:prstDash val="solid"/>
          </a:ln>
          <a:effectLst>
            <a:outerShdw blurRad="12700" dist="7620" dir="2700000" algn="bl" rotWithShape="0">
              <a:srgbClr val="000000">
                <a:alpha val="12000"/>
              </a:srgbClr>
            </a:outerShdw>
          </a:effectLst>
        </p:spPr>
        <p:txBody>
          <a:bodyPr/>
          <a:lstStyle/>
          <a:p>
            <a:endParaRPr lang="en-IN" sz="4000"/>
          </a:p>
        </p:txBody>
      </p:sp>
      <p:sp>
        <p:nvSpPr>
          <p:cNvPr id="15" name="Shape 13"/>
          <p:cNvSpPr/>
          <p:nvPr/>
        </p:nvSpPr>
        <p:spPr>
          <a:xfrm>
            <a:off x="3008376" y="2057400"/>
            <a:ext cx="1097280" cy="274320"/>
          </a:xfrm>
          <a:prstGeom prst="roundRect">
            <a:avLst>
              <a:gd name="adj" fmla="val 26667"/>
            </a:avLst>
          </a:prstGeom>
          <a:solidFill>
            <a:srgbClr val="00263E"/>
          </a:solidFill>
          <a:ln w="12700">
            <a:solidFill>
              <a:srgbClr val="00263E"/>
            </a:solidFill>
            <a:prstDash val="solid"/>
          </a:ln>
        </p:spPr>
        <p:txBody>
          <a:bodyPr/>
          <a:lstStyle/>
          <a:p>
            <a:endParaRPr lang="en-IN" sz="4000"/>
          </a:p>
        </p:txBody>
      </p:sp>
      <p:sp>
        <p:nvSpPr>
          <p:cNvPr id="16" name="Text 14"/>
          <p:cNvSpPr/>
          <p:nvPr/>
        </p:nvSpPr>
        <p:spPr>
          <a:xfrm>
            <a:off x="3054096" y="2121408"/>
            <a:ext cx="1005840" cy="109728"/>
          </a:xfrm>
          <a:prstGeom prst="rect">
            <a:avLst/>
          </a:prstGeom>
          <a:noFill/>
          <a:ln/>
        </p:spPr>
        <p:txBody>
          <a:bodyPr wrap="square" lIns="508" tIns="508" rIns="508" bIns="508" rtlCol="0" anchor="ctr">
            <a:noAutofit/>
          </a:bodyPr>
          <a:lstStyle/>
          <a:p>
            <a:pPr marL="0" indent="0" algn="ctr">
              <a:buNone/>
            </a:pPr>
            <a:r>
              <a:rPr lang="en-US" sz="1100" b="1">
                <a:solidFill>
                  <a:srgbClr val="FFFFFF"/>
                </a:solidFill>
                <a:latin typeface="Aptos" pitchFamily="34" charset="0"/>
                <a:ea typeface="Aptos" pitchFamily="34" charset="-122"/>
                <a:cs typeface="Aptos" pitchFamily="34" charset="-120"/>
              </a:rPr>
              <a:t>Phase 2</a:t>
            </a:r>
            <a:endParaRPr lang="en-US" sz="1100"/>
          </a:p>
        </p:txBody>
      </p:sp>
      <p:sp>
        <p:nvSpPr>
          <p:cNvPr id="17" name="Text 15"/>
          <p:cNvSpPr/>
          <p:nvPr/>
        </p:nvSpPr>
        <p:spPr>
          <a:xfrm>
            <a:off x="2898648" y="2487168"/>
            <a:ext cx="1463040" cy="137160"/>
          </a:xfrm>
          <a:prstGeom prst="rect">
            <a:avLst/>
          </a:prstGeom>
          <a:noFill/>
          <a:ln/>
        </p:spPr>
        <p:txBody>
          <a:bodyPr wrap="square" lIns="508" tIns="508" rIns="508" bIns="508" rtlCol="0" anchor="ctr">
            <a:noAutofit/>
          </a:bodyPr>
          <a:lstStyle/>
          <a:p>
            <a:pPr marL="0" indent="0" algn="ctr">
              <a:buNone/>
            </a:pPr>
            <a:r>
              <a:rPr lang="en-US" sz="1200" b="1">
                <a:solidFill>
                  <a:srgbClr val="00263E"/>
                </a:solidFill>
                <a:latin typeface="Aptos" pitchFamily="34" charset="0"/>
                <a:ea typeface="Aptos" pitchFamily="34" charset="-122"/>
                <a:cs typeface="Aptos" pitchFamily="34" charset="-120"/>
              </a:rPr>
              <a:t>Customer Experience</a:t>
            </a:r>
            <a:endParaRPr lang="en-US" sz="1200"/>
          </a:p>
        </p:txBody>
      </p:sp>
      <p:sp>
        <p:nvSpPr>
          <p:cNvPr id="18" name="Text 16"/>
          <p:cNvSpPr/>
          <p:nvPr/>
        </p:nvSpPr>
        <p:spPr>
          <a:xfrm>
            <a:off x="2880360" y="2798064"/>
            <a:ext cx="1481328" cy="256032"/>
          </a:xfrm>
          <a:prstGeom prst="rect">
            <a:avLst/>
          </a:prstGeom>
          <a:noFill/>
          <a:ln/>
        </p:spPr>
        <p:txBody>
          <a:bodyPr wrap="square" lIns="508" tIns="508" rIns="508" bIns="508" rtlCol="0" anchor="ctr">
            <a:noAutofit/>
          </a:bodyPr>
          <a:lstStyle/>
          <a:p>
            <a:pPr marL="0" indent="0" algn="ctr">
              <a:buNone/>
            </a:pPr>
            <a:r>
              <a:rPr lang="en-US" sz="1100">
                <a:solidFill>
                  <a:srgbClr val="3B4652"/>
                </a:solidFill>
                <a:latin typeface="Aptos" pitchFamily="34" charset="0"/>
                <a:ea typeface="Aptos" pitchFamily="34" charset="-122"/>
                <a:cs typeface="Aptos" pitchFamily="34" charset="-120"/>
              </a:rPr>
              <a:t>Complaint Rate and contact drivers</a:t>
            </a:r>
            <a:endParaRPr lang="en-US" sz="1100"/>
          </a:p>
        </p:txBody>
      </p:sp>
      <p:sp>
        <p:nvSpPr>
          <p:cNvPr id="19" name="Shape 17"/>
          <p:cNvSpPr/>
          <p:nvPr/>
        </p:nvSpPr>
        <p:spPr>
          <a:xfrm>
            <a:off x="4544568" y="2542032"/>
            <a:ext cx="292608" cy="1"/>
          </a:xfrm>
          <a:prstGeom prst="line">
            <a:avLst/>
          </a:prstGeom>
          <a:noFill/>
          <a:ln w="13970">
            <a:solidFill>
              <a:srgbClr val="FB4D0A"/>
            </a:solidFill>
            <a:prstDash val="solid"/>
            <a:tailEnd type="triangle"/>
          </a:ln>
        </p:spPr>
        <p:txBody>
          <a:bodyPr/>
          <a:lstStyle/>
          <a:p>
            <a:endParaRPr lang="en-IN" sz="4000"/>
          </a:p>
        </p:txBody>
      </p:sp>
      <p:sp>
        <p:nvSpPr>
          <p:cNvPr id="20" name="Shape 18"/>
          <p:cNvSpPr/>
          <p:nvPr/>
        </p:nvSpPr>
        <p:spPr>
          <a:xfrm>
            <a:off x="4928616" y="1874520"/>
            <a:ext cx="1828800" cy="1325880"/>
          </a:xfrm>
          <a:prstGeom prst="roundRect">
            <a:avLst>
              <a:gd name="adj" fmla="val 5517"/>
            </a:avLst>
          </a:prstGeom>
          <a:solidFill>
            <a:srgbClr val="FFFFFF"/>
          </a:solidFill>
          <a:ln w="8890">
            <a:solidFill>
              <a:srgbClr val="D8E1EA"/>
            </a:solidFill>
            <a:prstDash val="solid"/>
          </a:ln>
          <a:effectLst>
            <a:outerShdw blurRad="12700" dist="7620" dir="2700000" algn="bl" rotWithShape="0">
              <a:srgbClr val="000000">
                <a:alpha val="12000"/>
              </a:srgbClr>
            </a:outerShdw>
          </a:effectLst>
        </p:spPr>
        <p:txBody>
          <a:bodyPr/>
          <a:lstStyle/>
          <a:p>
            <a:endParaRPr lang="en-IN" sz="4000"/>
          </a:p>
        </p:txBody>
      </p:sp>
      <p:sp>
        <p:nvSpPr>
          <p:cNvPr id="21" name="Shape 19"/>
          <p:cNvSpPr/>
          <p:nvPr/>
        </p:nvSpPr>
        <p:spPr>
          <a:xfrm>
            <a:off x="5221224" y="2057400"/>
            <a:ext cx="1097280" cy="274320"/>
          </a:xfrm>
          <a:prstGeom prst="roundRect">
            <a:avLst>
              <a:gd name="adj" fmla="val 26667"/>
            </a:avLst>
          </a:prstGeom>
          <a:solidFill>
            <a:srgbClr val="00263E"/>
          </a:solidFill>
          <a:ln w="12700">
            <a:solidFill>
              <a:srgbClr val="00263E"/>
            </a:solidFill>
            <a:prstDash val="solid"/>
          </a:ln>
        </p:spPr>
        <p:txBody>
          <a:bodyPr/>
          <a:lstStyle/>
          <a:p>
            <a:endParaRPr lang="en-IN" sz="4000"/>
          </a:p>
        </p:txBody>
      </p:sp>
      <p:sp>
        <p:nvSpPr>
          <p:cNvPr id="22" name="Text 20"/>
          <p:cNvSpPr/>
          <p:nvPr/>
        </p:nvSpPr>
        <p:spPr>
          <a:xfrm>
            <a:off x="5266944" y="2121408"/>
            <a:ext cx="1005840" cy="109728"/>
          </a:xfrm>
          <a:prstGeom prst="rect">
            <a:avLst/>
          </a:prstGeom>
          <a:noFill/>
          <a:ln/>
        </p:spPr>
        <p:txBody>
          <a:bodyPr wrap="square" lIns="508" tIns="508" rIns="508" bIns="508" rtlCol="0" anchor="ctr">
            <a:noAutofit/>
          </a:bodyPr>
          <a:lstStyle/>
          <a:p>
            <a:pPr marL="0" indent="0" algn="ctr">
              <a:buNone/>
            </a:pPr>
            <a:r>
              <a:rPr lang="en-US" sz="1100" b="1">
                <a:solidFill>
                  <a:srgbClr val="FFFFFF"/>
                </a:solidFill>
                <a:latin typeface="Aptos" pitchFamily="34" charset="0"/>
                <a:ea typeface="Aptos" pitchFamily="34" charset="-122"/>
                <a:cs typeface="Aptos" pitchFamily="34" charset="-120"/>
              </a:rPr>
              <a:t>Phase 3</a:t>
            </a:r>
            <a:endParaRPr lang="en-US" sz="1100"/>
          </a:p>
        </p:txBody>
      </p:sp>
      <p:sp>
        <p:nvSpPr>
          <p:cNvPr id="23" name="Text 21"/>
          <p:cNvSpPr/>
          <p:nvPr/>
        </p:nvSpPr>
        <p:spPr>
          <a:xfrm>
            <a:off x="5111496" y="2487168"/>
            <a:ext cx="1463040" cy="137160"/>
          </a:xfrm>
          <a:prstGeom prst="rect">
            <a:avLst/>
          </a:prstGeom>
          <a:noFill/>
          <a:ln/>
        </p:spPr>
        <p:txBody>
          <a:bodyPr wrap="square" lIns="508" tIns="508" rIns="508" bIns="508" rtlCol="0" anchor="ctr">
            <a:noAutofit/>
          </a:bodyPr>
          <a:lstStyle/>
          <a:p>
            <a:pPr marL="0" indent="0" algn="ctr">
              <a:buNone/>
            </a:pPr>
            <a:r>
              <a:rPr lang="en-US" sz="1200" b="1">
                <a:solidFill>
                  <a:srgbClr val="00263E"/>
                </a:solidFill>
                <a:latin typeface="Aptos" pitchFamily="34" charset="0"/>
                <a:ea typeface="Aptos" pitchFamily="34" charset="-122"/>
                <a:cs typeface="Aptos" pitchFamily="34" charset="-120"/>
              </a:rPr>
              <a:t>Billing Performance</a:t>
            </a:r>
            <a:endParaRPr lang="en-US" sz="1200"/>
          </a:p>
        </p:txBody>
      </p:sp>
      <p:sp>
        <p:nvSpPr>
          <p:cNvPr id="24" name="Text 22"/>
          <p:cNvSpPr/>
          <p:nvPr/>
        </p:nvSpPr>
        <p:spPr>
          <a:xfrm>
            <a:off x="5093208" y="2798064"/>
            <a:ext cx="1481328" cy="256032"/>
          </a:xfrm>
          <a:prstGeom prst="rect">
            <a:avLst/>
          </a:prstGeom>
          <a:noFill/>
          <a:ln/>
        </p:spPr>
        <p:txBody>
          <a:bodyPr wrap="square" lIns="508" tIns="508" rIns="508" bIns="508" rtlCol="0" anchor="ctr">
            <a:noAutofit/>
          </a:bodyPr>
          <a:lstStyle/>
          <a:p>
            <a:pPr marL="0" indent="0" algn="ctr">
              <a:buNone/>
            </a:pPr>
            <a:r>
              <a:rPr lang="en-US" sz="1100">
                <a:solidFill>
                  <a:srgbClr val="3B4652"/>
                </a:solidFill>
                <a:latin typeface="Aptos" pitchFamily="34" charset="0"/>
                <a:ea typeface="Aptos" pitchFamily="34" charset="-122"/>
                <a:cs typeface="Aptos" pitchFamily="34" charset="-120"/>
              </a:rPr>
              <a:t>High bills, estimates, cycle issues</a:t>
            </a:r>
            <a:endParaRPr lang="en-US" sz="1100"/>
          </a:p>
        </p:txBody>
      </p:sp>
      <p:sp>
        <p:nvSpPr>
          <p:cNvPr id="25" name="Shape 23"/>
          <p:cNvSpPr/>
          <p:nvPr/>
        </p:nvSpPr>
        <p:spPr>
          <a:xfrm>
            <a:off x="6757416" y="2542032"/>
            <a:ext cx="292608" cy="1"/>
          </a:xfrm>
          <a:prstGeom prst="line">
            <a:avLst/>
          </a:prstGeom>
          <a:noFill/>
          <a:ln w="13970">
            <a:solidFill>
              <a:srgbClr val="FB4D0A"/>
            </a:solidFill>
            <a:prstDash val="solid"/>
            <a:tailEnd type="triangle"/>
          </a:ln>
        </p:spPr>
        <p:txBody>
          <a:bodyPr/>
          <a:lstStyle/>
          <a:p>
            <a:endParaRPr lang="en-IN" sz="4000"/>
          </a:p>
        </p:txBody>
      </p:sp>
      <p:sp>
        <p:nvSpPr>
          <p:cNvPr id="26" name="Shape 24"/>
          <p:cNvSpPr/>
          <p:nvPr/>
        </p:nvSpPr>
        <p:spPr>
          <a:xfrm>
            <a:off x="7141464" y="1874520"/>
            <a:ext cx="1828800" cy="1325880"/>
          </a:xfrm>
          <a:prstGeom prst="roundRect">
            <a:avLst>
              <a:gd name="adj" fmla="val 5517"/>
            </a:avLst>
          </a:prstGeom>
          <a:solidFill>
            <a:srgbClr val="FFFFFF"/>
          </a:solidFill>
          <a:ln w="8890">
            <a:solidFill>
              <a:srgbClr val="D8E1EA"/>
            </a:solidFill>
            <a:prstDash val="solid"/>
          </a:ln>
          <a:effectLst>
            <a:outerShdw blurRad="12700" dist="7620" dir="2700000" algn="bl" rotWithShape="0">
              <a:srgbClr val="000000">
                <a:alpha val="12000"/>
              </a:srgbClr>
            </a:outerShdw>
          </a:effectLst>
        </p:spPr>
        <p:txBody>
          <a:bodyPr/>
          <a:lstStyle/>
          <a:p>
            <a:endParaRPr lang="en-IN" sz="4000"/>
          </a:p>
        </p:txBody>
      </p:sp>
      <p:sp>
        <p:nvSpPr>
          <p:cNvPr id="27" name="Shape 25"/>
          <p:cNvSpPr/>
          <p:nvPr/>
        </p:nvSpPr>
        <p:spPr>
          <a:xfrm>
            <a:off x="7434072" y="2057400"/>
            <a:ext cx="1097280" cy="274320"/>
          </a:xfrm>
          <a:prstGeom prst="roundRect">
            <a:avLst>
              <a:gd name="adj" fmla="val 26667"/>
            </a:avLst>
          </a:prstGeom>
          <a:solidFill>
            <a:srgbClr val="00263E"/>
          </a:solidFill>
          <a:ln w="12700">
            <a:solidFill>
              <a:srgbClr val="00263E"/>
            </a:solidFill>
            <a:prstDash val="solid"/>
          </a:ln>
        </p:spPr>
        <p:txBody>
          <a:bodyPr/>
          <a:lstStyle/>
          <a:p>
            <a:endParaRPr lang="en-IN" sz="4000"/>
          </a:p>
        </p:txBody>
      </p:sp>
      <p:sp>
        <p:nvSpPr>
          <p:cNvPr id="28" name="Text 26"/>
          <p:cNvSpPr/>
          <p:nvPr/>
        </p:nvSpPr>
        <p:spPr>
          <a:xfrm>
            <a:off x="7479792" y="2121408"/>
            <a:ext cx="1005840" cy="109728"/>
          </a:xfrm>
          <a:prstGeom prst="rect">
            <a:avLst/>
          </a:prstGeom>
          <a:noFill/>
          <a:ln/>
        </p:spPr>
        <p:txBody>
          <a:bodyPr wrap="square" lIns="508" tIns="508" rIns="508" bIns="508" rtlCol="0" anchor="ctr">
            <a:noAutofit/>
          </a:bodyPr>
          <a:lstStyle/>
          <a:p>
            <a:pPr marL="0" indent="0" algn="ctr">
              <a:buNone/>
            </a:pPr>
            <a:r>
              <a:rPr lang="en-US" sz="1100" b="1">
                <a:solidFill>
                  <a:srgbClr val="FFFFFF"/>
                </a:solidFill>
                <a:latin typeface="Aptos" pitchFamily="34" charset="0"/>
                <a:ea typeface="Aptos" pitchFamily="34" charset="-122"/>
                <a:cs typeface="Aptos" pitchFamily="34" charset="-120"/>
              </a:rPr>
              <a:t>Phase 4</a:t>
            </a:r>
            <a:endParaRPr lang="en-US" sz="1100"/>
          </a:p>
        </p:txBody>
      </p:sp>
      <p:sp>
        <p:nvSpPr>
          <p:cNvPr id="29" name="Text 27"/>
          <p:cNvSpPr/>
          <p:nvPr/>
        </p:nvSpPr>
        <p:spPr>
          <a:xfrm>
            <a:off x="7324344" y="2487167"/>
            <a:ext cx="1554480" cy="164591"/>
          </a:xfrm>
          <a:prstGeom prst="rect">
            <a:avLst/>
          </a:prstGeom>
          <a:noFill/>
          <a:ln/>
        </p:spPr>
        <p:txBody>
          <a:bodyPr wrap="square" lIns="508" tIns="508" rIns="508" bIns="508" rtlCol="0" anchor="ctr">
            <a:noAutofit/>
          </a:bodyPr>
          <a:lstStyle/>
          <a:p>
            <a:pPr marL="0" indent="0" algn="ctr">
              <a:buNone/>
            </a:pPr>
            <a:r>
              <a:rPr lang="en-US" sz="1200" b="1">
                <a:solidFill>
                  <a:srgbClr val="00263E"/>
                </a:solidFill>
                <a:latin typeface="Aptos" pitchFamily="34" charset="0"/>
                <a:ea typeface="Aptos" pitchFamily="34" charset="-122"/>
                <a:cs typeface="Aptos" pitchFamily="34" charset="-120"/>
              </a:rPr>
              <a:t>Complaint Resolution Effectiveness</a:t>
            </a:r>
            <a:endParaRPr lang="en-US" sz="1200"/>
          </a:p>
        </p:txBody>
      </p:sp>
      <p:sp>
        <p:nvSpPr>
          <p:cNvPr id="30" name="Text 28"/>
          <p:cNvSpPr/>
          <p:nvPr/>
        </p:nvSpPr>
        <p:spPr>
          <a:xfrm>
            <a:off x="7306056" y="2798064"/>
            <a:ext cx="1481328" cy="256032"/>
          </a:xfrm>
          <a:prstGeom prst="rect">
            <a:avLst/>
          </a:prstGeom>
          <a:noFill/>
          <a:ln/>
        </p:spPr>
        <p:txBody>
          <a:bodyPr wrap="square" lIns="508" tIns="508" rIns="508" bIns="508" rtlCol="0" anchor="ctr">
            <a:noAutofit/>
          </a:bodyPr>
          <a:lstStyle/>
          <a:p>
            <a:pPr marL="0" indent="0" algn="ctr">
              <a:buNone/>
            </a:pPr>
            <a:r>
              <a:rPr lang="en-US" sz="1100">
                <a:solidFill>
                  <a:srgbClr val="3B4652"/>
                </a:solidFill>
                <a:latin typeface="Aptos" pitchFamily="34" charset="0"/>
                <a:ea typeface="Aptos" pitchFamily="34" charset="-122"/>
                <a:cs typeface="Aptos" pitchFamily="34" charset="-120"/>
              </a:rPr>
              <a:t>Resolution targeting and action prioritization</a:t>
            </a:r>
            <a:endParaRPr lang="en-US" sz="1100"/>
          </a:p>
        </p:txBody>
      </p:sp>
      <p:sp>
        <p:nvSpPr>
          <p:cNvPr id="31" name="Shape 29"/>
          <p:cNvSpPr/>
          <p:nvPr/>
        </p:nvSpPr>
        <p:spPr>
          <a:xfrm>
            <a:off x="8970264" y="2542032"/>
            <a:ext cx="292608" cy="1"/>
          </a:xfrm>
          <a:prstGeom prst="line">
            <a:avLst/>
          </a:prstGeom>
          <a:noFill/>
          <a:ln w="13970">
            <a:solidFill>
              <a:srgbClr val="FB4D0A"/>
            </a:solidFill>
            <a:prstDash val="solid"/>
            <a:tailEnd type="triangle"/>
          </a:ln>
        </p:spPr>
        <p:txBody>
          <a:bodyPr/>
          <a:lstStyle/>
          <a:p>
            <a:endParaRPr lang="en-IN" sz="4000"/>
          </a:p>
        </p:txBody>
      </p:sp>
      <p:sp>
        <p:nvSpPr>
          <p:cNvPr id="32" name="Shape 30"/>
          <p:cNvSpPr/>
          <p:nvPr/>
        </p:nvSpPr>
        <p:spPr>
          <a:xfrm>
            <a:off x="9354312" y="1874520"/>
            <a:ext cx="1828800" cy="1325880"/>
          </a:xfrm>
          <a:prstGeom prst="roundRect">
            <a:avLst>
              <a:gd name="adj" fmla="val 5517"/>
            </a:avLst>
          </a:prstGeom>
          <a:solidFill>
            <a:srgbClr val="FFFFFF"/>
          </a:solidFill>
          <a:ln w="8890">
            <a:solidFill>
              <a:srgbClr val="D8E1EA"/>
            </a:solidFill>
            <a:prstDash val="solid"/>
          </a:ln>
          <a:effectLst>
            <a:outerShdw blurRad="12700" dist="7620" dir="2700000" algn="bl" rotWithShape="0">
              <a:srgbClr val="000000">
                <a:alpha val="12000"/>
              </a:srgbClr>
            </a:outerShdw>
          </a:effectLst>
        </p:spPr>
        <p:txBody>
          <a:bodyPr/>
          <a:lstStyle/>
          <a:p>
            <a:endParaRPr lang="en-IN" sz="4000"/>
          </a:p>
        </p:txBody>
      </p:sp>
      <p:sp>
        <p:nvSpPr>
          <p:cNvPr id="33" name="Shape 31"/>
          <p:cNvSpPr/>
          <p:nvPr/>
        </p:nvSpPr>
        <p:spPr>
          <a:xfrm>
            <a:off x="9646920" y="2057400"/>
            <a:ext cx="1097280" cy="274320"/>
          </a:xfrm>
          <a:prstGeom prst="roundRect">
            <a:avLst>
              <a:gd name="adj" fmla="val 26667"/>
            </a:avLst>
          </a:prstGeom>
          <a:solidFill>
            <a:srgbClr val="00263E"/>
          </a:solidFill>
          <a:ln w="12700">
            <a:solidFill>
              <a:srgbClr val="00263E"/>
            </a:solidFill>
            <a:prstDash val="solid"/>
          </a:ln>
        </p:spPr>
        <p:txBody>
          <a:bodyPr/>
          <a:lstStyle/>
          <a:p>
            <a:endParaRPr lang="en-IN" sz="4000"/>
          </a:p>
        </p:txBody>
      </p:sp>
      <p:sp>
        <p:nvSpPr>
          <p:cNvPr id="34" name="Text 32"/>
          <p:cNvSpPr/>
          <p:nvPr/>
        </p:nvSpPr>
        <p:spPr>
          <a:xfrm>
            <a:off x="9692640" y="2121408"/>
            <a:ext cx="1005840" cy="109728"/>
          </a:xfrm>
          <a:prstGeom prst="rect">
            <a:avLst/>
          </a:prstGeom>
          <a:noFill/>
          <a:ln/>
        </p:spPr>
        <p:txBody>
          <a:bodyPr wrap="square" lIns="508" tIns="508" rIns="508" bIns="508" rtlCol="0" anchor="ctr">
            <a:noAutofit/>
          </a:bodyPr>
          <a:lstStyle/>
          <a:p>
            <a:pPr marL="0" indent="0" algn="ctr">
              <a:buNone/>
            </a:pPr>
            <a:r>
              <a:rPr lang="en-US" sz="1100" b="1">
                <a:solidFill>
                  <a:srgbClr val="FFFFFF"/>
                </a:solidFill>
                <a:latin typeface="Aptos" pitchFamily="34" charset="0"/>
                <a:ea typeface="Aptos" pitchFamily="34" charset="-122"/>
                <a:cs typeface="Aptos" pitchFamily="34" charset="-120"/>
              </a:rPr>
              <a:t>Phase 5</a:t>
            </a:r>
            <a:endParaRPr lang="en-US" sz="1100"/>
          </a:p>
        </p:txBody>
      </p:sp>
      <p:sp>
        <p:nvSpPr>
          <p:cNvPr id="35" name="Text 33"/>
          <p:cNvSpPr/>
          <p:nvPr/>
        </p:nvSpPr>
        <p:spPr>
          <a:xfrm>
            <a:off x="9537192" y="2487168"/>
            <a:ext cx="1463040" cy="137160"/>
          </a:xfrm>
          <a:prstGeom prst="rect">
            <a:avLst/>
          </a:prstGeom>
          <a:noFill/>
          <a:ln/>
        </p:spPr>
        <p:txBody>
          <a:bodyPr wrap="square" lIns="508" tIns="508" rIns="508" bIns="508" rtlCol="0" anchor="ctr">
            <a:noAutofit/>
          </a:bodyPr>
          <a:lstStyle/>
          <a:p>
            <a:pPr marL="0" indent="0" algn="ctr">
              <a:buNone/>
            </a:pPr>
            <a:r>
              <a:rPr lang="en-US" sz="1200" b="1">
                <a:solidFill>
                  <a:srgbClr val="00263E"/>
                </a:solidFill>
                <a:latin typeface="Aptos" pitchFamily="34" charset="0"/>
                <a:ea typeface="Aptos" pitchFamily="34" charset="-122"/>
                <a:cs typeface="Aptos" pitchFamily="34" charset="-120"/>
              </a:rPr>
              <a:t>Service Reliability</a:t>
            </a:r>
            <a:endParaRPr lang="en-US" sz="1200"/>
          </a:p>
        </p:txBody>
      </p:sp>
      <p:sp>
        <p:nvSpPr>
          <p:cNvPr id="36" name="Text 34"/>
          <p:cNvSpPr/>
          <p:nvPr/>
        </p:nvSpPr>
        <p:spPr>
          <a:xfrm>
            <a:off x="9518904" y="2798064"/>
            <a:ext cx="1481328" cy="256032"/>
          </a:xfrm>
          <a:prstGeom prst="rect">
            <a:avLst/>
          </a:prstGeom>
          <a:noFill/>
          <a:ln/>
        </p:spPr>
        <p:txBody>
          <a:bodyPr wrap="square" lIns="508" tIns="508" rIns="508" bIns="508" rtlCol="0" anchor="ctr">
            <a:noAutofit/>
          </a:bodyPr>
          <a:lstStyle/>
          <a:p>
            <a:pPr marL="0" indent="0" algn="ctr">
              <a:buNone/>
            </a:pPr>
            <a:r>
              <a:rPr lang="en-US" sz="1100">
                <a:solidFill>
                  <a:srgbClr val="3B4652"/>
                </a:solidFill>
                <a:latin typeface="Aptos" pitchFamily="34" charset="0"/>
                <a:ea typeface="Aptos" pitchFamily="34" charset="-122"/>
                <a:cs typeface="Aptos" pitchFamily="34" charset="-120"/>
              </a:rPr>
              <a:t>Service events and customer impact</a:t>
            </a:r>
            <a:endParaRPr lang="en-US" sz="1100"/>
          </a:p>
        </p:txBody>
      </p:sp>
      <p:sp>
        <p:nvSpPr>
          <p:cNvPr id="37" name="Shape 35"/>
          <p:cNvSpPr/>
          <p:nvPr/>
        </p:nvSpPr>
        <p:spPr>
          <a:xfrm>
            <a:off x="502920" y="3886200"/>
            <a:ext cx="5440680" cy="1298448"/>
          </a:xfrm>
          <a:prstGeom prst="roundRect">
            <a:avLst>
              <a:gd name="adj" fmla="val 5634"/>
            </a:avLst>
          </a:prstGeom>
          <a:solidFill>
            <a:srgbClr val="F4F7FA"/>
          </a:solidFill>
          <a:ln w="8890">
            <a:solidFill>
              <a:srgbClr val="D8E1EA"/>
            </a:solidFill>
            <a:prstDash val="solid"/>
          </a:ln>
          <a:effectLst>
            <a:outerShdw blurRad="12700" dist="7620" dir="2700000" algn="bl" rotWithShape="0">
              <a:srgbClr val="000000">
                <a:alpha val="12000"/>
              </a:srgbClr>
            </a:outerShdw>
          </a:effectLst>
        </p:spPr>
        <p:txBody>
          <a:bodyPr/>
          <a:lstStyle/>
          <a:p>
            <a:endParaRPr lang="en-IN" sz="4000"/>
          </a:p>
        </p:txBody>
      </p:sp>
      <p:sp>
        <p:nvSpPr>
          <p:cNvPr id="38" name="Text 36"/>
          <p:cNvSpPr/>
          <p:nvPr/>
        </p:nvSpPr>
        <p:spPr>
          <a:xfrm>
            <a:off x="713232" y="3886200"/>
            <a:ext cx="3931920" cy="256031"/>
          </a:xfrm>
          <a:prstGeom prst="rect">
            <a:avLst/>
          </a:prstGeom>
          <a:noFill/>
          <a:ln/>
        </p:spPr>
        <p:txBody>
          <a:bodyPr wrap="square" lIns="508" tIns="508" rIns="508" bIns="508" rtlCol="0" anchor="ctr">
            <a:noAutofit/>
          </a:bodyPr>
          <a:lstStyle/>
          <a:p>
            <a:pPr marL="0" indent="0" algn="l">
              <a:buNone/>
            </a:pPr>
            <a:r>
              <a:rPr lang="en-US" sz="1200" b="1">
                <a:solidFill>
                  <a:srgbClr val="FB4D0A"/>
                </a:solidFill>
                <a:latin typeface="Aptos" pitchFamily="34" charset="0"/>
                <a:ea typeface="Aptos" pitchFamily="34" charset="-122"/>
                <a:cs typeface="Aptos" pitchFamily="34" charset="-120"/>
              </a:rPr>
              <a:t>WHY THIS CREATES BUSINESS VALUE</a:t>
            </a:r>
            <a:endParaRPr lang="en-US" sz="1200"/>
          </a:p>
        </p:txBody>
      </p:sp>
      <p:sp>
        <p:nvSpPr>
          <p:cNvPr id="39" name="Text 37"/>
          <p:cNvSpPr/>
          <p:nvPr/>
        </p:nvSpPr>
        <p:spPr>
          <a:xfrm>
            <a:off x="713232" y="4389120"/>
            <a:ext cx="4892040" cy="411480"/>
          </a:xfrm>
          <a:prstGeom prst="rect">
            <a:avLst/>
          </a:prstGeom>
          <a:noFill/>
          <a:ln/>
        </p:spPr>
        <p:txBody>
          <a:bodyPr wrap="square" lIns="381" tIns="381" rIns="381" bIns="381" rtlCol="0" anchor="ctr">
            <a:noAutofit/>
          </a:bodyPr>
          <a:lstStyle/>
          <a:p>
            <a:pPr marL="0" indent="0">
              <a:buNone/>
            </a:pPr>
            <a:r>
              <a:rPr lang="en-US" sz="1100" b="1">
                <a:solidFill>
                  <a:srgbClr val="FB4D0A"/>
                </a:solidFill>
                <a:latin typeface="Aptos" pitchFamily="34" charset="0"/>
                <a:ea typeface="Aptos" pitchFamily="34" charset="-122"/>
                <a:cs typeface="Aptos" pitchFamily="34" charset="-120"/>
              </a:rPr>
              <a:t>• The same investigation pattern can support multiple operational KPIs.
• New KPI packs extend the tool and KPI configuration rather than requiring a new ML model.
• Value compounds as more teams use the same evidence-backed decision framework.</a:t>
            </a:r>
            <a:r>
              <a:rPr lang="en-US" sz="1100">
                <a:solidFill>
                  <a:srgbClr val="3B4652"/>
                </a:solidFill>
                <a:latin typeface="Aptos" pitchFamily="34" charset="0"/>
                <a:ea typeface="Aptos" pitchFamily="34" charset="-122"/>
                <a:cs typeface="Aptos" pitchFamily="34" charset="-120"/>
              </a:rPr>
              <a:t/>
            </a:r>
            <a:r>
              <a:rPr lang="en-US" sz="1100" b="1">
                <a:solidFill>
                  <a:srgbClr val="FB4D0A"/>
                </a:solidFill>
                <a:latin typeface="Aptos" pitchFamily="34" charset="0"/>
                <a:ea typeface="Aptos" pitchFamily="34" charset="-122"/>
                <a:cs typeface="Aptos" pitchFamily="34" charset="-120"/>
              </a:rPr>
              <a:t/>
            </a:r>
            <a:r>
              <a:rPr lang="en-US" sz="1100">
                <a:solidFill>
                  <a:srgbClr val="3B4652"/>
                </a:solidFill>
                <a:latin typeface="Aptos" pitchFamily="34" charset="0"/>
                <a:ea typeface="Aptos" pitchFamily="34" charset="-122"/>
                <a:cs typeface="Aptos" pitchFamily="34" charset="-120"/>
              </a:rPr>
              <a:t/>
            </a:r>
            <a:r>
              <a:rPr lang="en-US" sz="1100" b="1">
                <a:solidFill>
                  <a:srgbClr val="FB4D0A"/>
                </a:solidFill>
                <a:latin typeface="Aptos" pitchFamily="34" charset="0"/>
                <a:ea typeface="Aptos" pitchFamily="34" charset="-122"/>
                <a:cs typeface="Aptos" pitchFamily="34" charset="-120"/>
              </a:rPr>
              <a:t/>
            </a:r>
            <a:r>
              <a:rPr lang="en-US" sz="1100">
                <a:solidFill>
                  <a:srgbClr val="3B4652"/>
                </a:solidFill>
                <a:latin typeface="Aptos" pitchFamily="34" charset="0"/>
                <a:ea typeface="Aptos" pitchFamily="34" charset="-122"/>
                <a:cs typeface="Aptos" pitchFamily="34" charset="-120"/>
              </a:rPr>
              <a:t/>
            </a:r>
            <a:endParaRPr lang="en-US" sz="1100"/>
          </a:p>
        </p:txBody>
      </p:sp>
      <p:sp>
        <p:nvSpPr>
          <p:cNvPr id="40" name="Shape 38"/>
          <p:cNvSpPr/>
          <p:nvPr/>
        </p:nvSpPr>
        <p:spPr>
          <a:xfrm>
            <a:off x="6263640" y="3886200"/>
            <a:ext cx="5440680" cy="1298448"/>
          </a:xfrm>
          <a:prstGeom prst="roundRect">
            <a:avLst>
              <a:gd name="adj" fmla="val 5634"/>
            </a:avLst>
          </a:prstGeom>
          <a:solidFill>
            <a:srgbClr val="FFFFFF"/>
          </a:solidFill>
          <a:ln w="8890">
            <a:solidFill>
              <a:srgbClr val="D8E1EA"/>
            </a:solidFill>
            <a:prstDash val="solid"/>
          </a:ln>
          <a:effectLst>
            <a:outerShdw blurRad="12700" dist="7620" dir="2700000" algn="bl" rotWithShape="0">
              <a:srgbClr val="000000">
                <a:alpha val="12000"/>
              </a:srgbClr>
            </a:outerShdw>
          </a:effectLst>
        </p:spPr>
        <p:txBody>
          <a:bodyPr/>
          <a:lstStyle/>
          <a:p>
            <a:endParaRPr lang="en-IN" sz="4000"/>
          </a:p>
        </p:txBody>
      </p:sp>
      <p:sp>
        <p:nvSpPr>
          <p:cNvPr id="41" name="Text 39"/>
          <p:cNvSpPr/>
          <p:nvPr/>
        </p:nvSpPr>
        <p:spPr>
          <a:xfrm>
            <a:off x="6473952" y="4096512"/>
            <a:ext cx="1828800" cy="128016"/>
          </a:xfrm>
          <a:prstGeom prst="rect">
            <a:avLst/>
          </a:prstGeom>
          <a:noFill/>
          <a:ln/>
        </p:spPr>
        <p:txBody>
          <a:bodyPr wrap="square" lIns="508" tIns="508" rIns="508" bIns="508" rtlCol="0" anchor="ctr">
            <a:noAutofit/>
          </a:bodyPr>
          <a:lstStyle/>
          <a:p>
            <a:pPr marL="0" indent="0" algn="l">
              <a:buNone/>
            </a:pPr>
            <a:r>
              <a:rPr lang="en-US" sz="1200" b="1">
                <a:solidFill>
                  <a:srgbClr val="FB4D0A"/>
                </a:solidFill>
                <a:latin typeface="Aptos" pitchFamily="34" charset="0"/>
                <a:ea typeface="Aptos" pitchFamily="34" charset="-122"/>
                <a:cs typeface="Aptos" pitchFamily="34" charset="-120"/>
              </a:rPr>
              <a:t>VALUE &amp; SCALE NARRATIVE</a:t>
            </a:r>
            <a:endParaRPr lang="en-US" sz="1200"/>
          </a:p>
        </p:txBody>
      </p:sp>
      <p:sp>
        <p:nvSpPr>
          <p:cNvPr id="42" name="Text 40"/>
          <p:cNvSpPr/>
          <p:nvPr/>
        </p:nvSpPr>
        <p:spPr>
          <a:xfrm>
            <a:off x="6473952" y="4224528"/>
            <a:ext cx="4892040" cy="896112"/>
          </a:xfrm>
          <a:prstGeom prst="rect">
            <a:avLst/>
          </a:prstGeom>
          <a:noFill/>
          <a:ln/>
        </p:spPr>
        <p:txBody>
          <a:bodyPr wrap="square" lIns="381" tIns="381" rIns="381" bIns="381" rtlCol="0" anchor="ctr">
            <a:noAutofit/>
          </a:bodyPr>
          <a:lstStyle/>
          <a:p>
            <a:pPr marL="0" indent="0">
              <a:buNone/>
            </a:pPr>
            <a:r>
              <a:rPr lang="en-US" sz="1100" b="1">
                <a:solidFill>
                  <a:srgbClr val="FB4D0A"/>
                </a:solidFill>
                <a:latin typeface="Aptos" pitchFamily="34" charset="0"/>
                <a:ea typeface="Aptos" pitchFamily="34" charset="-122"/>
                <a:cs typeface="Aptos" pitchFamily="34" charset="-120"/>
              </a:rPr>
              <a:t>• </a:t>
            </a:r>
            <a:r>
              <a:rPr lang="en-US" sz="1100">
                <a:solidFill>
                  <a:srgbClr val="3B4652"/>
                </a:solidFill>
                <a:latin typeface="Aptos" pitchFamily="34" charset="0"/>
                <a:ea typeface="Aptos" pitchFamily="34" charset="-122"/>
                <a:cs typeface="Aptos" pitchFamily="34" charset="-120"/>
              </a:rPr>
              <a:t>Start small with one strong use case.
</a:t>
            </a:r>
            <a:r>
              <a:rPr lang="en-US" sz="1100" b="1">
                <a:solidFill>
                  <a:srgbClr val="FB4D0A"/>
                </a:solidFill>
                <a:latin typeface="Aptos" pitchFamily="34" charset="0"/>
                <a:ea typeface="Aptos" pitchFamily="34" charset="-122"/>
                <a:cs typeface="Aptos" pitchFamily="34" charset="-120"/>
              </a:rPr>
              <a:t>• </a:t>
            </a:r>
            <a:r>
              <a:rPr lang="en-US" sz="1100">
                <a:solidFill>
                  <a:srgbClr val="3B4652"/>
                </a:solidFill>
                <a:latin typeface="Aptos" pitchFamily="34" charset="0"/>
                <a:ea typeface="Aptos" pitchFamily="34" charset="-122"/>
                <a:cs typeface="Aptos" pitchFamily="34" charset="-120"/>
              </a:rPr>
              <a:t>Prove time saved and decision impact.
</a:t>
            </a:r>
            <a:r>
              <a:rPr lang="en-US" sz="1100" b="1">
                <a:solidFill>
                  <a:srgbClr val="FB4D0A"/>
                </a:solidFill>
                <a:latin typeface="Aptos" pitchFamily="34" charset="0"/>
                <a:ea typeface="Aptos" pitchFamily="34" charset="-122"/>
                <a:cs typeface="Aptos" pitchFamily="34" charset="-120"/>
              </a:rPr>
              <a:t>• </a:t>
            </a:r>
            <a:r>
              <a:rPr lang="en-US" sz="1100">
                <a:solidFill>
                  <a:srgbClr val="3B4652"/>
                </a:solidFill>
                <a:latin typeface="Aptos" pitchFamily="34" charset="0"/>
                <a:ea typeface="Aptos" pitchFamily="34" charset="-122"/>
                <a:cs typeface="Aptos" pitchFamily="34" charset="-120"/>
              </a:rPr>
              <a:t>Expand across domain-specific KPI packs.
</a:t>
            </a:r>
            <a:r>
              <a:rPr lang="en-US" sz="1100" b="1">
                <a:solidFill>
                  <a:srgbClr val="FB4D0A"/>
                </a:solidFill>
                <a:latin typeface="Aptos" pitchFamily="34" charset="0"/>
                <a:ea typeface="Aptos" pitchFamily="34" charset="-122"/>
                <a:cs typeface="Aptos" pitchFamily="34" charset="-120"/>
              </a:rPr>
              <a:t>• </a:t>
            </a:r>
            <a:r>
              <a:rPr lang="en-US" sz="1100">
                <a:solidFill>
                  <a:srgbClr val="3B4652"/>
                </a:solidFill>
                <a:latin typeface="Aptos" pitchFamily="34" charset="0"/>
                <a:ea typeface="Aptos" pitchFamily="34" charset="-122"/>
                <a:cs typeface="Aptos" pitchFamily="34" charset="-120"/>
              </a:rPr>
              <a:t>Position as an integrated operations intelligence layer inside existing dashboards/reports.</a:t>
            </a:r>
            <a:endParaRPr lang="en-US" sz="1100"/>
          </a:p>
        </p:txBody>
      </p:sp>
      <p:sp>
        <p:nvSpPr>
          <p:cNvPr id="43" name="Shape 41"/>
          <p:cNvSpPr/>
          <p:nvPr/>
        </p:nvSpPr>
        <p:spPr>
          <a:xfrm>
            <a:off x="713232" y="5431536"/>
            <a:ext cx="960120" cy="640080"/>
          </a:xfrm>
          <a:prstGeom prst="roundRect">
            <a:avLst>
              <a:gd name="adj" fmla="val 12698"/>
            </a:avLst>
          </a:prstGeom>
          <a:solidFill>
            <a:srgbClr val="EAF3FB"/>
          </a:solidFill>
          <a:ln w="8890">
            <a:solidFill>
              <a:srgbClr val="D8E1EA"/>
            </a:solidFill>
            <a:prstDash val="solid"/>
          </a:ln>
        </p:spPr>
        <p:txBody>
          <a:bodyPr/>
          <a:lstStyle/>
          <a:p>
            <a:endParaRPr lang="en-IN" sz="4000"/>
          </a:p>
        </p:txBody>
      </p:sp>
      <p:sp>
        <p:nvSpPr>
          <p:cNvPr id="44" name="Text 42"/>
          <p:cNvSpPr/>
          <p:nvPr/>
        </p:nvSpPr>
        <p:spPr>
          <a:xfrm>
            <a:off x="758952" y="5550408"/>
            <a:ext cx="868680" cy="109728"/>
          </a:xfrm>
          <a:prstGeom prst="rect">
            <a:avLst/>
          </a:prstGeom>
          <a:noFill/>
          <a:ln/>
        </p:spPr>
        <p:txBody>
          <a:bodyPr wrap="square" lIns="508" tIns="508" rIns="508" bIns="508" rtlCol="0" anchor="ctr">
            <a:noAutofit/>
          </a:bodyPr>
          <a:lstStyle/>
          <a:p>
            <a:pPr marL="0" indent="0" algn="ctr">
              <a:buNone/>
            </a:pPr>
            <a:r>
              <a:rPr lang="en-US" sz="1050" b="1">
                <a:solidFill>
                  <a:srgbClr val="3B4652"/>
                </a:solidFill>
                <a:latin typeface="Aptos" pitchFamily="34" charset="0"/>
                <a:ea typeface="Aptos" pitchFamily="34" charset="-122"/>
                <a:cs typeface="Aptos" pitchFamily="34" charset="-120"/>
              </a:rPr>
              <a:t>KPI packs</a:t>
            </a:r>
            <a:endParaRPr lang="en-US" sz="1050"/>
          </a:p>
        </p:txBody>
      </p:sp>
      <p:sp>
        <p:nvSpPr>
          <p:cNvPr id="45" name="Text 43"/>
          <p:cNvSpPr/>
          <p:nvPr/>
        </p:nvSpPr>
        <p:spPr>
          <a:xfrm>
            <a:off x="758952" y="5751576"/>
            <a:ext cx="868680" cy="164592"/>
          </a:xfrm>
          <a:prstGeom prst="rect">
            <a:avLst/>
          </a:prstGeom>
          <a:noFill/>
          <a:ln/>
        </p:spPr>
        <p:txBody>
          <a:bodyPr wrap="square" lIns="508" tIns="508" rIns="508" bIns="508" rtlCol="0" anchor="ctr">
            <a:noAutofit/>
          </a:bodyPr>
          <a:lstStyle/>
          <a:p>
            <a:pPr marL="0" indent="0" algn="ctr">
              <a:buNone/>
            </a:pPr>
            <a:r>
              <a:rPr lang="en-US" sz="1600" b="1">
                <a:solidFill>
                  <a:srgbClr val="00263E"/>
                </a:solidFill>
                <a:latin typeface="Aptos" pitchFamily="34" charset="0"/>
                <a:ea typeface="Aptos" pitchFamily="34" charset="-122"/>
                <a:cs typeface="Aptos" pitchFamily="34" charset="-120"/>
              </a:rPr>
              <a:t>1 -&gt; 5</a:t>
            </a:r>
            <a:endParaRPr lang="en-US" sz="1600"/>
          </a:p>
        </p:txBody>
      </p:sp>
      <p:sp>
        <p:nvSpPr>
          <p:cNvPr id="46" name="Shape 44"/>
          <p:cNvSpPr/>
          <p:nvPr/>
        </p:nvSpPr>
        <p:spPr>
          <a:xfrm>
            <a:off x="1874520" y="5431536"/>
            <a:ext cx="777240" cy="640080"/>
          </a:xfrm>
          <a:prstGeom prst="roundRect">
            <a:avLst>
              <a:gd name="adj" fmla="val 12698"/>
            </a:avLst>
          </a:prstGeom>
          <a:solidFill>
            <a:srgbClr val="EAF3FB"/>
          </a:solidFill>
          <a:ln w="8890">
            <a:solidFill>
              <a:srgbClr val="D8E1EA"/>
            </a:solidFill>
            <a:prstDash val="solid"/>
          </a:ln>
        </p:spPr>
        <p:txBody>
          <a:bodyPr/>
          <a:lstStyle/>
          <a:p>
            <a:endParaRPr lang="en-IN" sz="4000"/>
          </a:p>
        </p:txBody>
      </p:sp>
      <p:sp>
        <p:nvSpPr>
          <p:cNvPr id="47" name="Text 45"/>
          <p:cNvSpPr/>
          <p:nvPr/>
        </p:nvSpPr>
        <p:spPr>
          <a:xfrm>
            <a:off x="1874520" y="5550408"/>
            <a:ext cx="777240" cy="109728"/>
          </a:xfrm>
          <a:prstGeom prst="rect">
            <a:avLst/>
          </a:prstGeom>
          <a:noFill/>
          <a:ln/>
        </p:spPr>
        <p:txBody>
          <a:bodyPr wrap="square" lIns="508" tIns="508" rIns="508" bIns="508" rtlCol="0" anchor="ctr">
            <a:noAutofit/>
          </a:bodyPr>
          <a:lstStyle/>
          <a:p>
            <a:pPr marL="0" indent="0" algn="ctr">
              <a:buNone/>
            </a:pPr>
            <a:r>
              <a:rPr lang="en-US" sz="1050" b="1">
                <a:solidFill>
                  <a:srgbClr val="3B4652"/>
                </a:solidFill>
                <a:latin typeface="Aptos" pitchFamily="34" charset="0"/>
                <a:ea typeface="Aptos" pitchFamily="34" charset="-122"/>
                <a:cs typeface="Aptos" pitchFamily="34" charset="-120"/>
              </a:rPr>
              <a:t>Connected tables</a:t>
            </a:r>
            <a:endParaRPr lang="en-US" sz="1050"/>
          </a:p>
        </p:txBody>
      </p:sp>
      <p:sp>
        <p:nvSpPr>
          <p:cNvPr id="48" name="Text 46"/>
          <p:cNvSpPr/>
          <p:nvPr/>
        </p:nvSpPr>
        <p:spPr>
          <a:xfrm>
            <a:off x="1920240" y="5751576"/>
            <a:ext cx="685800" cy="164592"/>
          </a:xfrm>
          <a:prstGeom prst="rect">
            <a:avLst/>
          </a:prstGeom>
          <a:noFill/>
          <a:ln/>
        </p:spPr>
        <p:txBody>
          <a:bodyPr wrap="square" lIns="508" tIns="508" rIns="508" bIns="508" rtlCol="0" anchor="ctr">
            <a:noAutofit/>
          </a:bodyPr>
          <a:lstStyle/>
          <a:p>
            <a:pPr marL="0" indent="0" algn="ctr">
              <a:buNone/>
            </a:pPr>
            <a:r>
              <a:rPr lang="en-US" sz="1600" b="1">
                <a:solidFill>
                  <a:srgbClr val="00263E"/>
                </a:solidFill>
                <a:latin typeface="Aptos" pitchFamily="34" charset="0"/>
                <a:ea typeface="Aptos" pitchFamily="34" charset="-122"/>
                <a:cs typeface="Aptos" pitchFamily="34" charset="-120"/>
              </a:rPr>
              <a:t>9</a:t>
            </a:r>
            <a:endParaRPr lang="en-US" sz="1600"/>
          </a:p>
        </p:txBody>
      </p:sp>
      <p:sp>
        <p:nvSpPr>
          <p:cNvPr id="49" name="Shape 47"/>
          <p:cNvSpPr/>
          <p:nvPr/>
        </p:nvSpPr>
        <p:spPr>
          <a:xfrm>
            <a:off x="2852928" y="5431536"/>
            <a:ext cx="960120" cy="640080"/>
          </a:xfrm>
          <a:prstGeom prst="roundRect">
            <a:avLst>
              <a:gd name="adj" fmla="val 12698"/>
            </a:avLst>
          </a:prstGeom>
          <a:solidFill>
            <a:srgbClr val="EAF3FB"/>
          </a:solidFill>
          <a:ln w="8890">
            <a:solidFill>
              <a:srgbClr val="D8E1EA"/>
            </a:solidFill>
            <a:prstDash val="solid"/>
          </a:ln>
        </p:spPr>
        <p:txBody>
          <a:bodyPr/>
          <a:lstStyle/>
          <a:p>
            <a:endParaRPr lang="en-IN" sz="4000"/>
          </a:p>
        </p:txBody>
      </p:sp>
      <p:sp>
        <p:nvSpPr>
          <p:cNvPr id="50" name="Text 48"/>
          <p:cNvSpPr/>
          <p:nvPr/>
        </p:nvSpPr>
        <p:spPr>
          <a:xfrm>
            <a:off x="2898648" y="5550408"/>
            <a:ext cx="868680" cy="109728"/>
          </a:xfrm>
          <a:prstGeom prst="rect">
            <a:avLst/>
          </a:prstGeom>
          <a:noFill/>
          <a:ln/>
        </p:spPr>
        <p:txBody>
          <a:bodyPr wrap="square" lIns="508" tIns="508" rIns="508" bIns="508" rtlCol="0" anchor="ctr">
            <a:noAutofit/>
          </a:bodyPr>
          <a:lstStyle/>
          <a:p>
            <a:pPr marL="0" indent="0" algn="ctr">
              <a:buNone/>
            </a:pPr>
            <a:r>
              <a:rPr lang="en-US" sz="1050" b="1">
                <a:solidFill>
                  <a:srgbClr val="3B4652"/>
                </a:solidFill>
                <a:latin typeface="Aptos" pitchFamily="34" charset="0"/>
                <a:ea typeface="Aptos" pitchFamily="34" charset="-122"/>
                <a:cs typeface="Aptos" pitchFamily="34" charset="-120"/>
              </a:rPr>
              <a:t>History</a:t>
            </a:r>
            <a:endParaRPr lang="en-US" sz="1050"/>
          </a:p>
        </p:txBody>
      </p:sp>
      <p:sp>
        <p:nvSpPr>
          <p:cNvPr id="51" name="Text 49"/>
          <p:cNvSpPr/>
          <p:nvPr/>
        </p:nvSpPr>
        <p:spPr>
          <a:xfrm>
            <a:off x="2898648" y="5751576"/>
            <a:ext cx="868680" cy="164592"/>
          </a:xfrm>
          <a:prstGeom prst="rect">
            <a:avLst/>
          </a:prstGeom>
          <a:noFill/>
          <a:ln/>
        </p:spPr>
        <p:txBody>
          <a:bodyPr wrap="square" lIns="508" tIns="508" rIns="508" bIns="508" rtlCol="0" anchor="ctr">
            <a:noAutofit/>
          </a:bodyPr>
          <a:lstStyle/>
          <a:p>
            <a:pPr marL="0" indent="0" algn="ctr">
              <a:buNone/>
            </a:pPr>
            <a:r>
              <a:rPr lang="en-US" sz="1600" b="1">
                <a:solidFill>
                  <a:srgbClr val="00263E"/>
                </a:solidFill>
                <a:latin typeface="Aptos" pitchFamily="34" charset="0"/>
                <a:ea typeface="Aptos" pitchFamily="34" charset="-122"/>
                <a:cs typeface="Aptos" pitchFamily="34" charset="-120"/>
              </a:rPr>
              <a:t>24 months</a:t>
            </a:r>
            <a:endParaRPr lang="en-US" sz="1600"/>
          </a:p>
        </p:txBody>
      </p:sp>
      <p:sp>
        <p:nvSpPr>
          <p:cNvPr id="52" name="Shape 50"/>
          <p:cNvSpPr/>
          <p:nvPr/>
        </p:nvSpPr>
        <p:spPr>
          <a:xfrm>
            <a:off x="4023360" y="5431536"/>
            <a:ext cx="960120" cy="640080"/>
          </a:xfrm>
          <a:prstGeom prst="roundRect">
            <a:avLst>
              <a:gd name="adj" fmla="val 12698"/>
            </a:avLst>
          </a:prstGeom>
          <a:solidFill>
            <a:srgbClr val="EAF3FB"/>
          </a:solidFill>
          <a:ln w="8890">
            <a:solidFill>
              <a:srgbClr val="D8E1EA"/>
            </a:solidFill>
            <a:prstDash val="solid"/>
          </a:ln>
        </p:spPr>
        <p:txBody>
          <a:bodyPr/>
          <a:lstStyle/>
          <a:p>
            <a:endParaRPr lang="en-IN" sz="4000"/>
          </a:p>
        </p:txBody>
      </p:sp>
      <p:sp>
        <p:nvSpPr>
          <p:cNvPr id="53" name="Text 51"/>
          <p:cNvSpPr/>
          <p:nvPr/>
        </p:nvSpPr>
        <p:spPr>
          <a:xfrm>
            <a:off x="4069080" y="5550408"/>
            <a:ext cx="868680" cy="109728"/>
          </a:xfrm>
          <a:prstGeom prst="rect">
            <a:avLst/>
          </a:prstGeom>
          <a:noFill/>
          <a:ln/>
        </p:spPr>
        <p:txBody>
          <a:bodyPr wrap="square" lIns="508" tIns="508" rIns="508" bIns="508" rtlCol="0" anchor="ctr">
            <a:noAutofit/>
          </a:bodyPr>
          <a:lstStyle/>
          <a:p>
            <a:pPr marL="0" indent="0" algn="ctr">
              <a:buNone/>
            </a:pPr>
            <a:r>
              <a:rPr lang="en-US" sz="1050" b="1">
                <a:solidFill>
                  <a:srgbClr val="3B4652"/>
                </a:solidFill>
                <a:latin typeface="Aptos" pitchFamily="34" charset="0"/>
                <a:ea typeface="Aptos" pitchFamily="34" charset="-122"/>
                <a:cs typeface="Aptos" pitchFamily="34" charset="-120"/>
              </a:rPr>
              <a:t>Transactions</a:t>
            </a:r>
            <a:endParaRPr lang="en-US" sz="1050"/>
          </a:p>
        </p:txBody>
      </p:sp>
      <p:sp>
        <p:nvSpPr>
          <p:cNvPr id="54" name="Text 52"/>
          <p:cNvSpPr/>
          <p:nvPr/>
        </p:nvSpPr>
        <p:spPr>
          <a:xfrm>
            <a:off x="4069080" y="5751576"/>
            <a:ext cx="868680" cy="164592"/>
          </a:xfrm>
          <a:prstGeom prst="rect">
            <a:avLst/>
          </a:prstGeom>
          <a:noFill/>
          <a:ln/>
        </p:spPr>
        <p:txBody>
          <a:bodyPr wrap="square" lIns="508" tIns="508" rIns="508" bIns="508" rtlCol="0" anchor="ctr">
            <a:normAutofit fontScale="92500" lnSpcReduction="10000"/>
          </a:bodyPr>
          <a:lstStyle/>
          <a:p>
            <a:pPr marL="0" indent="0" algn="ctr">
              <a:buNone/>
            </a:pPr>
            <a:r>
              <a:rPr lang="en-US" sz="1200" b="1">
                <a:solidFill>
                  <a:srgbClr val="00263E"/>
                </a:solidFill>
                <a:latin typeface="Aptos" pitchFamily="34" charset="0"/>
                <a:ea typeface="Aptos" pitchFamily="34" charset="-122"/>
                <a:cs typeface="Aptos" pitchFamily="34" charset="-120"/>
              </a:rPr>
              <a:t>250K+</a:t>
            </a:r>
            <a:endParaRPr lang="en-US" sz="1200"/>
          </a:p>
        </p:txBody>
      </p:sp>
      <p:sp>
        <p:nvSpPr>
          <p:cNvPr id="4" name="Text 36">
            <a:extLst>
              <a:ext uri="{FF2B5EF4-FFF2-40B4-BE49-F238E27FC236}">
                <a16:creationId xmlns:a16="http://schemas.microsoft.com/office/drawing/2014/main" id="{4C90E722-186C-DC32-2C7D-D834DABFE293}"/>
              </a:ext>
            </a:extLst>
          </p:cNvPr>
          <p:cNvSpPr/>
          <p:nvPr/>
        </p:nvSpPr>
        <p:spPr>
          <a:xfrm>
            <a:off x="11411712" y="6473952"/>
            <a:ext cx="411480" cy="137160"/>
          </a:xfrm>
          <a:prstGeom prst="rect">
            <a:avLst/>
          </a:prstGeom>
          <a:noFill/>
          <a:ln/>
        </p:spPr>
        <p:txBody>
          <a:bodyPr wrap="square" lIns="508" tIns="508" rIns="508" bIns="508" rtlCol="0" anchor="ctr">
            <a:normAutofit/>
          </a:bodyPr>
          <a:lstStyle/>
          <a:p>
            <a:pPr marL="0" indent="0" algn="l">
              <a:buNone/>
            </a:pPr>
            <a:r>
              <a:rPr lang="en-US" sz="700" b="1">
                <a:solidFill>
                  <a:srgbClr val="FB4D0A"/>
                </a:solidFill>
                <a:latin typeface="Aptos" pitchFamily="34" charset="0"/>
                <a:ea typeface="Aptos" pitchFamily="34" charset="-122"/>
                <a:cs typeface="Aptos" pitchFamily="34" charset="-120"/>
              </a:rPr>
              <a:t>EXL</a:t>
            </a:r>
            <a:endParaRPr lang="en-US" sz="7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917F5-8FD3-4D64-DE59-58E3B7A9002C}"/>
            </a:ext>
          </a:extLst>
        </p:cNvPr>
        <p:cNvGrpSpPr/>
        <p:nvPr/>
      </p:nvGrpSpPr>
      <p:grpSpPr>
        <a:xfrm>
          <a:off x="0" y="0"/>
          <a:ext cx="1" cy="1"/>
          <a:chOff x="0" y="0"/>
          <a:chExt cx="1" cy="1"/>
        </a:xfrm>
      </p:grpSpPr>
      <p:sp>
        <p:nvSpPr>
          <p:cNvPr id="3" name="Text 1">
            <a:extLst>
              <a:ext uri="{FF2B5EF4-FFF2-40B4-BE49-F238E27FC236}">
                <a16:creationId xmlns:a16="http://schemas.microsoft.com/office/drawing/2014/main" id="{47DC5A13-0882-21BD-AECA-00D2101283D6}"/>
              </a:ext>
            </a:extLst>
          </p:cNvPr>
          <p:cNvSpPr/>
          <p:nvPr/>
        </p:nvSpPr>
        <p:spPr>
          <a:xfrm>
            <a:off x="768096" y="118872"/>
            <a:ext cx="8229854" cy="274320"/>
          </a:xfrm>
          <a:prstGeom prst="rect">
            <a:avLst/>
          </a:prstGeom>
          <a:noFill/>
          <a:ln/>
        </p:spPr>
        <p:txBody>
          <a:bodyPr wrap="square" lIns="254" tIns="254" rIns="254" bIns="254" rtlCol="0" anchor="ctr">
            <a:noAutofit/>
          </a:bodyPr>
          <a:lstStyle/>
          <a:p>
            <a:r>
              <a:rPr lang="en-US" sz="2400" b="1">
                <a:solidFill>
                  <a:srgbClr val="005071"/>
                </a:solidFill>
                <a:latin typeface="Aptos Display" pitchFamily="34" charset="0"/>
                <a:ea typeface="Aptos Display" pitchFamily="34" charset="-122"/>
                <a:cs typeface="Aptos Display" pitchFamily="34" charset="-120"/>
              </a:rPr>
              <a:t>Real-World Evidence: Cost of Delayed Complaint Resolution</a:t>
            </a:r>
            <a:endParaRPr lang="en-US" sz="2400"/>
          </a:p>
        </p:txBody>
      </p:sp>
      <p:sp>
        <p:nvSpPr>
          <p:cNvPr id="5" name="Shape 3">
            <a:extLst>
              <a:ext uri="{FF2B5EF4-FFF2-40B4-BE49-F238E27FC236}">
                <a16:creationId xmlns:a16="http://schemas.microsoft.com/office/drawing/2014/main" id="{6963367F-6270-CACB-AA05-1C5A3A212B35}"/>
              </a:ext>
            </a:extLst>
          </p:cNvPr>
          <p:cNvSpPr/>
          <p:nvPr/>
        </p:nvSpPr>
        <p:spPr>
          <a:xfrm>
            <a:off x="219456" y="731520"/>
            <a:ext cx="11777472" cy="1"/>
          </a:xfrm>
          <a:prstGeom prst="line">
            <a:avLst/>
          </a:prstGeom>
          <a:noFill/>
          <a:ln w="10160">
            <a:solidFill>
              <a:srgbClr val="D8E1EA"/>
            </a:solidFill>
            <a:prstDash val="solid"/>
          </a:ln>
        </p:spPr>
        <p:txBody>
          <a:bodyPr/>
          <a:lstStyle/>
          <a:p>
            <a:endParaRPr lang="en-IN" sz="2800"/>
          </a:p>
        </p:txBody>
      </p:sp>
      <p:sp>
        <p:nvSpPr>
          <p:cNvPr id="27" name="Shape 25">
            <a:extLst>
              <a:ext uri="{FF2B5EF4-FFF2-40B4-BE49-F238E27FC236}">
                <a16:creationId xmlns:a16="http://schemas.microsoft.com/office/drawing/2014/main" id="{60C1043C-B994-9D14-0943-B27011917893}"/>
              </a:ext>
            </a:extLst>
          </p:cNvPr>
          <p:cNvSpPr/>
          <p:nvPr/>
        </p:nvSpPr>
        <p:spPr>
          <a:xfrm>
            <a:off x="298704" y="5638804"/>
            <a:ext cx="11475720" cy="825006"/>
          </a:xfrm>
          <a:prstGeom prst="roundRect">
            <a:avLst>
              <a:gd name="adj" fmla="val 5926"/>
            </a:avLst>
          </a:prstGeom>
          <a:solidFill>
            <a:srgbClr val="00263E"/>
          </a:solidFill>
          <a:ln w="8890">
            <a:solidFill>
              <a:srgbClr val="D8E1EA"/>
            </a:solidFill>
            <a:prstDash val="solid"/>
          </a:ln>
          <a:effectLst>
            <a:outerShdw blurRad="12700" dist="7620" dir="2700000" algn="bl" rotWithShape="0">
              <a:srgbClr val="000000">
                <a:alpha val="12000"/>
              </a:srgbClr>
            </a:outerShdw>
          </a:effectLst>
        </p:spPr>
        <p:txBody>
          <a:bodyPr/>
          <a:lstStyle/>
          <a:p>
            <a:endParaRPr lang="en-IN" sz="2800"/>
          </a:p>
        </p:txBody>
      </p:sp>
      <p:sp>
        <p:nvSpPr>
          <p:cNvPr id="28" name="Text 26">
            <a:extLst>
              <a:ext uri="{FF2B5EF4-FFF2-40B4-BE49-F238E27FC236}">
                <a16:creationId xmlns:a16="http://schemas.microsoft.com/office/drawing/2014/main" id="{4155499F-54DA-4EC0-4C43-485747915AFA}"/>
              </a:ext>
            </a:extLst>
          </p:cNvPr>
          <p:cNvSpPr/>
          <p:nvPr/>
        </p:nvSpPr>
        <p:spPr>
          <a:xfrm>
            <a:off x="402209" y="5689600"/>
            <a:ext cx="11268710" cy="774209"/>
          </a:xfrm>
          <a:prstGeom prst="rect">
            <a:avLst/>
          </a:prstGeom>
          <a:noFill/>
          <a:ln/>
        </p:spPr>
        <p:txBody>
          <a:bodyPr wrap="square" lIns="508" tIns="508" rIns="508" bIns="508" rtlCol="0" anchor="ctr">
            <a:noAutofit/>
          </a:bodyPr>
          <a:lstStyle/>
          <a:p>
            <a:r>
              <a:rPr sz="1100" b="1">
                <a:solidFill>
                  <a:srgbClr val="FFFFFF"/>
                </a:solidFill>
                <a:latin typeface="Aptos"/>
              </a:rPr>
              <a:t>Why this matters?</a:t>
            </a:r>
            <a:endParaRPr lang="en-US" sz="2800"/>
          </a:p>
          <a:p>
            <a:r>
              <a:rPr sz="1100" b="0">
                <a:solidFill>
                  <a:srgbClr val="FFFFFF"/>
                </a:solidFill>
                <a:latin typeface="Aptos"/>
              </a:rPr>
              <a:t>These cases show the real customer, financial and operational consequences of delayed issue resolution.</a:t>
            </a:r>
          </a:p>
          <a:p>
            <a:r>
              <a:rPr sz="1100" b="0">
                <a:solidFill>
                  <a:srgbClr val="FFFFFF"/>
                </a:solidFill>
                <a:latin typeface="Aptos"/>
              </a:rPr>
              <a:t>InsightForge targets the earlier decision gap: moving from KPI deviation to evidence-backed root cause and action before impact escalates.</a:t>
            </a:r>
          </a:p>
        </p:txBody>
      </p:sp>
      <p:graphicFrame>
        <p:nvGraphicFramePr>
          <p:cNvPr id="50" name="TextBox 2">
            <a:extLst>
              <a:ext uri="{FF2B5EF4-FFF2-40B4-BE49-F238E27FC236}">
                <a16:creationId xmlns:a16="http://schemas.microsoft.com/office/drawing/2014/main" id="{B0BA0364-5C2A-8CCC-6314-2FC102D67F65}"/>
              </a:ext>
            </a:extLst>
          </p:cNvPr>
          <p:cNvGraphicFramePr/>
          <p:nvPr/>
        </p:nvGraphicFramePr>
        <p:xfrm>
          <a:off x="323850" y="740664"/>
          <a:ext cx="5181600" cy="45282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4" name="TextBox 2">
            <a:extLst>
              <a:ext uri="{FF2B5EF4-FFF2-40B4-BE49-F238E27FC236}">
                <a16:creationId xmlns:a16="http://schemas.microsoft.com/office/drawing/2014/main" id="{855BBB8F-78C2-9549-ECEE-B6871B7AC1B9}"/>
              </a:ext>
            </a:extLst>
          </p:cNvPr>
          <p:cNvGraphicFramePr/>
          <p:nvPr/>
        </p:nvGraphicFramePr>
        <p:xfrm>
          <a:off x="5969000" y="731520"/>
          <a:ext cx="5181600" cy="453739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4" name="Text 36">
            <a:extLst>
              <a:ext uri="{FF2B5EF4-FFF2-40B4-BE49-F238E27FC236}">
                <a16:creationId xmlns:a16="http://schemas.microsoft.com/office/drawing/2014/main" id="{80BFDFCC-1BEC-820E-4EF9-BDBAC58F5D05}"/>
              </a:ext>
            </a:extLst>
          </p:cNvPr>
          <p:cNvSpPr/>
          <p:nvPr/>
        </p:nvSpPr>
        <p:spPr>
          <a:xfrm>
            <a:off x="11411712" y="6473952"/>
            <a:ext cx="411480" cy="137160"/>
          </a:xfrm>
          <a:prstGeom prst="rect">
            <a:avLst/>
          </a:prstGeom>
          <a:noFill/>
          <a:ln/>
        </p:spPr>
        <p:txBody>
          <a:bodyPr wrap="square" lIns="508" tIns="508" rIns="508" bIns="508" rtlCol="0" anchor="ctr">
            <a:normAutofit/>
          </a:bodyPr>
          <a:lstStyle/>
          <a:p>
            <a:pPr marL="0" indent="0" algn="l">
              <a:buNone/>
            </a:pPr>
            <a:r>
              <a:rPr lang="en-US" sz="700" b="1">
                <a:solidFill>
                  <a:srgbClr val="FB4D0A"/>
                </a:solidFill>
                <a:latin typeface="Aptos" pitchFamily="34" charset="0"/>
                <a:ea typeface="Aptos" pitchFamily="34" charset="-122"/>
                <a:cs typeface="Aptos" pitchFamily="34" charset="-120"/>
              </a:rPr>
              <a:t>EXL</a:t>
            </a:r>
            <a:endParaRPr lang="en-US" sz="700"/>
          </a:p>
        </p:txBody>
      </p:sp>
    </p:spTree>
    <p:extLst>
      <p:ext uri="{BB962C8B-B14F-4D97-AF65-F5344CB8AC3E}">
        <p14:creationId xmlns:p14="http://schemas.microsoft.com/office/powerpoint/2010/main" val="41113060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8C7E2-26E4-E6D9-D125-02B1DBF68F8E}"/>
            </a:ext>
          </a:extLst>
        </p:cNvPr>
        <p:cNvGrpSpPr/>
        <p:nvPr/>
      </p:nvGrpSpPr>
      <p:grpSpPr>
        <a:xfrm>
          <a:off x="0" y="0"/>
          <a:ext cx="1" cy="1"/>
          <a:chOff x="0" y="0"/>
          <a:chExt cx="1" cy="1"/>
        </a:xfrm>
      </p:grpSpPr>
      <p:pic>
        <p:nvPicPr>
          <p:cNvPr id="2" name="Image 0" descr="/mnt/data/bad2969133.png">
            <a:extLst>
              <a:ext uri="{FF2B5EF4-FFF2-40B4-BE49-F238E27FC236}">
                <a16:creationId xmlns:a16="http://schemas.microsoft.com/office/drawing/2014/main" id="{AEC2EE71-B32E-3F32-002E-1195868EBC40}"/>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6FC35965-307B-920D-DE89-82A49C9D1A70}"/>
              </a:ext>
            </a:extLst>
          </p:cNvPr>
          <p:cNvSpPr/>
          <p:nvPr/>
        </p:nvSpPr>
        <p:spPr>
          <a:xfrm>
            <a:off x="0" y="128016"/>
            <a:ext cx="12191999" cy="6729984"/>
          </a:xfrm>
          <a:prstGeom prst="rect">
            <a:avLst/>
          </a:prstGeom>
          <a:solidFill>
            <a:srgbClr val="001A2B">
              <a:alpha val="87000"/>
            </a:srgbClr>
          </a:solidFill>
          <a:ln w="12700">
            <a:solidFill>
              <a:srgbClr val="001A2B">
                <a:alpha val="0"/>
              </a:srgbClr>
            </a:solidFill>
            <a:prstDash val="solid"/>
          </a:ln>
        </p:spPr>
        <p:txBody>
          <a:bodyPr lIns="91440" tIns="45720" rIns="91440" bIns="45720" anchor="t"/>
          <a:lstStyle/>
          <a:p>
            <a:endParaRPr lang="en-IN">
              <a:solidFill>
                <a:schemeClr val="bg1"/>
              </a:solidFill>
            </a:endParaRPr>
          </a:p>
        </p:txBody>
      </p:sp>
      <p:sp>
        <p:nvSpPr>
          <p:cNvPr id="4" name="Shape 1">
            <a:extLst>
              <a:ext uri="{FF2B5EF4-FFF2-40B4-BE49-F238E27FC236}">
                <a16:creationId xmlns:a16="http://schemas.microsoft.com/office/drawing/2014/main" id="{AD3C0F86-5257-27E4-A313-D1D43568D8EE}"/>
              </a:ext>
            </a:extLst>
          </p:cNvPr>
          <p:cNvSpPr/>
          <p:nvPr/>
        </p:nvSpPr>
        <p:spPr>
          <a:xfrm>
            <a:off x="0" y="0"/>
            <a:ext cx="12191695" cy="36000"/>
          </a:xfrm>
          <a:prstGeom prst="rect">
            <a:avLst/>
          </a:prstGeom>
          <a:solidFill>
            <a:srgbClr val="FB4D0A"/>
          </a:solidFill>
          <a:ln w="12700">
            <a:solidFill>
              <a:srgbClr val="FB4D0A"/>
            </a:solidFill>
            <a:prstDash val="solid"/>
          </a:ln>
        </p:spPr>
        <p:txBody>
          <a:bodyPr/>
          <a:lstStyle/>
          <a:p>
            <a:endParaRPr lang="en-IN"/>
          </a:p>
        </p:txBody>
      </p:sp>
      <p:sp>
        <p:nvSpPr>
          <p:cNvPr id="7" name="Shape 4">
            <a:extLst>
              <a:ext uri="{FF2B5EF4-FFF2-40B4-BE49-F238E27FC236}">
                <a16:creationId xmlns:a16="http://schemas.microsoft.com/office/drawing/2014/main" id="{78AC50BE-503A-8792-5855-044ABB28E61C}"/>
              </a:ext>
            </a:extLst>
          </p:cNvPr>
          <p:cNvSpPr/>
          <p:nvPr/>
        </p:nvSpPr>
        <p:spPr>
          <a:xfrm>
            <a:off x="502920" y="2011680"/>
            <a:ext cx="822960" cy="1"/>
          </a:xfrm>
          <a:prstGeom prst="line">
            <a:avLst/>
          </a:prstGeom>
          <a:noFill/>
          <a:ln w="27940">
            <a:solidFill>
              <a:srgbClr val="FB4D0A"/>
            </a:solidFill>
            <a:prstDash val="solid"/>
          </a:ln>
        </p:spPr>
        <p:txBody>
          <a:bodyPr/>
          <a:lstStyle/>
          <a:p>
            <a:endParaRPr lang="en-IN"/>
          </a:p>
        </p:txBody>
      </p:sp>
      <p:sp>
        <p:nvSpPr>
          <p:cNvPr id="29" name="TextBox 28">
            <a:extLst>
              <a:ext uri="{FF2B5EF4-FFF2-40B4-BE49-F238E27FC236}">
                <a16:creationId xmlns:a16="http://schemas.microsoft.com/office/drawing/2014/main" id="{7B596425-00C7-FFB4-1935-3017169BC9EA}"/>
              </a:ext>
            </a:extLst>
          </p:cNvPr>
          <p:cNvSpPr txBox="1"/>
          <p:nvPr/>
        </p:nvSpPr>
        <p:spPr>
          <a:xfrm>
            <a:off x="4369969" y="2660588"/>
            <a:ext cx="4612256"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a:solidFill>
                  <a:schemeClr val="accent2"/>
                </a:solidFill>
              </a:rPr>
              <a:t>InsightForge</a:t>
            </a:r>
          </a:p>
        </p:txBody>
      </p:sp>
      <p:sp>
        <p:nvSpPr>
          <p:cNvPr id="38" name="TextBox 37">
            <a:extLst>
              <a:ext uri="{FF2B5EF4-FFF2-40B4-BE49-F238E27FC236}">
                <a16:creationId xmlns:a16="http://schemas.microsoft.com/office/drawing/2014/main" id="{12F2E75E-905C-B03D-7794-E1024FE14892}"/>
              </a:ext>
            </a:extLst>
          </p:cNvPr>
          <p:cNvSpPr txBox="1"/>
          <p:nvPr/>
        </p:nvSpPr>
        <p:spPr>
          <a:xfrm>
            <a:off x="9981294" y="6126578"/>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solidFill>
                  <a:schemeClr val="accent2"/>
                </a:solidFill>
              </a:rPr>
              <a:t>From KPI deviation → root cause → action → conversation</a:t>
            </a:r>
            <a:r>
              <a:rPr lang="en-US">
                <a:solidFill>
                  <a:schemeClr val="accent2"/>
                </a:solidFill>
              </a:rPr>
              <a:t/>
            </a:r>
          </a:p>
        </p:txBody>
      </p:sp>
    </p:spTree>
    <p:extLst>
      <p:ext uri="{BB962C8B-B14F-4D97-AF65-F5344CB8AC3E}">
        <p14:creationId xmlns:p14="http://schemas.microsoft.com/office/powerpoint/2010/main" val="23823782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15</Slides>
  <Notes>15</Notes>
  <HiddenSlides>1</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EXL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Operations Intelligence Agent 2 - Updated</dc:title>
  <dc:subject>Dragon Den deck updated from reviewer feedback</dc:subject>
  <dc:creator>Rahul Gupta</dc:creator>
  <cp:revision>27</cp:revision>
  <dcterms:created xsi:type="dcterms:W3CDTF">2026-08-13T06:54:30Z</dcterms:created>
  <dcterms:modified xsi:type="dcterms:W3CDTF">2026-08-21T17:01:26Z</dcterms:modified>
</cp:coreProperties>
</file>