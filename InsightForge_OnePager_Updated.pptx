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BFE8-6D58-5590-A1E7-A2795581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7B1F9E-08E9-7B40-0BA7-4C99689B9AFB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A20902-D558-3616-7D89-C7810B01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sz="2800"/>
              <a:t>InsightForge — From KPI Deviation to Root Cause &amp; Action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68F24-1340-890B-283C-18D9094E11AA}"/>
              </a:ext>
            </a:extLst>
          </p:cNvPr>
          <p:cNvSpPr/>
          <p:nvPr/>
        </p:nvSpPr>
        <p:spPr>
          <a:xfrm>
            <a:off x="457200" y="1412241"/>
            <a:ext cx="205450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E90E587-E904-18F9-76DC-B7FEDB0143D7}"/>
              </a:ext>
            </a:extLst>
          </p:cNvPr>
          <p:cNvSpPr/>
          <p:nvPr/>
        </p:nvSpPr>
        <p:spPr>
          <a:xfrm>
            <a:off x="457200" y="1307465"/>
            <a:ext cx="2158678" cy="26416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0DAD7-71FF-D89E-C436-22B727959023}"/>
              </a:ext>
            </a:extLst>
          </p:cNvPr>
          <p:cNvSpPr/>
          <p:nvPr/>
        </p:nvSpPr>
        <p:spPr>
          <a:xfrm>
            <a:off x="5171441" y="1412240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FE74FDC-8658-AAF2-AF77-E20A1D6844FE}"/>
              </a:ext>
            </a:extLst>
          </p:cNvPr>
          <p:cNvSpPr/>
          <p:nvPr/>
        </p:nvSpPr>
        <p:spPr>
          <a:xfrm>
            <a:off x="5171441" y="1297305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D2455-202B-5BC9-D097-90CE3CD4E61D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FC4D114-2BF9-7924-89C0-1CC7A9C148CE}"/>
              </a:ext>
            </a:extLst>
          </p:cNvPr>
          <p:cNvSpPr/>
          <p:nvPr/>
        </p:nvSpPr>
        <p:spPr>
          <a:xfrm>
            <a:off x="45720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71A88-D920-B434-5E26-372F07F2B9BC}"/>
              </a:ext>
            </a:extLst>
          </p:cNvPr>
          <p:cNvSpPr/>
          <p:nvPr/>
        </p:nvSpPr>
        <p:spPr>
          <a:xfrm>
            <a:off x="618744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DC75C66-12C8-AFD3-EDE1-0F23F1D280D0}"/>
              </a:ext>
            </a:extLst>
          </p:cNvPr>
          <p:cNvSpPr/>
          <p:nvPr/>
        </p:nvSpPr>
        <p:spPr>
          <a:xfrm>
            <a:off x="618744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F0FD8-FB77-46DF-CFA2-83ED823E713E}"/>
              </a:ext>
            </a:extLst>
          </p:cNvPr>
          <p:cNvSpPr txBox="1"/>
          <p:nvPr/>
        </p:nvSpPr>
        <p:spPr>
          <a:xfrm>
            <a:off x="457200" y="1584960"/>
            <a:ext cx="2054506" cy="1938992"/>
          </a:xfrm>
          <a:prstGeom prst="rect">
            <a:avLst/>
          </a:prstGeom>
          <a:noFill/>
        </p:spPr>
        <p:txBody>
          <a:bodyPr wrap="square" rtlCol="0" lIns="54864" rIns="5486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00" b="1"/>
              <a:t>Utilities (Energy &amp; Customer Operations)</a:t>
            </a:r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200"/>
              </a:spcAft>
            </a:pPr>
            <a:r>
              <a:rPr sz="1200" b="0"/>
              <a:t>KPI deviations are visible, but root-cause identification is often delayed and manual.</a:t>
            </a:r>
          </a:p>
          <a:p>
            <a:pPr>
              <a:spcAft>
                <a:spcPts val="200"/>
              </a:spcAft>
            </a:pPr>
            <a:r>
              <a:rPr sz="1200" b="0"/>
              <a:t>Delayed insight can increase customer dissatisfaction, operational workload and financial exposure.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A7B6D-0398-0FE8-CDD1-599D469B52B2}"/>
              </a:ext>
            </a:extLst>
          </p:cNvPr>
          <p:cNvSpPr/>
          <p:nvPr/>
        </p:nvSpPr>
        <p:spPr>
          <a:xfrm>
            <a:off x="2814320" y="1412240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2A01FF-BF42-9E31-AAC9-F28CD4D6A924}"/>
              </a:ext>
            </a:extLst>
          </p:cNvPr>
          <p:cNvSpPr/>
          <p:nvPr/>
        </p:nvSpPr>
        <p:spPr>
          <a:xfrm>
            <a:off x="2814320" y="1307465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0F0C8-F93E-B121-BC3F-E8A586A3B1F6}"/>
              </a:ext>
            </a:extLst>
          </p:cNvPr>
          <p:cNvSpPr txBox="1"/>
          <p:nvPr/>
        </p:nvSpPr>
        <p:spPr>
          <a:xfrm>
            <a:off x="2824480" y="1624975"/>
            <a:ext cx="2221942" cy="1754326"/>
          </a:xfrm>
          <a:prstGeom prst="rect">
            <a:avLst/>
          </a:prstGeom>
          <a:noFill/>
        </p:spPr>
        <p:txBody>
          <a:bodyPr wrap="square" rtlCol="0" lIns="54864" rIns="54864" tIns="0" bIns="0">
            <a:spAutoFit/>
          </a:bodyPr>
          <a:lstStyle/>
          <a:p>
            <a:pPr marL="171450" lvl="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0"/>
              <a:t>Teams know </a:t>
            </a:r>
            <a:r>
              <a:rPr sz="1200" b="1"/>
              <a:t>what changed</a:t>
            </a:r>
            <a:r>
              <a:rPr sz="1200" b="0"/>
              <a:t>, but not </a:t>
            </a:r>
            <a:r>
              <a:rPr sz="1200" b="1"/>
              <a:t>why, who is impacted, or what action to take</a:t>
            </a:r>
            <a:r>
              <a:rPr sz="1200" b="0"/>
              <a:t>.</a:t>
            </a:r>
          </a:p>
          <a:p>
            <a:pPr>
              <a:spcAft>
                <a:spcPts val="200"/>
              </a:spcAft>
            </a:pPr>
            <a:r>
              <a:rPr sz="1200" b="0"/>
              <a:t>Manual RCA across multiple systems leads to slow, reactive and inconsistent decision-making.</a:t>
            </a:r>
          </a:p>
          <a:p>
            <a:pPr>
              <a:spcAft>
                <a:spcPts val="200"/>
              </a:spcAft>
            </a:pPr>
            <a:r>
              <a:rPr sz="1200" b="0"/>
              <a:t>Non-technical users often depend on analysts to investigate operational issues.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916F6-A4BF-2416-AF79-0554EA5D6206}"/>
              </a:ext>
            </a:extLst>
          </p:cNvPr>
          <p:cNvSpPr txBox="1"/>
          <p:nvPr/>
        </p:nvSpPr>
        <p:spPr>
          <a:xfrm>
            <a:off x="5182989" y="1624975"/>
            <a:ext cx="6654106" cy="1754326"/>
          </a:xfrm>
          <a:prstGeom prst="rect">
            <a:avLst/>
          </a:prstGeom>
          <a:noFill/>
        </p:spPr>
        <p:txBody>
          <a:bodyPr wrap="square" rtlCol="0" lIns="54864" rIns="5486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20" b="1"/>
              <a:t>The Solution: </a:t>
            </a:r>
          </a:p>
          <a:p>
            <a:pPr>
              <a:spcAft>
                <a:spcPts val="200"/>
              </a:spcAft>
            </a:pPr>
            <a:r>
              <a:rPr sz="1120" b="0"/>
              <a:t>AI layer that transforms KPI deviations into </a:t>
            </a:r>
            <a:r>
              <a:rPr sz="1120" b="1"/>
              <a:t>Root Cause, Impact &amp; Actions</a:t>
            </a:r>
            <a:r>
              <a:rPr sz="1120" b="0"/>
              <a:t>.</a:t>
            </a:r>
          </a:p>
          <a:p>
            <a:pPr>
              <a:spcAft>
                <a:spcPts val="200"/>
              </a:spcAft>
            </a:pPr>
            <a:r>
              <a:rPr sz="1120" b="0"/>
              <a:t>Integrates with existing dashboards and governed operational data — not a replacement.</a:t>
            </a:r>
          </a:p>
          <a:p>
            <a:pPr>
              <a:spcAft>
                <a:spcPts val="200"/>
              </a:spcAft>
            </a:pPr>
            <a:r>
              <a:rPr sz="1120" b="1"/>
              <a:t>How It Works: </a:t>
            </a:r>
          </a:p>
          <a:p>
            <a:pPr>
              <a:spcAft>
                <a:spcPts val="200"/>
              </a:spcAft>
            </a:pPr>
            <a:r>
              <a:rPr sz="1120" b="0"/>
              <a:t>Detect KPI deviation → Form hypotheses → Select investigation tools → Validate evidence → Root cause → Recommended actions.</a:t>
            </a:r>
          </a:p>
          <a:p>
            <a:pPr>
              <a:spcAft>
                <a:spcPts val="200"/>
              </a:spcAft>
            </a:pPr>
            <a:r>
              <a:rPr sz="1120" b="0"/>
              <a:t>Conversational AI lets users ask follow-up questions about the evidence, root cause and actions.</a:t>
            </a:r>
          </a:p>
          <a:p>
            <a:pPr>
              <a:spcAft>
                <a:spcPts val="200"/>
              </a:spcAft>
            </a:pPr>
            <a:r>
              <a:rPr sz="1120" b="1"/>
              <a:t>Scalability &amp; EXL Relevance: </a:t>
            </a:r>
          </a:p>
          <a:p>
            <a:pPr>
              <a:spcAft>
                <a:spcPts val="200"/>
              </a:spcAft>
            </a:pPr>
            <a:r>
              <a:rPr sz="1120" b="0"/>
              <a:t>Reusable investigation framework across multiple operational KPIs; extends existing Analytics, AI, Cloud and Managed Services capabilities.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D16CA-572C-744B-8AAF-DBDEF574D554}"/>
              </a:ext>
            </a:extLst>
          </p:cNvPr>
          <p:cNvSpPr txBox="1"/>
          <p:nvPr/>
        </p:nvSpPr>
        <p:spPr>
          <a:xfrm>
            <a:off x="477521" y="4305806"/>
            <a:ext cx="5638799" cy="830997"/>
          </a:xfrm>
          <a:prstGeom prst="rect">
            <a:avLst/>
          </a:prstGeom>
          <a:noFill/>
        </p:spPr>
        <p:txBody>
          <a:bodyPr wrap="square" rtlCol="0" lIns="54864" rIns="54864" tIns="0" bIns="0">
            <a:spAutoFit/>
          </a:bodyPr>
          <a:lstStyle/>
          <a:p>
            <a:pPr marL="171450" lvl="0" indent="-171450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200" b="0"/>
              <a:t>Claude AI + Python Analytics + Streamlit.</a:t>
            </a:r>
          </a:p>
          <a:p>
            <a:pPr>
              <a:spcAft>
                <a:spcPts val="200"/>
              </a:spcAft>
            </a:pPr>
            <a:r>
              <a:rPr sz="1200" b="0"/>
              <a:t>Cloud Run + BigQuery + Tool-Calling Framework.</a:t>
            </a:r>
          </a:p>
          <a:p>
            <a:pPr>
              <a:spcAft>
                <a:spcPts val="200"/>
              </a:spcAft>
            </a:pPr>
            <a:r>
              <a:rPr sz="1200" b="0"/>
              <a:t>Hypothesis-driven investigation, evidence-based reasoning and confidence scoring.</a:t>
            </a:r>
          </a:p>
          <a:p>
            <a:pPr>
              <a:spcAft>
                <a:spcPts val="200"/>
              </a:spcAft>
            </a:pPr>
            <a:r>
              <a:rPr sz="1200" b="0"/>
              <a:t>Reuses existing KPI logic and reporting infrastructure.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C384A-1D7A-A3D4-2B36-CF15B9DFAD37}"/>
              </a:ext>
            </a:extLst>
          </p:cNvPr>
          <p:cNvSpPr txBox="1"/>
          <p:nvPr/>
        </p:nvSpPr>
        <p:spPr>
          <a:xfrm>
            <a:off x="6197598" y="3964503"/>
            <a:ext cx="5638799" cy="2123658"/>
          </a:xfrm>
          <a:prstGeom prst="rect">
            <a:avLst/>
          </a:prstGeom>
          <a:noFill/>
        </p:spPr>
        <p:txBody>
          <a:bodyPr wrap="square" rtlCol="0" lIns="54864" rIns="54864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140" b="1"/>
              <a:t>Customer / Stakeholder Value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140" b="0"/>
              <a:t>Faster identification of customer-impacting issues.</a:t>
            </a:r>
          </a:p>
          <a:p>
            <a:pPr>
              <a:spcAft>
                <a:spcPts val="200"/>
              </a:spcAft>
            </a:pPr>
            <a:r>
              <a:rPr sz="1140" b="0"/>
              <a:t>Consistent, evidence-based decision making.</a:t>
            </a:r>
          </a:p>
          <a:p>
            <a:pPr>
              <a:spcAft>
                <a:spcPts val="200"/>
              </a:spcAft>
            </a:pPr>
            <a:r>
              <a:rPr sz="1140" b="0"/>
              <a:t>Improved operational prioritisation and reduced analyst dependency.</a:t>
            </a:r>
          </a:p>
          <a:p>
            <a:pPr>
              <a:spcAft>
                <a:spcPts val="200"/>
              </a:spcAft>
            </a:pPr>
            <a:r>
              <a:rPr sz="1140" b="1"/>
              <a:t>Potential Impact</a:t>
            </a:r>
          </a:p>
          <a:p>
            <a:pPr>
              <a:spcAft>
                <a:spcPts val="200"/>
              </a:spcAft>
            </a:pPr>
            <a:r>
              <a:rPr sz="1140" b="0"/>
              <a:t>Move from manual RCA taking hours to AI-assisted investigation in minutes.</a:t>
            </a:r>
          </a:p>
          <a:p>
            <a:pPr>
              <a:spcAft>
                <a:spcPts val="200"/>
              </a:spcAft>
            </a:pPr>
            <a:r>
              <a:rPr sz="1140" b="0"/>
              <a:t>Enables earlier intervention before customer and operational impact escalates.</a:t>
            </a:r>
          </a:p>
          <a:p>
            <a:pPr>
              <a:spcAft>
                <a:spcPts val="200"/>
              </a:spcAft>
            </a:pPr>
            <a:r>
              <a:rPr sz="1140" b="0"/>
              <a:t>Supports scalable expansion across multiple operational KPIs.</a:t>
            </a:r>
          </a:p>
          <a:p>
            <a:pPr>
              <a:spcAft>
                <a:spcPts val="200"/>
              </a:spcAft>
            </a:pPr>
            <a:r>
              <a:rPr sz="1140" b="1"/>
              <a:t>Cost / Deployment</a:t>
            </a:r>
          </a:p>
          <a:p>
            <a:pPr>
              <a:spcAft>
                <a:spcPts val="200"/>
              </a:spcAft>
            </a:pPr>
            <a:r>
              <a:rPr sz="1140" b="0"/>
              <a:t>Leverages existing reporting ecosystem and cloud infrastructure.</a:t>
            </a:r>
          </a:p>
          <a:p>
            <a:pPr>
              <a:spcAft>
                <a:spcPts val="200"/>
              </a:spcAft>
            </a:pPr>
            <a:r>
              <a:rPr sz="1140" b="0"/>
              <a:t>PoC → Pilot → Enterprise Scale.</a:t>
            </a:r>
          </a:p>
        </p:txBody>
      </p:sp>
    </p:spTree>
    <p:extLst>
      <p:ext uri="{BB962C8B-B14F-4D97-AF65-F5344CB8AC3E}">
        <p14:creationId xmlns:p14="http://schemas.microsoft.com/office/powerpoint/2010/main" val="29002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1657</TotalTime>
  <Words>272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AI Operations Intelligence Agent (InsightForge-AI)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Kartik Chaudhari</cp:lastModifiedBy>
  <cp:revision>32</cp:revision>
  <dcterms:created xsi:type="dcterms:W3CDTF">2024-06-06T10:38:18Z</dcterms:created>
  <dcterms:modified xsi:type="dcterms:W3CDTF">2026-08-18T13:51:29Z</dcterms:modified>
</cp:coreProperties>
</file>