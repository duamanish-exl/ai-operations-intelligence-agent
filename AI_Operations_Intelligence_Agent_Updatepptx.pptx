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70" r:id="rId2"/>
    <p:sldId id="256" r:id="rId3"/>
    <p:sldId id="272" r:id="rId4"/>
    <p:sldId id="273" r:id="rId5"/>
    <p:sldId id="283" r:id="rId6"/>
    <p:sldId id="257" r:id="rId7"/>
    <p:sldId id="278" r:id="rId8"/>
    <p:sldId id="287" r:id="rId9"/>
    <p:sldId id="275" r:id="rId10"/>
    <p:sldId id="282" r:id="rId11"/>
    <p:sldId id="284" r:id="rId12"/>
    <p:sldId id="277" r:id="rId13"/>
    <p:sldId id="285" r:id="rId14"/>
    <p:sldId id="286" r:id="rId15"/>
    <p:sldId id="28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F34252-74CA-464D-3690-B2B4073E2D2D}" v="15" dt="2026-08-21T17:01:21.2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ish Dua" userId="S::manish267153@exlservice.com::b38c8bcd-ad8c-4e2e-8f26-aa2664b7e4b1" providerId="AD" clId="Web-{CEE9016B-BC9B-A12E-464C-738BE1BFFF74}"/>
    <pc:docChg chg="modSld">
      <pc:chgData name="Manish Dua" userId="S::manish267153@exlservice.com::b38c8bcd-ad8c-4e2e-8f26-aa2664b7e4b1" providerId="AD" clId="Web-{CEE9016B-BC9B-A12E-464C-738BE1BFFF74}" dt="2026-08-19T09:06:19.181" v="25" actId="20577"/>
      <pc:docMkLst>
        <pc:docMk/>
      </pc:docMkLst>
      <pc:sldChg chg="modSp">
        <pc:chgData name="Manish Dua" userId="S::manish267153@exlservice.com::b38c8bcd-ad8c-4e2e-8f26-aa2664b7e4b1" providerId="AD" clId="Web-{CEE9016B-BC9B-A12E-464C-738BE1BFFF74}" dt="2026-08-19T09:06:19.181" v="25" actId="20577"/>
        <pc:sldMkLst>
          <pc:docMk/>
          <pc:sldMk cId="0" sldId="275"/>
        </pc:sldMkLst>
        <pc:spChg chg="mod">
          <ac:chgData name="Manish Dua" userId="S::manish267153@exlservice.com::b38c8bcd-ad8c-4e2e-8f26-aa2664b7e4b1" providerId="AD" clId="Web-{CEE9016B-BC9B-A12E-464C-738BE1BFFF74}" dt="2026-08-19T09:06:19.181" v="25" actId="20577"/>
          <ac:spMkLst>
            <pc:docMk/>
            <pc:sldMk cId="0" sldId="275"/>
            <ac:spMk id="33" creationId="{00000000-0000-0000-0000-000000000000}"/>
          </ac:spMkLst>
        </pc:spChg>
      </pc:sldChg>
    </pc:docChg>
  </pc:docChgLst>
  <pc:docChgLst>
    <pc:chgData name="Manish Dua" userId="S::manish267153@exlservice.com::b38c8bcd-ad8c-4e2e-8f26-aa2664b7e4b1" providerId="AD" clId="Web-{46F34252-74CA-464D-3690-B2B4073E2D2D}"/>
    <pc:docChg chg="modSld">
      <pc:chgData name="Manish Dua" userId="S::manish267153@exlservice.com::b38c8bcd-ad8c-4e2e-8f26-aa2664b7e4b1" providerId="AD" clId="Web-{46F34252-74CA-464D-3690-B2B4073E2D2D}" dt="2026-08-21T17:01:21.227" v="14" actId="1076"/>
      <pc:docMkLst>
        <pc:docMk/>
      </pc:docMkLst>
      <pc:sldChg chg="addSp delSp modSp">
        <pc:chgData name="Manish Dua" userId="S::manish267153@exlservice.com::b38c8bcd-ad8c-4e2e-8f26-aa2664b7e4b1" providerId="AD" clId="Web-{46F34252-74CA-464D-3690-B2B4073E2D2D}" dt="2026-08-21T17:01:21.227" v="14" actId="1076"/>
        <pc:sldMkLst>
          <pc:docMk/>
          <pc:sldMk cId="0" sldId="287"/>
        </pc:sldMkLst>
        <pc:spChg chg="mod">
          <ac:chgData name="Manish Dua" userId="S::manish267153@exlservice.com::b38c8bcd-ad8c-4e2e-8f26-aa2664b7e4b1" providerId="AD" clId="Web-{46F34252-74CA-464D-3690-B2B4073E2D2D}" dt="2026-08-21T17:00:59.742" v="9" actId="1076"/>
          <ac:spMkLst>
            <pc:docMk/>
            <pc:sldMk cId="0" sldId="287"/>
            <ac:spMk id="9" creationId="{00000000-0000-0000-0000-000000000000}"/>
          </ac:spMkLst>
        </pc:spChg>
        <pc:picChg chg="add mod modCrop">
          <ac:chgData name="Manish Dua" userId="S::manish267153@exlservice.com::b38c8bcd-ad8c-4e2e-8f26-aa2664b7e4b1" providerId="AD" clId="Web-{46F34252-74CA-464D-3690-B2B4073E2D2D}" dt="2026-08-21T17:01:21.227" v="14" actId="1076"/>
          <ac:picMkLst>
            <pc:docMk/>
            <pc:sldMk cId="0" sldId="287"/>
            <ac:picMk id="3" creationId="{C1CDA87B-6484-1E43-8B16-497B593CF116}"/>
          </ac:picMkLst>
        </pc:picChg>
        <pc:picChg chg="del">
          <ac:chgData name="Manish Dua" userId="S::manish267153@exlservice.com::b38c8bcd-ad8c-4e2e-8f26-aa2664b7e4b1" providerId="AD" clId="Web-{46F34252-74CA-464D-3690-B2B4073E2D2D}" dt="2026-08-21T16:59:01.960" v="0"/>
          <ac:picMkLst>
            <pc:docMk/>
            <pc:sldMk cId="0" sldId="287"/>
            <ac:picMk id="10" creationId="{F9D70CE0-23DC-1F16-77B7-A6BAA18156EE}"/>
          </ac:picMkLst>
        </pc:picChg>
      </pc:sldChg>
    </pc:docChg>
  </pc:docChgLst>
  <pc:docChgLst>
    <pc:chgData name="Mukesh Yadav" userId="a32d16f7-7996-40c5-b81f-e89296020489" providerId="ADAL" clId="{2B8D73FB-A7B3-4D41-91BE-0EACE18508F2}"/>
    <pc:docChg chg="custSel modSld">
      <pc:chgData name="Mukesh Yadav" userId="a32d16f7-7996-40c5-b81f-e89296020489" providerId="ADAL" clId="{2B8D73FB-A7B3-4D41-91BE-0EACE18508F2}" dt="2026-08-19T08:08:51.044" v="18" actId="14100"/>
      <pc:docMkLst>
        <pc:docMk/>
      </pc:docMkLst>
      <pc:sldChg chg="addSp delSp modSp mod">
        <pc:chgData name="Mukesh Yadav" userId="a32d16f7-7996-40c5-b81f-e89296020489" providerId="ADAL" clId="{2B8D73FB-A7B3-4D41-91BE-0EACE18508F2}" dt="2026-08-19T08:08:51.044" v="18" actId="14100"/>
        <pc:sldMkLst>
          <pc:docMk/>
          <pc:sldMk cId="0" sldId="287"/>
        </pc:sldMkLst>
        <pc:spChg chg="mod">
          <ac:chgData name="Mukesh Yadav" userId="a32d16f7-7996-40c5-b81f-e89296020489" providerId="ADAL" clId="{2B8D73FB-A7B3-4D41-91BE-0EACE18508F2}" dt="2026-08-19T08:02:29.814" v="1" actId="1076"/>
          <ac:spMkLst>
            <pc:docMk/>
            <pc:sldMk cId="0" sldId="287"/>
            <ac:spMk id="19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1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Old manual pattern</c:v>
                </c:pt>
              </c:strCache>
            </c:strRef>
          </c:tx>
          <c:spPr>
            <a:ln w="25400">
              <a:solidFill>
                <a:srgbClr val="E11D48"/>
              </a:solidFill>
            </a:ln>
          </c:spPr>
          <c:cat>
            <c:strRef>
              <c:f>Sheet1!$A$2:$A$7</c:f>
              <c:strCache>
                <c:ptCount val="6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1200</c:v>
                </c:pt>
                <c:pt idx="1">
                  <c:v>1280</c:v>
                </c:pt>
                <c:pt idx="2">
                  <c:v>1390</c:v>
                </c:pt>
                <c:pt idx="3">
                  <c:v>1500</c:v>
                </c:pt>
                <c:pt idx="4">
                  <c:v>1600</c:v>
                </c:pt>
                <c:pt idx="5">
                  <c:v>1650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7F1-4AF4-8EE4-BC05EBE1CD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AI adoption</c:v>
                </c:pt>
              </c:strCache>
            </c:strRef>
          </c:tx>
          <c:spPr>
            <a:ln w="25400">
              <a:solidFill>
                <a:srgbClr val="16A34A"/>
              </a:solidFill>
            </a:ln>
          </c:spPr>
          <c:cat>
            <c:strRef>
              <c:f>Sheet1!$A$2:$A$7</c:f>
              <c:strCache>
                <c:ptCount val="6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1650</c:v>
                </c:pt>
                <c:pt idx="1">
                  <c:v>1500</c:v>
                </c:pt>
                <c:pt idx="2">
                  <c:v>1375</c:v>
                </c:pt>
                <c:pt idx="3">
                  <c:v>1260</c:v>
                </c:pt>
                <c:pt idx="4">
                  <c:v>1130</c:v>
                </c:pt>
                <c:pt idx="5">
                  <c:v>1000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7F1-4AF4-8EE4-BC05EBE1CD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6EBF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4.5637343084923357E-2"/>
          <c:y val="0.61275066827934588"/>
          <c:w val="0.90248287082092271"/>
          <c:h val="0.34852470346692144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#1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#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AF5E6A-897E-4ACE-8A9E-CD22D40ADFA5}" type="doc">
      <dgm:prSet loTypeId="urn:microsoft.com/office/officeart/2005/8/layout/list1" loCatId="list" qsTypeId="urn:microsoft.com/office/officeart/2005/8/quickstyle/simple1#1" qsCatId="simple" csTypeId="urn:microsoft.com/office/officeart/2005/8/colors/accent2_2#1" csCatId="accent2" phldr="1"/>
      <dgm:spPr/>
      <dgm:t>
        <a:bodyPr/>
        <a:lstStyle/>
        <a:p>
          <a:endParaRPr lang="en-US"/>
        </a:p>
      </dgm:t>
    </dgm:pt>
    <dgm:pt modelId="{76A2A8B6-2C83-47BB-95AE-9AA6EADFD7F8}">
      <dgm:prSet custT="1"/>
      <dgm:spPr/>
      <dgm:t>
        <a:bodyPr/>
        <a:lstStyle/>
        <a:p>
          <a:r>
            <a:rPr lang="en-US" sz="1200" b="1"/>
            <a:t>Customer Impact</a:t>
          </a:r>
          <a:endParaRPr lang="en-US" sz="1200"/>
        </a:p>
      </dgm:t>
    </dgm:pt>
    <dgm:pt modelId="{E8C4CE6F-7F10-4B55-8B23-1EB321059FD3}" type="parTrans" cxnId="{B35015F2-62D3-49F1-93DE-466882E886B5}">
      <dgm:prSet/>
      <dgm:spPr/>
      <dgm:t>
        <a:bodyPr/>
        <a:lstStyle/>
        <a:p>
          <a:endParaRPr lang="en-US"/>
        </a:p>
      </dgm:t>
    </dgm:pt>
    <dgm:pt modelId="{385AFA9C-7141-44F0-B140-5C327E2BF164}" type="sibTrans" cxnId="{B35015F2-62D3-49F1-93DE-466882E886B5}">
      <dgm:prSet/>
      <dgm:spPr/>
      <dgm:t>
        <a:bodyPr/>
        <a:lstStyle/>
        <a:p>
          <a:endParaRPr lang="en-US"/>
        </a:p>
      </dgm:t>
    </dgm:pt>
    <dgm:pt modelId="{7B018414-E768-4778-9B88-8E820ACB109C}">
      <dgm:prSet/>
      <dgm:spPr/>
      <dgm:t>
        <a:bodyPr/>
        <a:lstStyle/>
        <a:p>
          <a:r>
            <a:rPr lang="en-US" b="1"/>
            <a:t>OVO Complaint Handling Case (2024)</a:t>
          </a:r>
          <a:endParaRPr lang="en-US"/>
        </a:p>
      </dgm:t>
    </dgm:pt>
    <dgm:pt modelId="{BD1132D8-2B39-42DA-BEA8-B106C0DA955D}" type="parTrans" cxnId="{0BFBDAEA-3C6D-405B-9436-1ED417A612A3}">
      <dgm:prSet/>
      <dgm:spPr/>
      <dgm:t>
        <a:bodyPr/>
        <a:lstStyle/>
        <a:p>
          <a:endParaRPr lang="en-US"/>
        </a:p>
      </dgm:t>
    </dgm:pt>
    <dgm:pt modelId="{34B735FE-9C03-4EAB-896A-6508262EF755}" type="sibTrans" cxnId="{0BFBDAEA-3C6D-405B-9436-1ED417A612A3}">
      <dgm:prSet/>
      <dgm:spPr/>
      <dgm:t>
        <a:bodyPr/>
        <a:lstStyle/>
        <a:p>
          <a:endParaRPr lang="en-US"/>
        </a:p>
      </dgm:t>
    </dgm:pt>
    <dgm:pt modelId="{8B919A8D-0155-4960-97B6-7B41194D4C6D}">
      <dgm:prSet/>
      <dgm:spPr/>
      <dgm:t>
        <a:bodyPr/>
        <a:lstStyle/>
        <a:p>
          <a:r>
            <a:rPr lang="en-US" sz="1000" b="1" kern="1200"/>
            <a:t>1,395 customers impacted</a:t>
          </a:r>
          <a:r>
            <a:rPr lang="en-US" sz="1000" kern="1200"/>
            <a:t> by complaint-handling failures.</a:t>
          </a:r>
        </a:p>
      </dgm:t>
    </dgm:pt>
    <dgm:pt modelId="{773C4187-B1D6-4531-A75C-9074A50DCBCD}" type="parTrans" cxnId="{6B3F26A0-607B-449B-96DA-A2BFA88C6118}">
      <dgm:prSet/>
      <dgm:spPr/>
      <dgm:t>
        <a:bodyPr/>
        <a:lstStyle/>
        <a:p>
          <a:endParaRPr lang="en-US"/>
        </a:p>
      </dgm:t>
    </dgm:pt>
    <dgm:pt modelId="{01BDE3CB-3E81-4EB1-A289-308953C5D4E9}" type="sibTrans" cxnId="{6B3F26A0-607B-449B-96DA-A2BFA88C6118}">
      <dgm:prSet/>
      <dgm:spPr/>
      <dgm:t>
        <a:bodyPr/>
        <a:lstStyle/>
        <a:p>
          <a:endParaRPr lang="en-US"/>
        </a:p>
      </dgm:t>
    </dgm:pt>
    <dgm:pt modelId="{E93C7E12-0F2C-4158-9316-545B15DDFF8C}">
      <dgm:prSet/>
      <dgm:spPr/>
      <dgm:t>
        <a:bodyPr/>
        <a:lstStyle/>
        <a:p>
          <a:r>
            <a:rPr lang="en-US" sz="1000" b="1" kern="1200"/>
            <a:t>706 vulnerable customers affected.</a:t>
          </a:r>
          <a:endParaRPr lang="en-US" sz="1000" kern="1200"/>
        </a:p>
      </dgm:t>
    </dgm:pt>
    <dgm:pt modelId="{4AE50C88-220F-4884-BE6E-B1C4E5840AEF}" type="parTrans" cxnId="{59446B5F-833C-450A-AD02-54A94444EBA6}">
      <dgm:prSet/>
      <dgm:spPr/>
      <dgm:t>
        <a:bodyPr/>
        <a:lstStyle/>
        <a:p>
          <a:endParaRPr lang="en-US"/>
        </a:p>
      </dgm:t>
    </dgm:pt>
    <dgm:pt modelId="{F923019D-20B9-4902-A752-B6EEFE47524A}" type="sibTrans" cxnId="{59446B5F-833C-450A-AD02-54A94444EBA6}">
      <dgm:prSet/>
      <dgm:spPr/>
      <dgm:t>
        <a:bodyPr/>
        <a:lstStyle/>
        <a:p>
          <a:endParaRPr lang="en-US"/>
        </a:p>
      </dgm:t>
    </dgm:pt>
    <dgm:pt modelId="{0EAC2FAD-A0EE-4E07-B214-A17D4209B41D}">
      <dgm:prSet/>
      <dgm:spPr/>
      <dgm:t>
        <a:bodyPr/>
        <a:lstStyle/>
        <a:p>
          <a:r>
            <a:rPr lang="en-US" sz="1000" kern="1200"/>
            <a:t>Some complaints remained unresolved for </a:t>
          </a:r>
          <a:r>
            <a:rPr lang="en-US" sz="1000" b="1" kern="1200"/>
            <a:t>up to 18 months</a:t>
          </a:r>
          <a:r>
            <a:rPr lang="en-US" sz="1000" kern="1200"/>
            <a:t>.</a:t>
          </a:r>
        </a:p>
      </dgm:t>
    </dgm:pt>
    <dgm:pt modelId="{2CFDE694-E0A5-44ED-B54B-840827F484A9}" type="parTrans" cxnId="{4E5E78CC-0FFD-47C5-8E05-2A081451BAA9}">
      <dgm:prSet/>
      <dgm:spPr/>
      <dgm:t>
        <a:bodyPr/>
        <a:lstStyle/>
        <a:p>
          <a:endParaRPr lang="en-US"/>
        </a:p>
      </dgm:t>
    </dgm:pt>
    <dgm:pt modelId="{57C3960C-7AF9-448D-A2DF-09BE276B6EFD}" type="sibTrans" cxnId="{4E5E78CC-0FFD-47C5-8E05-2A081451BAA9}">
      <dgm:prSet/>
      <dgm:spPr/>
      <dgm:t>
        <a:bodyPr/>
        <a:lstStyle/>
        <a:p>
          <a:endParaRPr lang="en-US"/>
        </a:p>
      </dgm:t>
    </dgm:pt>
    <dgm:pt modelId="{981FB9F5-042D-4AD9-8DDE-391628E74F08}">
      <dgm:prSet/>
      <dgm:spPr/>
      <dgm:t>
        <a:bodyPr/>
        <a:lstStyle/>
        <a:p>
          <a:r>
            <a:rPr lang="en-US" sz="1000" kern="1200"/>
            <a:t>Demonstrates how delayed issue identification can directly impact vulnerable customers.</a:t>
          </a:r>
        </a:p>
      </dgm:t>
    </dgm:pt>
    <dgm:pt modelId="{ECC4743E-1017-47FA-A93C-A073720F3F27}" type="parTrans" cxnId="{74855E50-E741-48C8-949A-D9361EEC0B2D}">
      <dgm:prSet/>
      <dgm:spPr/>
      <dgm:t>
        <a:bodyPr/>
        <a:lstStyle/>
        <a:p>
          <a:endParaRPr lang="en-US"/>
        </a:p>
      </dgm:t>
    </dgm:pt>
    <dgm:pt modelId="{BFC2B07F-3432-4F00-B117-6C4B831F346F}" type="sibTrans" cxnId="{74855E50-E741-48C8-949A-D9361EEC0B2D}">
      <dgm:prSet/>
      <dgm:spPr/>
      <dgm:t>
        <a:bodyPr/>
        <a:lstStyle/>
        <a:p>
          <a:endParaRPr lang="en-US"/>
        </a:p>
      </dgm:t>
    </dgm:pt>
    <dgm:pt modelId="{A4D97700-BCAE-4A3A-B5A3-981720FB91BC}">
      <dgm:prSet/>
      <dgm:spPr/>
      <dgm:t>
        <a:bodyPr/>
        <a:lstStyle/>
        <a:p>
          <a:r>
            <a:rPr lang="en-US" b="1"/>
            <a:t>Consumer Satisfaction</a:t>
          </a:r>
          <a:endParaRPr lang="en-US"/>
        </a:p>
      </dgm:t>
    </dgm:pt>
    <dgm:pt modelId="{9ABA7C6F-9F4D-4013-8B21-A07FF85AE7D3}" type="parTrans" cxnId="{FE3C5A35-BA72-4A4B-827D-40840B0464A8}">
      <dgm:prSet/>
      <dgm:spPr/>
      <dgm:t>
        <a:bodyPr/>
        <a:lstStyle/>
        <a:p>
          <a:endParaRPr lang="en-US"/>
        </a:p>
      </dgm:t>
    </dgm:pt>
    <dgm:pt modelId="{7E738AAB-AB89-4E1C-980E-F5D35B9E1E53}" type="sibTrans" cxnId="{FE3C5A35-BA72-4A4B-827D-40840B0464A8}">
      <dgm:prSet/>
      <dgm:spPr/>
      <dgm:t>
        <a:bodyPr/>
        <a:lstStyle/>
        <a:p>
          <a:endParaRPr lang="en-US"/>
        </a:p>
      </dgm:t>
    </dgm:pt>
    <dgm:pt modelId="{9AF15801-3AE2-4DEA-97FE-0ADF418C2BC0}">
      <dgm:prSet/>
      <dgm:spPr/>
      <dgm:t>
        <a:bodyPr/>
        <a:lstStyle/>
        <a:p>
          <a:pPr marL="57150" lvl="1" indent="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en-US" sz="1000" kern="1200"/>
            <a:t>Only </a:t>
          </a:r>
          <a:r>
            <a:rPr lang="en-US" sz="1000" b="1" kern="1200"/>
            <a:t>44% of customers</a:t>
          </a:r>
          <a:r>
            <a:rPr lang="en-US" sz="1000" kern="1200"/>
            <a:t> were satisfied with how their complaint was handled.</a:t>
          </a:r>
        </a:p>
      </dgm:t>
    </dgm:pt>
    <dgm:pt modelId="{6C55AA38-4BE4-40CC-ADBB-343654D7A165}" type="parTrans" cxnId="{CE3F87F7-9F2F-4736-8C85-B8179CED686D}">
      <dgm:prSet/>
      <dgm:spPr/>
      <dgm:t>
        <a:bodyPr/>
        <a:lstStyle/>
        <a:p>
          <a:endParaRPr lang="en-US"/>
        </a:p>
      </dgm:t>
    </dgm:pt>
    <dgm:pt modelId="{D4360C9D-A3CC-4885-83CF-E45E519EDD52}" type="sibTrans" cxnId="{CE3F87F7-9F2F-4736-8C85-B8179CED686D}">
      <dgm:prSet/>
      <dgm:spPr/>
      <dgm:t>
        <a:bodyPr/>
        <a:lstStyle/>
        <a:p>
          <a:endParaRPr lang="en-US"/>
        </a:p>
      </dgm:t>
    </dgm:pt>
    <dgm:pt modelId="{4AEAB63C-29BC-4F1A-B994-F2082F1E2B91}">
      <dgm:prSet custT="1"/>
      <dgm:spPr/>
      <dgm:t>
        <a:bodyPr/>
        <a:lstStyle/>
        <a:p>
          <a:pPr marL="57150" lvl="1" indent="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en-US" sz="1000" kern="1200"/>
            <a:t>More than half of complainants reported </a:t>
          </a:r>
          <a:r>
            <a:rPr lang="en-US" sz="1000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/>
              <a:ea typeface="+mn-ea"/>
              <a:cs typeface="+mn-cs"/>
            </a:rPr>
            <a:t>dissatisfaction</a:t>
          </a:r>
          <a:r>
            <a:rPr lang="en-US" sz="1000" kern="1200"/>
            <a:t> with complaint resolution.</a:t>
          </a:r>
        </a:p>
      </dgm:t>
    </dgm:pt>
    <dgm:pt modelId="{AD555156-862A-43EF-9EF9-8F1E26F04E5D}" type="parTrans" cxnId="{C6262445-5CE3-496C-A422-B69CCBEC5390}">
      <dgm:prSet/>
      <dgm:spPr/>
      <dgm:t>
        <a:bodyPr/>
        <a:lstStyle/>
        <a:p>
          <a:endParaRPr lang="en-US"/>
        </a:p>
      </dgm:t>
    </dgm:pt>
    <dgm:pt modelId="{D765B34E-3A5A-4817-9CEA-761A528FD71E}" type="sibTrans" cxnId="{C6262445-5CE3-496C-A422-B69CCBEC5390}">
      <dgm:prSet/>
      <dgm:spPr/>
      <dgm:t>
        <a:bodyPr/>
        <a:lstStyle/>
        <a:p>
          <a:endParaRPr lang="en-US"/>
        </a:p>
      </dgm:t>
    </dgm:pt>
    <dgm:pt modelId="{71963D07-5733-4E27-A451-9B1969DA20C0}">
      <dgm:prSet/>
      <dgm:spPr/>
      <dgm:t>
        <a:bodyPr/>
        <a:lstStyle/>
        <a:p>
          <a:r>
            <a:rPr lang="en-US" b="1"/>
            <a:t>Unresolved Customer Issues</a:t>
          </a:r>
          <a:endParaRPr lang="en-US"/>
        </a:p>
      </dgm:t>
    </dgm:pt>
    <dgm:pt modelId="{C8F12BE5-1EC5-456D-A0A8-6C23C489E1AB}" type="parTrans" cxnId="{ED3B480F-B4A4-48D7-A7BF-43A5C95B00C4}">
      <dgm:prSet/>
      <dgm:spPr/>
      <dgm:t>
        <a:bodyPr/>
        <a:lstStyle/>
        <a:p>
          <a:endParaRPr lang="en-US"/>
        </a:p>
      </dgm:t>
    </dgm:pt>
    <dgm:pt modelId="{0A48B4E5-F67A-4C10-9309-EE2D3D738FC7}" type="sibTrans" cxnId="{ED3B480F-B4A4-48D7-A7BF-43A5C95B00C4}">
      <dgm:prSet/>
      <dgm:spPr/>
      <dgm:t>
        <a:bodyPr/>
        <a:lstStyle/>
        <a:p>
          <a:endParaRPr lang="en-US"/>
        </a:p>
      </dgm:t>
    </dgm:pt>
    <dgm:pt modelId="{40BA9664-454A-4AAA-9855-FCBC601089DC}">
      <dgm:prSet/>
      <dgm:spPr/>
      <dgm:t>
        <a:bodyPr/>
        <a:lstStyle/>
        <a:p>
          <a:r>
            <a:rPr lang="en-US" sz="1000" b="1"/>
            <a:t>34% of customers</a:t>
          </a:r>
          <a:r>
            <a:rPr lang="en-US" sz="1000"/>
            <a:t> reporting smart-meter issues stated that their problem was still unresolved or under investigation.</a:t>
          </a:r>
        </a:p>
      </dgm:t>
    </dgm:pt>
    <dgm:pt modelId="{2000B57E-DAE5-497A-9C9A-F6F84B4B855E}" type="parTrans" cxnId="{A5E8676B-497C-4DE8-B5D1-ECE5D70F99AB}">
      <dgm:prSet/>
      <dgm:spPr/>
      <dgm:t>
        <a:bodyPr/>
        <a:lstStyle/>
        <a:p>
          <a:endParaRPr lang="en-US"/>
        </a:p>
      </dgm:t>
    </dgm:pt>
    <dgm:pt modelId="{33DDF62B-6EEE-4C02-91BD-BC474CB04DA8}" type="sibTrans" cxnId="{A5E8676B-497C-4DE8-B5D1-ECE5D70F99AB}">
      <dgm:prSet/>
      <dgm:spPr/>
      <dgm:t>
        <a:bodyPr/>
        <a:lstStyle/>
        <a:p>
          <a:endParaRPr lang="en-US"/>
        </a:p>
      </dgm:t>
    </dgm:pt>
    <dgm:pt modelId="{A57ECDC5-9FE6-4CEB-9F40-B9F7692D3E2D}">
      <dgm:prSet/>
      <dgm:spPr/>
      <dgm:t>
        <a:bodyPr/>
        <a:lstStyle/>
        <a:p>
          <a:r>
            <a:rPr lang="en-US" b="1"/>
            <a:t>Source:</a:t>
          </a:r>
          <a:r>
            <a:rPr lang="en-US"/>
            <a:t> Ofgem Survey (2024)</a:t>
          </a:r>
        </a:p>
      </dgm:t>
    </dgm:pt>
    <dgm:pt modelId="{95DBC3D5-3228-4E1B-A782-F918B0C199E2}" type="parTrans" cxnId="{46119F85-0C95-4924-8D27-18F3E23BF921}">
      <dgm:prSet/>
      <dgm:spPr/>
      <dgm:t>
        <a:bodyPr/>
        <a:lstStyle/>
        <a:p>
          <a:endParaRPr lang="en-US"/>
        </a:p>
      </dgm:t>
    </dgm:pt>
    <dgm:pt modelId="{E106E37B-DABA-4326-A381-E438D00DD4C4}" type="sibTrans" cxnId="{46119F85-0C95-4924-8D27-18F3E23BF921}">
      <dgm:prSet/>
      <dgm:spPr/>
      <dgm:t>
        <a:bodyPr/>
        <a:lstStyle/>
        <a:p>
          <a:endParaRPr lang="en-US"/>
        </a:p>
      </dgm:t>
    </dgm:pt>
    <dgm:pt modelId="{C2A422C8-3C1D-45D5-9929-BACC25FD3245}">
      <dgm:prSet custT="1"/>
      <dgm:spPr/>
      <dgm:t>
        <a:bodyPr/>
        <a:lstStyle/>
        <a:p>
          <a:pPr>
            <a:buFont typeface="Wingdings" panose="05000000000000000000" pitchFamily="2" charset="2"/>
            <a:buChar char="q"/>
          </a:pPr>
          <a:r>
            <a:rPr lang="en-US" sz="800" b="1" kern="1200">
              <a:solidFill>
                <a:srgbClr val="00263E"/>
              </a:solidFill>
              <a:latin typeface="Aptos"/>
              <a:ea typeface="+mn-ea"/>
              <a:cs typeface="+mn-cs"/>
            </a:rPr>
            <a:t>Source: Ofgem (2024)</a:t>
          </a:r>
          <a:endParaRPr lang="en-US" sz="1000" kern="1200"/>
        </a:p>
      </dgm:t>
    </dgm:pt>
    <dgm:pt modelId="{843B0A13-6D08-4640-BA03-150A04B986B9}" type="parTrans" cxnId="{D92ADB08-6EEC-4FE6-99B0-C15998ED37A7}">
      <dgm:prSet/>
      <dgm:spPr/>
      <dgm:t>
        <a:bodyPr/>
        <a:lstStyle/>
        <a:p>
          <a:endParaRPr lang="en-US"/>
        </a:p>
      </dgm:t>
    </dgm:pt>
    <dgm:pt modelId="{71D4CEB2-8BEB-49BB-96DF-DFAEAC75BA89}" type="sibTrans" cxnId="{D92ADB08-6EEC-4FE6-99B0-C15998ED37A7}">
      <dgm:prSet/>
      <dgm:spPr/>
      <dgm:t>
        <a:bodyPr/>
        <a:lstStyle/>
        <a:p>
          <a:endParaRPr lang="en-US"/>
        </a:p>
      </dgm:t>
    </dgm:pt>
    <dgm:pt modelId="{4D306C7F-D2B3-413E-9DE9-52E563991AD1}">
      <dgm:prSet custT="1"/>
      <dgm:spPr/>
      <dgm:t>
        <a:bodyPr/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q"/>
          </a:pPr>
          <a:r>
            <a:rPr lang="en-US" sz="800" b="1" kern="1200">
              <a:solidFill>
                <a:srgbClr val="00263E"/>
              </a:solidFill>
              <a:latin typeface="Aptos"/>
              <a:ea typeface="+mn-ea"/>
              <a:cs typeface="+mn-cs"/>
            </a:rPr>
            <a:t>Source: Ofgem Energy Consumer Satisfaction Survey (2025)</a:t>
          </a:r>
        </a:p>
      </dgm:t>
    </dgm:pt>
    <dgm:pt modelId="{ECBB0CD7-5279-4A99-ADB5-3B8478CC16A7}" type="parTrans" cxnId="{79599D3E-C4DC-45A0-9E50-8F3A14B733EB}">
      <dgm:prSet/>
      <dgm:spPr/>
      <dgm:t>
        <a:bodyPr/>
        <a:lstStyle/>
        <a:p>
          <a:endParaRPr lang="en-US"/>
        </a:p>
      </dgm:t>
    </dgm:pt>
    <dgm:pt modelId="{CDD59307-DC99-423E-8C74-FF8202A7ADEF}" type="sibTrans" cxnId="{79599D3E-C4DC-45A0-9E50-8F3A14B733EB}">
      <dgm:prSet/>
      <dgm:spPr/>
      <dgm:t>
        <a:bodyPr/>
        <a:lstStyle/>
        <a:p>
          <a:endParaRPr lang="en-US"/>
        </a:p>
      </dgm:t>
    </dgm:pt>
    <dgm:pt modelId="{B721F5DA-E051-4FAF-B083-606D3DF855C5}">
      <dgm:prSet custT="1"/>
      <dgm:spPr/>
      <dgm:t>
        <a:bodyPr/>
        <a:lstStyle/>
        <a:p>
          <a:pPr>
            <a:buFont typeface="Wingdings" panose="05000000000000000000" pitchFamily="2" charset="2"/>
            <a:buChar char="q"/>
          </a:pPr>
          <a:r>
            <a:rPr lang="en-US" sz="800" b="1">
              <a:solidFill>
                <a:srgbClr val="00263E"/>
              </a:solidFill>
              <a:latin typeface="Aptos"/>
              <a:ea typeface="+mn-ea"/>
              <a:cs typeface="+mn-cs"/>
            </a:rPr>
            <a:t>Source: Ofgem (2024)</a:t>
          </a:r>
          <a:endParaRPr lang="en-US" sz="800"/>
        </a:p>
      </dgm:t>
    </dgm:pt>
    <dgm:pt modelId="{493ACDD9-78C0-402A-8093-06A8825C074D}" type="parTrans" cxnId="{292ED7B4-B638-45D9-9A4A-2D6B3A4A4C3D}">
      <dgm:prSet/>
      <dgm:spPr/>
      <dgm:t>
        <a:bodyPr/>
        <a:lstStyle/>
        <a:p>
          <a:endParaRPr lang="en-US"/>
        </a:p>
      </dgm:t>
    </dgm:pt>
    <dgm:pt modelId="{5CA2123F-528E-4421-889B-3043D5C76D94}" type="sibTrans" cxnId="{292ED7B4-B638-45D9-9A4A-2D6B3A4A4C3D}">
      <dgm:prSet/>
      <dgm:spPr/>
      <dgm:t>
        <a:bodyPr/>
        <a:lstStyle/>
        <a:p>
          <a:endParaRPr lang="en-US"/>
        </a:p>
      </dgm:t>
    </dgm:pt>
    <dgm:pt modelId="{A10AB25C-AA63-4D67-B249-7F4B90DF0D91}" type="pres">
      <dgm:prSet presAssocID="{F3AF5E6A-897E-4ACE-8A9E-CD22D40ADFA5}" presName="linear" presStyleCnt="0">
        <dgm:presLayoutVars>
          <dgm:dir/>
          <dgm:animLvl val="lvl"/>
          <dgm:resizeHandles val="exact"/>
        </dgm:presLayoutVars>
      </dgm:prSet>
      <dgm:spPr/>
    </dgm:pt>
    <dgm:pt modelId="{5CDCEAA8-380B-407F-A7E5-610DBB17B4CE}" type="pres">
      <dgm:prSet presAssocID="{76A2A8B6-2C83-47BB-95AE-9AA6EADFD7F8}" presName="parentLin" presStyleCnt="0"/>
      <dgm:spPr/>
    </dgm:pt>
    <dgm:pt modelId="{F9C8C25B-17B1-46FC-808C-A1F9673674E2}" type="pres">
      <dgm:prSet presAssocID="{76A2A8B6-2C83-47BB-95AE-9AA6EADFD7F8}" presName="parentLeftMargin" presStyleLbl="node1" presStyleIdx="0" presStyleCnt="5"/>
      <dgm:spPr/>
    </dgm:pt>
    <dgm:pt modelId="{D17EDC43-DBD9-4C3B-B544-388833534F2D}" type="pres">
      <dgm:prSet presAssocID="{76A2A8B6-2C83-47BB-95AE-9AA6EADFD7F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00B5D4B-138F-483B-998B-AF828299AE0F}" type="pres">
      <dgm:prSet presAssocID="{76A2A8B6-2C83-47BB-95AE-9AA6EADFD7F8}" presName="negativeSpace" presStyleCnt="0"/>
      <dgm:spPr/>
    </dgm:pt>
    <dgm:pt modelId="{270CD2F2-D521-494A-9FE5-74349AFAD5BB}" type="pres">
      <dgm:prSet presAssocID="{76A2A8B6-2C83-47BB-95AE-9AA6EADFD7F8}" presName="childText" presStyleLbl="conFgAcc1" presStyleIdx="0" presStyleCnt="5">
        <dgm:presLayoutVars>
          <dgm:bulletEnabled val="1"/>
        </dgm:presLayoutVars>
      </dgm:prSet>
      <dgm:spPr/>
    </dgm:pt>
    <dgm:pt modelId="{FA664BD1-4B7E-462C-83E1-C9D50D4CC56B}" type="pres">
      <dgm:prSet presAssocID="{385AFA9C-7141-44F0-B140-5C327E2BF164}" presName="spaceBetweenRectangles" presStyleCnt="0"/>
      <dgm:spPr/>
    </dgm:pt>
    <dgm:pt modelId="{ABDED82F-71B3-41C1-B397-DA6B871521E8}" type="pres">
      <dgm:prSet presAssocID="{7B018414-E768-4778-9B88-8E820ACB109C}" presName="parentLin" presStyleCnt="0"/>
      <dgm:spPr/>
    </dgm:pt>
    <dgm:pt modelId="{F786F013-4601-4EFD-B5E6-3F0BF6BD1757}" type="pres">
      <dgm:prSet presAssocID="{7B018414-E768-4778-9B88-8E820ACB109C}" presName="parentLeftMargin" presStyleLbl="node1" presStyleIdx="0" presStyleCnt="5"/>
      <dgm:spPr/>
    </dgm:pt>
    <dgm:pt modelId="{100EABE9-CABA-413E-AF6B-56D03774A761}" type="pres">
      <dgm:prSet presAssocID="{7B018414-E768-4778-9B88-8E820ACB109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A6F9AA9-DE8F-40AF-8E52-8DC057652661}" type="pres">
      <dgm:prSet presAssocID="{7B018414-E768-4778-9B88-8E820ACB109C}" presName="negativeSpace" presStyleCnt="0"/>
      <dgm:spPr/>
    </dgm:pt>
    <dgm:pt modelId="{3961D80A-D986-4989-AAF5-DDD485598750}" type="pres">
      <dgm:prSet presAssocID="{7B018414-E768-4778-9B88-8E820ACB109C}" presName="childText" presStyleLbl="conFgAcc1" presStyleIdx="1" presStyleCnt="5">
        <dgm:presLayoutVars>
          <dgm:bulletEnabled val="1"/>
        </dgm:presLayoutVars>
      </dgm:prSet>
      <dgm:spPr/>
    </dgm:pt>
    <dgm:pt modelId="{27FFDB28-BF85-4CCB-B3B7-14FD4781E2ED}" type="pres">
      <dgm:prSet presAssocID="{34B735FE-9C03-4EAB-896A-6508262EF755}" presName="spaceBetweenRectangles" presStyleCnt="0"/>
      <dgm:spPr/>
    </dgm:pt>
    <dgm:pt modelId="{2CDBAEE9-CEF7-460D-8BE5-3474038FA80D}" type="pres">
      <dgm:prSet presAssocID="{A4D97700-BCAE-4A3A-B5A3-981720FB91BC}" presName="parentLin" presStyleCnt="0"/>
      <dgm:spPr/>
    </dgm:pt>
    <dgm:pt modelId="{CA420F3D-F0F6-4AA9-BB24-51D8E7C892DF}" type="pres">
      <dgm:prSet presAssocID="{A4D97700-BCAE-4A3A-B5A3-981720FB91BC}" presName="parentLeftMargin" presStyleLbl="node1" presStyleIdx="1" presStyleCnt="5"/>
      <dgm:spPr/>
    </dgm:pt>
    <dgm:pt modelId="{9AA88F4C-2871-4FD1-9A92-9842F744CC18}" type="pres">
      <dgm:prSet presAssocID="{A4D97700-BCAE-4A3A-B5A3-981720FB91B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EF58A68-A195-4874-B1F9-9FB2A7BEF642}" type="pres">
      <dgm:prSet presAssocID="{A4D97700-BCAE-4A3A-B5A3-981720FB91BC}" presName="negativeSpace" presStyleCnt="0"/>
      <dgm:spPr/>
    </dgm:pt>
    <dgm:pt modelId="{AEF54E70-4DE5-4543-A7BF-12D2A25CD938}" type="pres">
      <dgm:prSet presAssocID="{A4D97700-BCAE-4A3A-B5A3-981720FB91BC}" presName="childText" presStyleLbl="conFgAcc1" presStyleIdx="2" presStyleCnt="5">
        <dgm:presLayoutVars>
          <dgm:bulletEnabled val="1"/>
        </dgm:presLayoutVars>
      </dgm:prSet>
      <dgm:spPr/>
    </dgm:pt>
    <dgm:pt modelId="{A0BD868C-DAB2-44A2-AC5D-0986EC2E1C8D}" type="pres">
      <dgm:prSet presAssocID="{7E738AAB-AB89-4E1C-980E-F5D35B9E1E53}" presName="spaceBetweenRectangles" presStyleCnt="0"/>
      <dgm:spPr/>
    </dgm:pt>
    <dgm:pt modelId="{2DC18998-AD6A-4421-A355-298EAB404DE8}" type="pres">
      <dgm:prSet presAssocID="{71963D07-5733-4E27-A451-9B1969DA20C0}" presName="parentLin" presStyleCnt="0"/>
      <dgm:spPr/>
    </dgm:pt>
    <dgm:pt modelId="{52ACB75F-B9D4-4809-9B3A-0BEF21E6DE65}" type="pres">
      <dgm:prSet presAssocID="{71963D07-5733-4E27-A451-9B1969DA20C0}" presName="parentLeftMargin" presStyleLbl="node1" presStyleIdx="2" presStyleCnt="5"/>
      <dgm:spPr/>
    </dgm:pt>
    <dgm:pt modelId="{EE927680-B863-4661-AA70-445BD21D1153}" type="pres">
      <dgm:prSet presAssocID="{71963D07-5733-4E27-A451-9B1969DA20C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D92ABF8-5369-4AD0-BC5D-B418F241557A}" type="pres">
      <dgm:prSet presAssocID="{71963D07-5733-4E27-A451-9B1969DA20C0}" presName="negativeSpace" presStyleCnt="0"/>
      <dgm:spPr/>
    </dgm:pt>
    <dgm:pt modelId="{D13AF780-C1E1-44BB-9442-E241D3F40D4A}" type="pres">
      <dgm:prSet presAssocID="{71963D07-5733-4E27-A451-9B1969DA20C0}" presName="childText" presStyleLbl="conFgAcc1" presStyleIdx="3" presStyleCnt="5">
        <dgm:presLayoutVars>
          <dgm:bulletEnabled val="1"/>
        </dgm:presLayoutVars>
      </dgm:prSet>
      <dgm:spPr/>
    </dgm:pt>
    <dgm:pt modelId="{D2844133-2C68-4DE2-B705-AD0E5954D7F9}" type="pres">
      <dgm:prSet presAssocID="{0A48B4E5-F67A-4C10-9309-EE2D3D738FC7}" presName="spaceBetweenRectangles" presStyleCnt="0"/>
      <dgm:spPr/>
    </dgm:pt>
    <dgm:pt modelId="{E1406C94-CBF3-4A3F-9A38-612A576B0C68}" type="pres">
      <dgm:prSet presAssocID="{A57ECDC5-9FE6-4CEB-9F40-B9F7692D3E2D}" presName="parentLin" presStyleCnt="0"/>
      <dgm:spPr/>
    </dgm:pt>
    <dgm:pt modelId="{C8C24225-FBEB-4945-8A89-10875DEB5D88}" type="pres">
      <dgm:prSet presAssocID="{A57ECDC5-9FE6-4CEB-9F40-B9F7692D3E2D}" presName="parentLeftMargin" presStyleLbl="node1" presStyleIdx="3" presStyleCnt="5"/>
      <dgm:spPr/>
    </dgm:pt>
    <dgm:pt modelId="{CAE1B171-4620-45F7-BE20-F17422F95C17}" type="pres">
      <dgm:prSet presAssocID="{A57ECDC5-9FE6-4CEB-9F40-B9F7692D3E2D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48746679-7564-4E83-9DE2-8B4D96197CF7}" type="pres">
      <dgm:prSet presAssocID="{A57ECDC5-9FE6-4CEB-9F40-B9F7692D3E2D}" presName="negativeSpace" presStyleCnt="0"/>
      <dgm:spPr/>
    </dgm:pt>
    <dgm:pt modelId="{8364B185-9250-4C92-B384-F28843992C81}" type="pres">
      <dgm:prSet presAssocID="{A57ECDC5-9FE6-4CEB-9F40-B9F7692D3E2D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D92ADB08-6EEC-4FE6-99B0-C15998ED37A7}" srcId="{7B018414-E768-4778-9B88-8E820ACB109C}" destId="{C2A422C8-3C1D-45D5-9929-BACC25FD3245}" srcOrd="4" destOrd="0" parTransId="{843B0A13-6D08-4640-BA03-150A04B986B9}" sibTransId="{71D4CEB2-8BEB-49BB-96DF-DFAEAC75BA89}"/>
    <dgm:cxn modelId="{ED3B480F-B4A4-48D7-A7BF-43A5C95B00C4}" srcId="{F3AF5E6A-897E-4ACE-8A9E-CD22D40ADFA5}" destId="{71963D07-5733-4E27-A451-9B1969DA20C0}" srcOrd="3" destOrd="0" parTransId="{C8F12BE5-1EC5-456D-A0A8-6C23C489E1AB}" sibTransId="{0A48B4E5-F67A-4C10-9309-EE2D3D738FC7}"/>
    <dgm:cxn modelId="{D0B3FA19-825E-403D-B9C1-CADC1D41D0A4}" type="presOf" srcId="{A57ECDC5-9FE6-4CEB-9F40-B9F7692D3E2D}" destId="{CAE1B171-4620-45F7-BE20-F17422F95C17}" srcOrd="1" destOrd="0" presId="urn:microsoft.com/office/officeart/2005/8/layout/list1"/>
    <dgm:cxn modelId="{569D9B1A-CCC7-4D5B-A7FA-A8AE95C6DD7F}" type="presOf" srcId="{A57ECDC5-9FE6-4CEB-9F40-B9F7692D3E2D}" destId="{C8C24225-FBEB-4945-8A89-10875DEB5D88}" srcOrd="0" destOrd="0" presId="urn:microsoft.com/office/officeart/2005/8/layout/list1"/>
    <dgm:cxn modelId="{D8403926-2719-4331-9B0C-134693172AF5}" type="presOf" srcId="{A4D97700-BCAE-4A3A-B5A3-981720FB91BC}" destId="{CA420F3D-F0F6-4AA9-BB24-51D8E7C892DF}" srcOrd="0" destOrd="0" presId="urn:microsoft.com/office/officeart/2005/8/layout/list1"/>
    <dgm:cxn modelId="{2E845C29-2F54-4D0A-991F-F4B61AFEFD1F}" type="presOf" srcId="{B721F5DA-E051-4FAF-B083-606D3DF855C5}" destId="{D13AF780-C1E1-44BB-9442-E241D3F40D4A}" srcOrd="0" destOrd="1" presId="urn:microsoft.com/office/officeart/2005/8/layout/list1"/>
    <dgm:cxn modelId="{A9AE7D2F-26A6-4243-9FFB-EC4E4BECE431}" type="presOf" srcId="{4AEAB63C-29BC-4F1A-B994-F2082F1E2B91}" destId="{AEF54E70-4DE5-4543-A7BF-12D2A25CD938}" srcOrd="0" destOrd="1" presId="urn:microsoft.com/office/officeart/2005/8/layout/list1"/>
    <dgm:cxn modelId="{FE3C5A35-BA72-4A4B-827D-40840B0464A8}" srcId="{F3AF5E6A-897E-4ACE-8A9E-CD22D40ADFA5}" destId="{A4D97700-BCAE-4A3A-B5A3-981720FB91BC}" srcOrd="2" destOrd="0" parTransId="{9ABA7C6F-9F4D-4013-8B21-A07FF85AE7D3}" sibTransId="{7E738AAB-AB89-4E1C-980E-F5D35B9E1E53}"/>
    <dgm:cxn modelId="{79599D3E-C4DC-45A0-9E50-8F3A14B733EB}" srcId="{A4D97700-BCAE-4A3A-B5A3-981720FB91BC}" destId="{4D306C7F-D2B3-413E-9DE9-52E563991AD1}" srcOrd="2" destOrd="0" parTransId="{ECBB0CD7-5279-4A99-ADB5-3B8478CC16A7}" sibTransId="{CDD59307-DC99-423E-8C74-FF8202A7ADEF}"/>
    <dgm:cxn modelId="{59446B5F-833C-450A-AD02-54A94444EBA6}" srcId="{7B018414-E768-4778-9B88-8E820ACB109C}" destId="{E93C7E12-0F2C-4158-9316-545B15DDFF8C}" srcOrd="1" destOrd="0" parTransId="{4AE50C88-220F-4884-BE6E-B1C4E5840AEF}" sibTransId="{F923019D-20B9-4902-A752-B6EEFE47524A}"/>
    <dgm:cxn modelId="{2A0F1E65-5140-4588-AD72-61E41BE5AC60}" type="presOf" srcId="{7B018414-E768-4778-9B88-8E820ACB109C}" destId="{100EABE9-CABA-413E-AF6B-56D03774A761}" srcOrd="1" destOrd="0" presId="urn:microsoft.com/office/officeart/2005/8/layout/list1"/>
    <dgm:cxn modelId="{C6262445-5CE3-496C-A422-B69CCBEC5390}" srcId="{A4D97700-BCAE-4A3A-B5A3-981720FB91BC}" destId="{4AEAB63C-29BC-4F1A-B994-F2082F1E2B91}" srcOrd="1" destOrd="0" parTransId="{AD555156-862A-43EF-9EF9-8F1E26F04E5D}" sibTransId="{D765B34E-3A5A-4817-9CEA-761A528FD71E}"/>
    <dgm:cxn modelId="{591B4A65-7B13-4853-9069-9CC682BBF54D}" type="presOf" srcId="{76A2A8B6-2C83-47BB-95AE-9AA6EADFD7F8}" destId="{F9C8C25B-17B1-46FC-808C-A1F9673674E2}" srcOrd="0" destOrd="0" presId="urn:microsoft.com/office/officeart/2005/8/layout/list1"/>
    <dgm:cxn modelId="{A5E8676B-497C-4DE8-B5D1-ECE5D70F99AB}" srcId="{71963D07-5733-4E27-A451-9B1969DA20C0}" destId="{40BA9664-454A-4AAA-9855-FCBC601089DC}" srcOrd="0" destOrd="0" parTransId="{2000B57E-DAE5-497A-9C9A-F6F84B4B855E}" sibTransId="{33DDF62B-6EEE-4C02-91BD-BC474CB04DA8}"/>
    <dgm:cxn modelId="{4F0FE44C-2076-4BF7-A376-9410582D8728}" type="presOf" srcId="{76A2A8B6-2C83-47BB-95AE-9AA6EADFD7F8}" destId="{D17EDC43-DBD9-4C3B-B544-388833534F2D}" srcOrd="1" destOrd="0" presId="urn:microsoft.com/office/officeart/2005/8/layout/list1"/>
    <dgm:cxn modelId="{DEC0F34F-06E3-4F90-AFEF-8EAE72BF3DA3}" type="presOf" srcId="{71963D07-5733-4E27-A451-9B1969DA20C0}" destId="{EE927680-B863-4661-AA70-445BD21D1153}" srcOrd="1" destOrd="0" presId="urn:microsoft.com/office/officeart/2005/8/layout/list1"/>
    <dgm:cxn modelId="{74855E50-E741-48C8-949A-D9361EEC0B2D}" srcId="{7B018414-E768-4778-9B88-8E820ACB109C}" destId="{981FB9F5-042D-4AD9-8DDE-391628E74F08}" srcOrd="3" destOrd="0" parTransId="{ECC4743E-1017-47FA-A93C-A073720F3F27}" sibTransId="{BFC2B07F-3432-4F00-B117-6C4B831F346F}"/>
    <dgm:cxn modelId="{7220FA76-1ED6-4204-B894-F237CE202A37}" type="presOf" srcId="{8B919A8D-0155-4960-97B6-7B41194D4C6D}" destId="{3961D80A-D986-4989-AAF5-DDD485598750}" srcOrd="0" destOrd="0" presId="urn:microsoft.com/office/officeart/2005/8/layout/list1"/>
    <dgm:cxn modelId="{46119F85-0C95-4924-8D27-18F3E23BF921}" srcId="{F3AF5E6A-897E-4ACE-8A9E-CD22D40ADFA5}" destId="{A57ECDC5-9FE6-4CEB-9F40-B9F7692D3E2D}" srcOrd="4" destOrd="0" parTransId="{95DBC3D5-3228-4E1B-A782-F918B0C199E2}" sibTransId="{E106E37B-DABA-4326-A381-E438D00DD4C4}"/>
    <dgm:cxn modelId="{A7CF638D-D085-4A23-B192-B0A582EDA17C}" type="presOf" srcId="{A4D97700-BCAE-4A3A-B5A3-981720FB91BC}" destId="{9AA88F4C-2871-4FD1-9A92-9842F744CC18}" srcOrd="1" destOrd="0" presId="urn:microsoft.com/office/officeart/2005/8/layout/list1"/>
    <dgm:cxn modelId="{C55CC68F-287C-4F62-B07E-77117FF580E3}" type="presOf" srcId="{0EAC2FAD-A0EE-4E07-B214-A17D4209B41D}" destId="{3961D80A-D986-4989-AAF5-DDD485598750}" srcOrd="0" destOrd="2" presId="urn:microsoft.com/office/officeart/2005/8/layout/list1"/>
    <dgm:cxn modelId="{6B3F26A0-607B-449B-96DA-A2BFA88C6118}" srcId="{7B018414-E768-4778-9B88-8E820ACB109C}" destId="{8B919A8D-0155-4960-97B6-7B41194D4C6D}" srcOrd="0" destOrd="0" parTransId="{773C4187-B1D6-4531-A75C-9074A50DCBCD}" sibTransId="{01BDE3CB-3E81-4EB1-A289-308953C5D4E9}"/>
    <dgm:cxn modelId="{56CCA4AE-4496-4486-AC44-9A424F7D78B0}" type="presOf" srcId="{71963D07-5733-4E27-A451-9B1969DA20C0}" destId="{52ACB75F-B9D4-4809-9B3A-0BEF21E6DE65}" srcOrd="0" destOrd="0" presId="urn:microsoft.com/office/officeart/2005/8/layout/list1"/>
    <dgm:cxn modelId="{292ED7B4-B638-45D9-9A4A-2D6B3A4A4C3D}" srcId="{71963D07-5733-4E27-A451-9B1969DA20C0}" destId="{B721F5DA-E051-4FAF-B083-606D3DF855C5}" srcOrd="1" destOrd="0" parTransId="{493ACDD9-78C0-402A-8093-06A8825C074D}" sibTransId="{5CA2123F-528E-4421-889B-3043D5C76D94}"/>
    <dgm:cxn modelId="{97D858B8-7EF8-4122-B36C-3356A5C1CAEB}" type="presOf" srcId="{40BA9664-454A-4AAA-9855-FCBC601089DC}" destId="{D13AF780-C1E1-44BB-9442-E241D3F40D4A}" srcOrd="0" destOrd="0" presId="urn:microsoft.com/office/officeart/2005/8/layout/list1"/>
    <dgm:cxn modelId="{4E5E78CC-0FFD-47C5-8E05-2A081451BAA9}" srcId="{7B018414-E768-4778-9B88-8E820ACB109C}" destId="{0EAC2FAD-A0EE-4E07-B214-A17D4209B41D}" srcOrd="2" destOrd="0" parTransId="{2CFDE694-E0A5-44ED-B54B-840827F484A9}" sibTransId="{57C3960C-7AF9-448D-A2DF-09BE276B6EFD}"/>
    <dgm:cxn modelId="{5527A4D1-773D-4143-873E-467C5803A8C2}" type="presOf" srcId="{7B018414-E768-4778-9B88-8E820ACB109C}" destId="{F786F013-4601-4EFD-B5E6-3F0BF6BD1757}" srcOrd="0" destOrd="0" presId="urn:microsoft.com/office/officeart/2005/8/layout/list1"/>
    <dgm:cxn modelId="{71DE9DD9-8FCC-4A62-A981-21C4AB6EE3B8}" type="presOf" srcId="{9AF15801-3AE2-4DEA-97FE-0ADF418C2BC0}" destId="{AEF54E70-4DE5-4543-A7BF-12D2A25CD938}" srcOrd="0" destOrd="0" presId="urn:microsoft.com/office/officeart/2005/8/layout/list1"/>
    <dgm:cxn modelId="{5ED503E4-0554-4B0F-B97A-56A8E3C273AD}" type="presOf" srcId="{C2A422C8-3C1D-45D5-9929-BACC25FD3245}" destId="{3961D80A-D986-4989-AAF5-DDD485598750}" srcOrd="0" destOrd="4" presId="urn:microsoft.com/office/officeart/2005/8/layout/list1"/>
    <dgm:cxn modelId="{D99AABE4-3F62-40B8-8622-92FDD97AAF12}" type="presOf" srcId="{981FB9F5-042D-4AD9-8DDE-391628E74F08}" destId="{3961D80A-D986-4989-AAF5-DDD485598750}" srcOrd="0" destOrd="3" presId="urn:microsoft.com/office/officeart/2005/8/layout/list1"/>
    <dgm:cxn modelId="{0BFBDAEA-3C6D-405B-9436-1ED417A612A3}" srcId="{F3AF5E6A-897E-4ACE-8A9E-CD22D40ADFA5}" destId="{7B018414-E768-4778-9B88-8E820ACB109C}" srcOrd="1" destOrd="0" parTransId="{BD1132D8-2B39-42DA-BEA8-B106C0DA955D}" sibTransId="{34B735FE-9C03-4EAB-896A-6508262EF755}"/>
    <dgm:cxn modelId="{546561EB-E111-42FD-87AB-B1C0776CCE34}" type="presOf" srcId="{F3AF5E6A-897E-4ACE-8A9E-CD22D40ADFA5}" destId="{A10AB25C-AA63-4D67-B249-7F4B90DF0D91}" srcOrd="0" destOrd="0" presId="urn:microsoft.com/office/officeart/2005/8/layout/list1"/>
    <dgm:cxn modelId="{800E10EC-CB6E-4D2C-A792-58B6ECD674CF}" type="presOf" srcId="{E93C7E12-0F2C-4158-9316-545B15DDFF8C}" destId="{3961D80A-D986-4989-AAF5-DDD485598750}" srcOrd="0" destOrd="1" presId="urn:microsoft.com/office/officeart/2005/8/layout/list1"/>
    <dgm:cxn modelId="{428E93EE-7769-4732-B5FD-213BFE33930A}" type="presOf" srcId="{4D306C7F-D2B3-413E-9DE9-52E563991AD1}" destId="{AEF54E70-4DE5-4543-A7BF-12D2A25CD938}" srcOrd="0" destOrd="2" presId="urn:microsoft.com/office/officeart/2005/8/layout/list1"/>
    <dgm:cxn modelId="{B35015F2-62D3-49F1-93DE-466882E886B5}" srcId="{F3AF5E6A-897E-4ACE-8A9E-CD22D40ADFA5}" destId="{76A2A8B6-2C83-47BB-95AE-9AA6EADFD7F8}" srcOrd="0" destOrd="0" parTransId="{E8C4CE6F-7F10-4B55-8B23-1EB321059FD3}" sibTransId="{385AFA9C-7141-44F0-B140-5C327E2BF164}"/>
    <dgm:cxn modelId="{CE3F87F7-9F2F-4736-8C85-B8179CED686D}" srcId="{A4D97700-BCAE-4A3A-B5A3-981720FB91BC}" destId="{9AF15801-3AE2-4DEA-97FE-0ADF418C2BC0}" srcOrd="0" destOrd="0" parTransId="{6C55AA38-4BE4-40CC-ADBB-343654D7A165}" sibTransId="{D4360C9D-A3CC-4885-83CF-E45E519EDD52}"/>
    <dgm:cxn modelId="{F25BF818-6827-4128-B862-5DB9032F91FA}" type="presParOf" srcId="{A10AB25C-AA63-4D67-B249-7F4B90DF0D91}" destId="{5CDCEAA8-380B-407F-A7E5-610DBB17B4CE}" srcOrd="0" destOrd="0" presId="urn:microsoft.com/office/officeart/2005/8/layout/list1"/>
    <dgm:cxn modelId="{BD527486-2265-4885-87D2-14E7829598C2}" type="presParOf" srcId="{5CDCEAA8-380B-407F-A7E5-610DBB17B4CE}" destId="{F9C8C25B-17B1-46FC-808C-A1F9673674E2}" srcOrd="0" destOrd="0" presId="urn:microsoft.com/office/officeart/2005/8/layout/list1"/>
    <dgm:cxn modelId="{A6292D41-C274-49E0-A46F-51E1EDA1ED6E}" type="presParOf" srcId="{5CDCEAA8-380B-407F-A7E5-610DBB17B4CE}" destId="{D17EDC43-DBD9-4C3B-B544-388833534F2D}" srcOrd="1" destOrd="0" presId="urn:microsoft.com/office/officeart/2005/8/layout/list1"/>
    <dgm:cxn modelId="{B21CF9E5-E6C1-465B-9B34-42CF0C69B68F}" type="presParOf" srcId="{A10AB25C-AA63-4D67-B249-7F4B90DF0D91}" destId="{000B5D4B-138F-483B-998B-AF828299AE0F}" srcOrd="1" destOrd="0" presId="urn:microsoft.com/office/officeart/2005/8/layout/list1"/>
    <dgm:cxn modelId="{84FBFFAD-5601-49E6-95AB-D1FB959F999C}" type="presParOf" srcId="{A10AB25C-AA63-4D67-B249-7F4B90DF0D91}" destId="{270CD2F2-D521-494A-9FE5-74349AFAD5BB}" srcOrd="2" destOrd="0" presId="urn:microsoft.com/office/officeart/2005/8/layout/list1"/>
    <dgm:cxn modelId="{D302C55B-0228-40D3-90C0-08172790CAEA}" type="presParOf" srcId="{A10AB25C-AA63-4D67-B249-7F4B90DF0D91}" destId="{FA664BD1-4B7E-462C-83E1-C9D50D4CC56B}" srcOrd="3" destOrd="0" presId="urn:microsoft.com/office/officeart/2005/8/layout/list1"/>
    <dgm:cxn modelId="{C768DB44-CBF0-45B7-A81C-29298A2F5773}" type="presParOf" srcId="{A10AB25C-AA63-4D67-B249-7F4B90DF0D91}" destId="{ABDED82F-71B3-41C1-B397-DA6B871521E8}" srcOrd="4" destOrd="0" presId="urn:microsoft.com/office/officeart/2005/8/layout/list1"/>
    <dgm:cxn modelId="{02499C9E-32B2-4F13-BD9D-BA25422CF6D8}" type="presParOf" srcId="{ABDED82F-71B3-41C1-B397-DA6B871521E8}" destId="{F786F013-4601-4EFD-B5E6-3F0BF6BD1757}" srcOrd="0" destOrd="0" presId="urn:microsoft.com/office/officeart/2005/8/layout/list1"/>
    <dgm:cxn modelId="{05932737-EC84-40CF-8543-CAA470F45116}" type="presParOf" srcId="{ABDED82F-71B3-41C1-B397-DA6B871521E8}" destId="{100EABE9-CABA-413E-AF6B-56D03774A761}" srcOrd="1" destOrd="0" presId="urn:microsoft.com/office/officeart/2005/8/layout/list1"/>
    <dgm:cxn modelId="{149D7F37-19F0-4BB8-B0E8-4D49C16FD668}" type="presParOf" srcId="{A10AB25C-AA63-4D67-B249-7F4B90DF0D91}" destId="{9A6F9AA9-DE8F-40AF-8E52-8DC057652661}" srcOrd="5" destOrd="0" presId="urn:microsoft.com/office/officeart/2005/8/layout/list1"/>
    <dgm:cxn modelId="{67CB73C5-C9F1-47B8-A7D6-55C91B35956E}" type="presParOf" srcId="{A10AB25C-AA63-4D67-B249-7F4B90DF0D91}" destId="{3961D80A-D986-4989-AAF5-DDD485598750}" srcOrd="6" destOrd="0" presId="urn:microsoft.com/office/officeart/2005/8/layout/list1"/>
    <dgm:cxn modelId="{64072AA1-31F3-4AF6-AF53-5B7100D64288}" type="presParOf" srcId="{A10AB25C-AA63-4D67-B249-7F4B90DF0D91}" destId="{27FFDB28-BF85-4CCB-B3B7-14FD4781E2ED}" srcOrd="7" destOrd="0" presId="urn:microsoft.com/office/officeart/2005/8/layout/list1"/>
    <dgm:cxn modelId="{2AE611F3-9816-485C-8E97-E2BAC0C54B7D}" type="presParOf" srcId="{A10AB25C-AA63-4D67-B249-7F4B90DF0D91}" destId="{2CDBAEE9-CEF7-460D-8BE5-3474038FA80D}" srcOrd="8" destOrd="0" presId="urn:microsoft.com/office/officeart/2005/8/layout/list1"/>
    <dgm:cxn modelId="{2A50C48A-B1FF-4C35-9B13-268A70503043}" type="presParOf" srcId="{2CDBAEE9-CEF7-460D-8BE5-3474038FA80D}" destId="{CA420F3D-F0F6-4AA9-BB24-51D8E7C892DF}" srcOrd="0" destOrd="0" presId="urn:microsoft.com/office/officeart/2005/8/layout/list1"/>
    <dgm:cxn modelId="{6EE65C89-6745-4D7A-89E4-8558A018AFBE}" type="presParOf" srcId="{2CDBAEE9-CEF7-460D-8BE5-3474038FA80D}" destId="{9AA88F4C-2871-4FD1-9A92-9842F744CC18}" srcOrd="1" destOrd="0" presId="urn:microsoft.com/office/officeart/2005/8/layout/list1"/>
    <dgm:cxn modelId="{BBE7F55F-518B-45B9-823F-6B65746B50A4}" type="presParOf" srcId="{A10AB25C-AA63-4D67-B249-7F4B90DF0D91}" destId="{6EF58A68-A195-4874-B1F9-9FB2A7BEF642}" srcOrd="9" destOrd="0" presId="urn:microsoft.com/office/officeart/2005/8/layout/list1"/>
    <dgm:cxn modelId="{A62851C2-18F2-44DD-9E5A-F31B880288FF}" type="presParOf" srcId="{A10AB25C-AA63-4D67-B249-7F4B90DF0D91}" destId="{AEF54E70-4DE5-4543-A7BF-12D2A25CD938}" srcOrd="10" destOrd="0" presId="urn:microsoft.com/office/officeart/2005/8/layout/list1"/>
    <dgm:cxn modelId="{A198F813-E827-4668-B33E-001FAB160F9E}" type="presParOf" srcId="{A10AB25C-AA63-4D67-B249-7F4B90DF0D91}" destId="{A0BD868C-DAB2-44A2-AC5D-0986EC2E1C8D}" srcOrd="11" destOrd="0" presId="urn:microsoft.com/office/officeart/2005/8/layout/list1"/>
    <dgm:cxn modelId="{92958986-964D-4F44-8C7B-60F01917D6A9}" type="presParOf" srcId="{A10AB25C-AA63-4D67-B249-7F4B90DF0D91}" destId="{2DC18998-AD6A-4421-A355-298EAB404DE8}" srcOrd="12" destOrd="0" presId="urn:microsoft.com/office/officeart/2005/8/layout/list1"/>
    <dgm:cxn modelId="{8AE9C95B-2622-420A-989C-BDFC7D372FE1}" type="presParOf" srcId="{2DC18998-AD6A-4421-A355-298EAB404DE8}" destId="{52ACB75F-B9D4-4809-9B3A-0BEF21E6DE65}" srcOrd="0" destOrd="0" presId="urn:microsoft.com/office/officeart/2005/8/layout/list1"/>
    <dgm:cxn modelId="{4300BAB3-B8B0-460C-87E2-2DCDF816D94F}" type="presParOf" srcId="{2DC18998-AD6A-4421-A355-298EAB404DE8}" destId="{EE927680-B863-4661-AA70-445BD21D1153}" srcOrd="1" destOrd="0" presId="urn:microsoft.com/office/officeart/2005/8/layout/list1"/>
    <dgm:cxn modelId="{EE4A431A-38EF-46ED-A9CD-A524980F5515}" type="presParOf" srcId="{A10AB25C-AA63-4D67-B249-7F4B90DF0D91}" destId="{ED92ABF8-5369-4AD0-BC5D-B418F241557A}" srcOrd="13" destOrd="0" presId="urn:microsoft.com/office/officeart/2005/8/layout/list1"/>
    <dgm:cxn modelId="{3EE62D93-117D-4854-93C2-7F6508106F39}" type="presParOf" srcId="{A10AB25C-AA63-4D67-B249-7F4B90DF0D91}" destId="{D13AF780-C1E1-44BB-9442-E241D3F40D4A}" srcOrd="14" destOrd="0" presId="urn:microsoft.com/office/officeart/2005/8/layout/list1"/>
    <dgm:cxn modelId="{19721783-F39A-4830-BEB5-78C5E7511C79}" type="presParOf" srcId="{A10AB25C-AA63-4D67-B249-7F4B90DF0D91}" destId="{D2844133-2C68-4DE2-B705-AD0E5954D7F9}" srcOrd="15" destOrd="0" presId="urn:microsoft.com/office/officeart/2005/8/layout/list1"/>
    <dgm:cxn modelId="{CBFB5DBC-A9C4-430D-82AF-6AF82F478A2E}" type="presParOf" srcId="{A10AB25C-AA63-4D67-B249-7F4B90DF0D91}" destId="{E1406C94-CBF3-4A3F-9A38-612A576B0C68}" srcOrd="16" destOrd="0" presId="urn:microsoft.com/office/officeart/2005/8/layout/list1"/>
    <dgm:cxn modelId="{F12FAF30-AD83-4516-BAD2-AED6FA7186C8}" type="presParOf" srcId="{E1406C94-CBF3-4A3F-9A38-612A576B0C68}" destId="{C8C24225-FBEB-4945-8A89-10875DEB5D88}" srcOrd="0" destOrd="0" presId="urn:microsoft.com/office/officeart/2005/8/layout/list1"/>
    <dgm:cxn modelId="{13519531-685C-471A-A0B6-13C47C375D04}" type="presParOf" srcId="{E1406C94-CBF3-4A3F-9A38-612A576B0C68}" destId="{CAE1B171-4620-45F7-BE20-F17422F95C17}" srcOrd="1" destOrd="0" presId="urn:microsoft.com/office/officeart/2005/8/layout/list1"/>
    <dgm:cxn modelId="{9F7E6085-4BED-4132-A285-A0E78210DE06}" type="presParOf" srcId="{A10AB25C-AA63-4D67-B249-7F4B90DF0D91}" destId="{48746679-7564-4E83-9DE2-8B4D96197CF7}" srcOrd="17" destOrd="0" presId="urn:microsoft.com/office/officeart/2005/8/layout/list1"/>
    <dgm:cxn modelId="{E6773A81-7F02-42D8-B4B7-9892E35795B1}" type="presParOf" srcId="{A10AB25C-AA63-4D67-B249-7F4B90DF0D91}" destId="{8364B185-9250-4C92-B384-F28843992C81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3AF5E6A-897E-4ACE-8A9E-CD22D40ADFA5}" type="doc">
      <dgm:prSet loTypeId="urn:microsoft.com/office/officeart/2005/8/layout/list1" loCatId="list" qsTypeId="urn:microsoft.com/office/officeart/2005/8/quickstyle/simple1#2" qsCatId="simple" csTypeId="urn:microsoft.com/office/officeart/2005/8/colors/accent2_2#2" csCatId="accent2" phldr="1"/>
      <dgm:spPr/>
      <dgm:t>
        <a:bodyPr/>
        <a:lstStyle/>
        <a:p>
          <a:endParaRPr lang="en-US"/>
        </a:p>
      </dgm:t>
    </dgm:pt>
    <dgm:pt modelId="{76A2A8B6-2C83-47BB-95AE-9AA6EADFD7F8}">
      <dgm:prSet custT="1"/>
      <dgm:spPr/>
      <dgm:t>
        <a:bodyPr/>
        <a:lstStyle/>
        <a:p>
          <a:r>
            <a:rPr lang="en-US" sz="1200" b="1">
              <a:effectLst/>
            </a:rPr>
            <a:t>Business Impact</a:t>
          </a:r>
          <a:endParaRPr lang="en-US" sz="1200"/>
        </a:p>
      </dgm:t>
    </dgm:pt>
    <dgm:pt modelId="{E8C4CE6F-7F10-4B55-8B23-1EB321059FD3}" type="parTrans" cxnId="{B35015F2-62D3-49F1-93DE-466882E886B5}">
      <dgm:prSet/>
      <dgm:spPr/>
      <dgm:t>
        <a:bodyPr/>
        <a:lstStyle/>
        <a:p>
          <a:endParaRPr lang="en-US"/>
        </a:p>
      </dgm:t>
    </dgm:pt>
    <dgm:pt modelId="{385AFA9C-7141-44F0-B140-5C327E2BF164}" type="sibTrans" cxnId="{B35015F2-62D3-49F1-93DE-466882E886B5}">
      <dgm:prSet/>
      <dgm:spPr/>
      <dgm:t>
        <a:bodyPr/>
        <a:lstStyle/>
        <a:p>
          <a:endParaRPr lang="en-US"/>
        </a:p>
      </dgm:t>
    </dgm:pt>
    <dgm:pt modelId="{7B018414-E768-4778-9B88-8E820ACB109C}">
      <dgm:prSet/>
      <dgm:spPr/>
      <dgm:t>
        <a:bodyPr/>
        <a:lstStyle/>
        <a:p>
          <a:r>
            <a:rPr lang="en-US" b="1">
              <a:effectLst/>
            </a:rPr>
            <a:t>Financial Penalties</a:t>
          </a:r>
          <a:endParaRPr lang="en-US"/>
        </a:p>
      </dgm:t>
    </dgm:pt>
    <dgm:pt modelId="{BD1132D8-2B39-42DA-BEA8-B106C0DA955D}" type="parTrans" cxnId="{0BFBDAEA-3C6D-405B-9436-1ED417A612A3}">
      <dgm:prSet/>
      <dgm:spPr/>
      <dgm:t>
        <a:bodyPr/>
        <a:lstStyle/>
        <a:p>
          <a:endParaRPr lang="en-US"/>
        </a:p>
      </dgm:t>
    </dgm:pt>
    <dgm:pt modelId="{34B735FE-9C03-4EAB-896A-6508262EF755}" type="sibTrans" cxnId="{0BFBDAEA-3C6D-405B-9436-1ED417A612A3}">
      <dgm:prSet/>
      <dgm:spPr/>
      <dgm:t>
        <a:bodyPr/>
        <a:lstStyle/>
        <a:p>
          <a:endParaRPr lang="en-US"/>
        </a:p>
      </dgm:t>
    </dgm:pt>
    <dgm:pt modelId="{8B919A8D-0155-4960-97B6-7B41194D4C6D}">
      <dgm:prSet/>
      <dgm:spPr/>
      <dgm:t>
        <a:bodyPr/>
        <a:lstStyle/>
        <a:p>
          <a:pPr marL="114300" lvl="1" indent="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en-US" sz="1200" kern="1200">
              <a:effectLst/>
            </a:rPr>
            <a:t>OVO paid </a:t>
          </a:r>
          <a:r>
            <a:rPr lang="en-US" sz="1200" b="1" kern="1200">
              <a:effectLst/>
            </a:rPr>
            <a:t>£378,512 directly to affected customers</a:t>
          </a:r>
          <a:r>
            <a:rPr lang="en-US" sz="1200" kern="1200">
              <a:effectLst/>
            </a:rPr>
            <a:t>.</a:t>
          </a:r>
          <a:endParaRPr lang="en-US" sz="1200" kern="1200"/>
        </a:p>
      </dgm:t>
    </dgm:pt>
    <dgm:pt modelId="{773C4187-B1D6-4531-A75C-9074A50DCBCD}" type="parTrans" cxnId="{6B3F26A0-607B-449B-96DA-A2BFA88C6118}">
      <dgm:prSet/>
      <dgm:spPr/>
      <dgm:t>
        <a:bodyPr/>
        <a:lstStyle/>
        <a:p>
          <a:endParaRPr lang="en-US"/>
        </a:p>
      </dgm:t>
    </dgm:pt>
    <dgm:pt modelId="{01BDE3CB-3E81-4EB1-A289-308953C5D4E9}" type="sibTrans" cxnId="{6B3F26A0-607B-449B-96DA-A2BFA88C6118}">
      <dgm:prSet/>
      <dgm:spPr/>
      <dgm:t>
        <a:bodyPr/>
        <a:lstStyle/>
        <a:p>
          <a:endParaRPr lang="en-US"/>
        </a:p>
      </dgm:t>
    </dgm:pt>
    <dgm:pt modelId="{A4D97700-BCAE-4A3A-B5A3-981720FB91BC}">
      <dgm:prSet/>
      <dgm:spPr/>
      <dgm:t>
        <a:bodyPr/>
        <a:lstStyle/>
        <a:p>
          <a:r>
            <a:rPr lang="en-US" b="1">
              <a:effectLst/>
            </a:rPr>
            <a:t>Customer Churn &amp; Revenue Risk</a:t>
          </a:r>
          <a:endParaRPr lang="en-US"/>
        </a:p>
      </dgm:t>
    </dgm:pt>
    <dgm:pt modelId="{9ABA7C6F-9F4D-4013-8B21-A07FF85AE7D3}" type="parTrans" cxnId="{FE3C5A35-BA72-4A4B-827D-40840B0464A8}">
      <dgm:prSet/>
      <dgm:spPr/>
      <dgm:t>
        <a:bodyPr/>
        <a:lstStyle/>
        <a:p>
          <a:endParaRPr lang="en-US"/>
        </a:p>
      </dgm:t>
    </dgm:pt>
    <dgm:pt modelId="{7E738AAB-AB89-4E1C-980E-F5D35B9E1E53}" type="sibTrans" cxnId="{FE3C5A35-BA72-4A4B-827D-40840B0464A8}">
      <dgm:prSet/>
      <dgm:spPr/>
      <dgm:t>
        <a:bodyPr/>
        <a:lstStyle/>
        <a:p>
          <a:endParaRPr lang="en-US"/>
        </a:p>
      </dgm:t>
    </dgm:pt>
    <dgm:pt modelId="{9AF15801-3AE2-4DEA-97FE-0ADF418C2BC0}">
      <dgm:prSet/>
      <dgm:spPr/>
      <dgm:t>
        <a:bodyPr/>
        <a:lstStyle/>
        <a:p>
          <a:pPr marL="114300" lvl="1" indent="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en-US" sz="1200" b="1" kern="1200">
              <a:effectLst/>
            </a:rPr>
            <a:t>1.2 million energy customers</a:t>
          </a:r>
          <a:r>
            <a:rPr lang="en-US" sz="1200" kern="1200">
              <a:effectLst/>
            </a:rPr>
            <a:t> were estimated to be </a:t>
          </a:r>
          <a:r>
            <a:rPr lang="en-US" sz="1200" b="1" kern="1200">
              <a:effectLst/>
            </a:rPr>
            <a:t>£166 million worse off</a:t>
          </a:r>
          <a:r>
            <a:rPr lang="en-US" sz="1200" kern="1200">
              <a:effectLst/>
            </a:rPr>
            <a:t> after abandoning attempts to resolve issues with their supplier.</a:t>
          </a:r>
          <a:endParaRPr lang="en-US" sz="1200" kern="1200"/>
        </a:p>
      </dgm:t>
    </dgm:pt>
    <dgm:pt modelId="{6C55AA38-4BE4-40CC-ADBB-343654D7A165}" type="parTrans" cxnId="{CE3F87F7-9F2F-4736-8C85-B8179CED686D}">
      <dgm:prSet/>
      <dgm:spPr/>
      <dgm:t>
        <a:bodyPr/>
        <a:lstStyle/>
        <a:p>
          <a:endParaRPr lang="en-US"/>
        </a:p>
      </dgm:t>
    </dgm:pt>
    <dgm:pt modelId="{D4360C9D-A3CC-4885-83CF-E45E519EDD52}" type="sibTrans" cxnId="{CE3F87F7-9F2F-4736-8C85-B8179CED686D}">
      <dgm:prSet/>
      <dgm:spPr/>
      <dgm:t>
        <a:bodyPr/>
        <a:lstStyle/>
        <a:p>
          <a:endParaRPr lang="en-US"/>
        </a:p>
      </dgm:t>
    </dgm:pt>
    <dgm:pt modelId="{71963D07-5733-4E27-A451-9B1969DA20C0}">
      <dgm:prSet/>
      <dgm:spPr/>
      <dgm:t>
        <a:bodyPr/>
        <a:lstStyle/>
        <a:p>
          <a:r>
            <a:rPr lang="en-US" b="1">
              <a:effectLst/>
            </a:rPr>
            <a:t>Operational Cost</a:t>
          </a:r>
          <a:endParaRPr lang="en-US"/>
        </a:p>
      </dgm:t>
    </dgm:pt>
    <dgm:pt modelId="{C8F12BE5-1EC5-456D-A0A8-6C23C489E1AB}" type="parTrans" cxnId="{ED3B480F-B4A4-48D7-A7BF-43A5C95B00C4}">
      <dgm:prSet/>
      <dgm:spPr/>
      <dgm:t>
        <a:bodyPr/>
        <a:lstStyle/>
        <a:p>
          <a:endParaRPr lang="en-US"/>
        </a:p>
      </dgm:t>
    </dgm:pt>
    <dgm:pt modelId="{0A48B4E5-F67A-4C10-9309-EE2D3D738FC7}" type="sibTrans" cxnId="{ED3B480F-B4A4-48D7-A7BF-43A5C95B00C4}">
      <dgm:prSet/>
      <dgm:spPr/>
      <dgm:t>
        <a:bodyPr/>
        <a:lstStyle/>
        <a:p>
          <a:endParaRPr lang="en-US"/>
        </a:p>
      </dgm:t>
    </dgm:pt>
    <dgm:pt modelId="{40BA9664-454A-4AAA-9855-FCBC601089DC}">
      <dgm:prSet/>
      <dgm:spPr/>
      <dgm:t>
        <a:bodyPr/>
        <a:lstStyle/>
        <a:p>
          <a:r>
            <a:rPr lang="en-US">
              <a:effectLst/>
            </a:rPr>
            <a:t>Customers spent an estimated </a:t>
          </a:r>
          <a:r>
            <a:rPr lang="en-US" b="1">
              <a:effectLst/>
            </a:rPr>
            <a:t>13.9 million hours</a:t>
          </a:r>
          <a:r>
            <a:rPr lang="en-US">
              <a:effectLst/>
            </a:rPr>
            <a:t> dealing with energy-service issues.</a:t>
          </a:r>
          <a:endParaRPr lang="en-US"/>
        </a:p>
      </dgm:t>
    </dgm:pt>
    <dgm:pt modelId="{2000B57E-DAE5-497A-9C9A-F6F84B4B855E}" type="parTrans" cxnId="{A5E8676B-497C-4DE8-B5D1-ECE5D70F99AB}">
      <dgm:prSet/>
      <dgm:spPr/>
      <dgm:t>
        <a:bodyPr/>
        <a:lstStyle/>
        <a:p>
          <a:endParaRPr lang="en-US"/>
        </a:p>
      </dgm:t>
    </dgm:pt>
    <dgm:pt modelId="{33DDF62B-6EEE-4C02-91BD-BC474CB04DA8}" type="sibTrans" cxnId="{A5E8676B-497C-4DE8-B5D1-ECE5D70F99AB}">
      <dgm:prSet/>
      <dgm:spPr/>
      <dgm:t>
        <a:bodyPr/>
        <a:lstStyle/>
        <a:p>
          <a:endParaRPr lang="en-US"/>
        </a:p>
      </dgm:t>
    </dgm:pt>
    <dgm:pt modelId="{35875F52-9517-4274-B9EB-96A02F2D4C22}">
      <dgm:prSet/>
      <dgm:spPr/>
      <dgm:t>
        <a:bodyPr/>
        <a:lstStyle/>
        <a:p>
          <a:pPr marL="114300" lvl="1" indent="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en-US" sz="1200" kern="1200">
              <a:effectLst/>
            </a:rPr>
            <a:t>Additional </a:t>
          </a:r>
          <a:r>
            <a:rPr lang="en-US" sz="1200" b="1" kern="1200">
              <a:effectLst/>
            </a:rPr>
            <a:t>£2 million contribution</a:t>
          </a:r>
          <a:r>
            <a:rPr lang="en-US" sz="1200" kern="1200">
              <a:effectLst/>
            </a:rPr>
            <a:t> made to the Energy Industry Voluntary Redress Scheme.</a:t>
          </a:r>
        </a:p>
      </dgm:t>
    </dgm:pt>
    <dgm:pt modelId="{2ED043FB-4753-4C89-A27E-311994268193}" type="parTrans" cxnId="{0401208E-13BA-4EF8-8FF9-E12FBEB0356A}">
      <dgm:prSet/>
      <dgm:spPr/>
      <dgm:t>
        <a:bodyPr/>
        <a:lstStyle/>
        <a:p>
          <a:endParaRPr lang="en-US"/>
        </a:p>
      </dgm:t>
    </dgm:pt>
    <dgm:pt modelId="{7029FEFC-6377-4E0D-B609-AB07ADD422CD}" type="sibTrans" cxnId="{0401208E-13BA-4EF8-8FF9-E12FBEB0356A}">
      <dgm:prSet/>
      <dgm:spPr/>
      <dgm:t>
        <a:bodyPr/>
        <a:lstStyle/>
        <a:p>
          <a:endParaRPr lang="en-US"/>
        </a:p>
      </dgm:t>
    </dgm:pt>
    <dgm:pt modelId="{3D48FF11-F185-4CB3-A993-E941518FF63E}">
      <dgm:prSet/>
      <dgm:spPr/>
      <dgm:t>
        <a:bodyPr/>
        <a:lstStyle/>
        <a:p>
          <a:pPr marL="114300" lvl="1" indent="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en-US" sz="1200" kern="1200">
              <a:effectLst/>
            </a:rPr>
            <a:t>Total remediation cost exceeded </a:t>
          </a:r>
          <a:r>
            <a:rPr lang="en-US" sz="1200" b="1" kern="1200">
              <a:effectLst/>
            </a:rPr>
            <a:t>£2.37 million</a:t>
          </a:r>
          <a:r>
            <a:rPr lang="en-US" sz="1200" kern="1200">
              <a:effectLst/>
            </a:rPr>
            <a:t>.</a:t>
          </a:r>
        </a:p>
      </dgm:t>
    </dgm:pt>
    <dgm:pt modelId="{08820AC3-3815-41DF-A4C6-8D854ADD4926}" type="parTrans" cxnId="{845018AA-17E9-4FF4-AFA3-1912F81575E8}">
      <dgm:prSet/>
      <dgm:spPr/>
      <dgm:t>
        <a:bodyPr/>
        <a:lstStyle/>
        <a:p>
          <a:endParaRPr lang="en-US"/>
        </a:p>
      </dgm:t>
    </dgm:pt>
    <dgm:pt modelId="{7BE592DC-B58B-4A31-92A7-8A00696A764D}" type="sibTrans" cxnId="{845018AA-17E9-4FF4-AFA3-1912F81575E8}">
      <dgm:prSet/>
      <dgm:spPr/>
      <dgm:t>
        <a:bodyPr/>
        <a:lstStyle/>
        <a:p>
          <a:endParaRPr lang="en-US"/>
        </a:p>
      </dgm:t>
    </dgm:pt>
    <dgm:pt modelId="{6A552F90-B89E-403A-9BFF-26660283FDBC}">
      <dgm:prSet/>
      <dgm:spPr/>
      <dgm:t>
        <a:bodyPr/>
        <a:lstStyle/>
        <a:p>
          <a:r>
            <a:rPr lang="en-US">
              <a:effectLst/>
            </a:rPr>
            <a:t>Equivalent to roughly </a:t>
          </a:r>
          <a:r>
            <a:rPr lang="en-US" b="1">
              <a:effectLst/>
            </a:rPr>
            <a:t>1,600 years of customer time lost</a:t>
          </a:r>
          <a:r>
            <a:rPr lang="en-US">
              <a:effectLst/>
            </a:rPr>
            <a:t>.</a:t>
          </a:r>
        </a:p>
      </dgm:t>
    </dgm:pt>
    <dgm:pt modelId="{DF2133BF-9CEB-4EE5-A9BA-D38FB205AF37}" type="parTrans" cxnId="{997F8359-A7D4-4208-9DB2-8EDAF6348E97}">
      <dgm:prSet/>
      <dgm:spPr/>
      <dgm:t>
        <a:bodyPr/>
        <a:lstStyle/>
        <a:p>
          <a:endParaRPr lang="en-US"/>
        </a:p>
      </dgm:t>
    </dgm:pt>
    <dgm:pt modelId="{B0BF5A28-C52B-4A59-AC5F-7BAE8CD5D14B}" type="sibTrans" cxnId="{997F8359-A7D4-4208-9DB2-8EDAF6348E97}">
      <dgm:prSet/>
      <dgm:spPr/>
      <dgm:t>
        <a:bodyPr/>
        <a:lstStyle/>
        <a:p>
          <a:endParaRPr lang="en-US"/>
        </a:p>
      </dgm:t>
    </dgm:pt>
    <dgm:pt modelId="{755C551E-2720-4C34-9FF9-831F0DC5A252}">
      <dgm:prSet custT="1"/>
      <dgm:spPr/>
      <dgm:t>
        <a:bodyPr/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q"/>
          </a:pPr>
          <a:r>
            <a:rPr lang="en-US" sz="800" b="1" kern="1200">
              <a:solidFill>
                <a:srgbClr val="00263E"/>
              </a:solidFill>
              <a:latin typeface="Aptos"/>
              <a:ea typeface="+mn-ea"/>
              <a:cs typeface="+mn-cs"/>
            </a:rPr>
            <a:t>Source: Ofgem Enforcement Action</a:t>
          </a:r>
        </a:p>
      </dgm:t>
    </dgm:pt>
    <dgm:pt modelId="{283BFB1F-BFC3-4C09-B890-A04C46B61DCC}" type="parTrans" cxnId="{FDE59EB3-0118-4782-A656-5B80AFCF4BB4}">
      <dgm:prSet/>
      <dgm:spPr/>
      <dgm:t>
        <a:bodyPr/>
        <a:lstStyle/>
        <a:p>
          <a:endParaRPr lang="en-US"/>
        </a:p>
      </dgm:t>
    </dgm:pt>
    <dgm:pt modelId="{2DE9EA55-12AA-4116-A36D-84EF4C478E08}" type="sibTrans" cxnId="{FDE59EB3-0118-4782-A656-5B80AFCF4BB4}">
      <dgm:prSet/>
      <dgm:spPr/>
      <dgm:t>
        <a:bodyPr/>
        <a:lstStyle/>
        <a:p>
          <a:endParaRPr lang="en-US"/>
        </a:p>
      </dgm:t>
    </dgm:pt>
    <dgm:pt modelId="{B787E83E-4FEF-400E-9CB4-E65669AE3887}">
      <dgm:prSet custT="1"/>
      <dgm:spPr/>
      <dgm:t>
        <a:bodyPr/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q"/>
          </a:pPr>
          <a:r>
            <a:rPr lang="en-US" sz="800" b="1" kern="1200">
              <a:solidFill>
                <a:srgbClr val="00263E"/>
              </a:solidFill>
              <a:latin typeface="Aptos"/>
              <a:ea typeface="+mn-ea"/>
              <a:cs typeface="+mn-cs"/>
            </a:rPr>
            <a:t>Source: UK Government consultation response</a:t>
          </a:r>
        </a:p>
      </dgm:t>
    </dgm:pt>
    <dgm:pt modelId="{3936ED46-1DB6-4EB2-A346-15E23D93FF29}" type="parTrans" cxnId="{AD92A8E9-8079-4F92-B7E4-AD42696F4618}">
      <dgm:prSet/>
      <dgm:spPr/>
      <dgm:t>
        <a:bodyPr/>
        <a:lstStyle/>
        <a:p>
          <a:endParaRPr lang="en-US"/>
        </a:p>
      </dgm:t>
    </dgm:pt>
    <dgm:pt modelId="{B10E5062-DCFC-4D54-8D1A-DD909BB40244}" type="sibTrans" cxnId="{AD92A8E9-8079-4F92-B7E4-AD42696F4618}">
      <dgm:prSet/>
      <dgm:spPr/>
      <dgm:t>
        <a:bodyPr/>
        <a:lstStyle/>
        <a:p>
          <a:endParaRPr lang="en-US"/>
        </a:p>
      </dgm:t>
    </dgm:pt>
    <dgm:pt modelId="{180CE50F-5554-4C76-BBC9-6C453D34EE73}" type="pres">
      <dgm:prSet presAssocID="{F3AF5E6A-897E-4ACE-8A9E-CD22D40ADFA5}" presName="linear" presStyleCnt="0">
        <dgm:presLayoutVars>
          <dgm:dir/>
          <dgm:animLvl val="lvl"/>
          <dgm:resizeHandles val="exact"/>
        </dgm:presLayoutVars>
      </dgm:prSet>
      <dgm:spPr/>
    </dgm:pt>
    <dgm:pt modelId="{5C5D5924-5AC7-490A-8175-76F6340A3B21}" type="pres">
      <dgm:prSet presAssocID="{76A2A8B6-2C83-47BB-95AE-9AA6EADFD7F8}" presName="parentLin" presStyleCnt="0"/>
      <dgm:spPr/>
    </dgm:pt>
    <dgm:pt modelId="{E095D19A-3890-4321-8A4E-20CBEE5F2A9C}" type="pres">
      <dgm:prSet presAssocID="{76A2A8B6-2C83-47BB-95AE-9AA6EADFD7F8}" presName="parentLeftMargin" presStyleLbl="node1" presStyleIdx="0" presStyleCnt="4"/>
      <dgm:spPr/>
    </dgm:pt>
    <dgm:pt modelId="{18B0FFE6-B10C-4FC8-BAF3-3A26E8C5FE16}" type="pres">
      <dgm:prSet presAssocID="{76A2A8B6-2C83-47BB-95AE-9AA6EADFD7F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3361309-AC1A-41CD-88E0-17873096EEB5}" type="pres">
      <dgm:prSet presAssocID="{76A2A8B6-2C83-47BB-95AE-9AA6EADFD7F8}" presName="negativeSpace" presStyleCnt="0"/>
      <dgm:spPr/>
    </dgm:pt>
    <dgm:pt modelId="{9261BB1F-EB71-416E-814A-5B9AC78A32C0}" type="pres">
      <dgm:prSet presAssocID="{76A2A8B6-2C83-47BB-95AE-9AA6EADFD7F8}" presName="childText" presStyleLbl="conFgAcc1" presStyleIdx="0" presStyleCnt="4">
        <dgm:presLayoutVars>
          <dgm:bulletEnabled val="1"/>
        </dgm:presLayoutVars>
      </dgm:prSet>
      <dgm:spPr/>
    </dgm:pt>
    <dgm:pt modelId="{7E4A7AF5-7898-4716-A4E9-72DA3A09093A}" type="pres">
      <dgm:prSet presAssocID="{385AFA9C-7141-44F0-B140-5C327E2BF164}" presName="spaceBetweenRectangles" presStyleCnt="0"/>
      <dgm:spPr/>
    </dgm:pt>
    <dgm:pt modelId="{1497935A-5F94-4AAA-950A-EC80E050E778}" type="pres">
      <dgm:prSet presAssocID="{7B018414-E768-4778-9B88-8E820ACB109C}" presName="parentLin" presStyleCnt="0"/>
      <dgm:spPr/>
    </dgm:pt>
    <dgm:pt modelId="{4A3E113F-A0C9-4607-B6B3-5FDED7D44F6A}" type="pres">
      <dgm:prSet presAssocID="{7B018414-E768-4778-9B88-8E820ACB109C}" presName="parentLeftMargin" presStyleLbl="node1" presStyleIdx="0" presStyleCnt="4"/>
      <dgm:spPr/>
    </dgm:pt>
    <dgm:pt modelId="{5049F503-F2B2-4EE4-AD5B-0F6383BFC45A}" type="pres">
      <dgm:prSet presAssocID="{7B018414-E768-4778-9B88-8E820ACB109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E955290-5F29-405F-8C62-ED76DD5DAD52}" type="pres">
      <dgm:prSet presAssocID="{7B018414-E768-4778-9B88-8E820ACB109C}" presName="negativeSpace" presStyleCnt="0"/>
      <dgm:spPr/>
    </dgm:pt>
    <dgm:pt modelId="{97D32938-A651-48D8-9A9E-1EDE5BC77941}" type="pres">
      <dgm:prSet presAssocID="{7B018414-E768-4778-9B88-8E820ACB109C}" presName="childText" presStyleLbl="conFgAcc1" presStyleIdx="1" presStyleCnt="4">
        <dgm:presLayoutVars>
          <dgm:bulletEnabled val="1"/>
        </dgm:presLayoutVars>
      </dgm:prSet>
      <dgm:spPr/>
    </dgm:pt>
    <dgm:pt modelId="{8387FC2A-284F-4604-9233-11B12AA2D118}" type="pres">
      <dgm:prSet presAssocID="{34B735FE-9C03-4EAB-896A-6508262EF755}" presName="spaceBetweenRectangles" presStyleCnt="0"/>
      <dgm:spPr/>
    </dgm:pt>
    <dgm:pt modelId="{B186B5E0-3DEE-4A68-978B-994D52976479}" type="pres">
      <dgm:prSet presAssocID="{A4D97700-BCAE-4A3A-B5A3-981720FB91BC}" presName="parentLin" presStyleCnt="0"/>
      <dgm:spPr/>
    </dgm:pt>
    <dgm:pt modelId="{36AE6B6C-DED7-45CF-97A1-691C061E9DEE}" type="pres">
      <dgm:prSet presAssocID="{A4D97700-BCAE-4A3A-B5A3-981720FB91BC}" presName="parentLeftMargin" presStyleLbl="node1" presStyleIdx="1" presStyleCnt="4"/>
      <dgm:spPr/>
    </dgm:pt>
    <dgm:pt modelId="{26B6FC12-5E41-45AE-ABE5-134CD9243C32}" type="pres">
      <dgm:prSet presAssocID="{A4D97700-BCAE-4A3A-B5A3-981720FB91B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C731B9C-894A-4950-9D6E-DC728BA82C0F}" type="pres">
      <dgm:prSet presAssocID="{A4D97700-BCAE-4A3A-B5A3-981720FB91BC}" presName="negativeSpace" presStyleCnt="0"/>
      <dgm:spPr/>
    </dgm:pt>
    <dgm:pt modelId="{7AC94D09-5951-4B3F-91C1-A96A6E997B86}" type="pres">
      <dgm:prSet presAssocID="{A4D97700-BCAE-4A3A-B5A3-981720FB91BC}" presName="childText" presStyleLbl="conFgAcc1" presStyleIdx="2" presStyleCnt="4">
        <dgm:presLayoutVars>
          <dgm:bulletEnabled val="1"/>
        </dgm:presLayoutVars>
      </dgm:prSet>
      <dgm:spPr/>
    </dgm:pt>
    <dgm:pt modelId="{DFC6F665-E0D8-4AAD-AF1F-74C9A1B4FD08}" type="pres">
      <dgm:prSet presAssocID="{7E738AAB-AB89-4E1C-980E-F5D35B9E1E53}" presName="spaceBetweenRectangles" presStyleCnt="0"/>
      <dgm:spPr/>
    </dgm:pt>
    <dgm:pt modelId="{86941F4A-4972-4002-B3B0-8E0B1FCD66F0}" type="pres">
      <dgm:prSet presAssocID="{71963D07-5733-4E27-A451-9B1969DA20C0}" presName="parentLin" presStyleCnt="0"/>
      <dgm:spPr/>
    </dgm:pt>
    <dgm:pt modelId="{FBA716BF-3FF2-4788-8791-45B68C23EBBB}" type="pres">
      <dgm:prSet presAssocID="{71963D07-5733-4E27-A451-9B1969DA20C0}" presName="parentLeftMargin" presStyleLbl="node1" presStyleIdx="2" presStyleCnt="4"/>
      <dgm:spPr/>
    </dgm:pt>
    <dgm:pt modelId="{23F5CB7B-5AF3-45B9-8362-40C84F4180C5}" type="pres">
      <dgm:prSet presAssocID="{71963D07-5733-4E27-A451-9B1969DA20C0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2EFEE28B-ED5A-473F-9B25-5994166557B5}" type="pres">
      <dgm:prSet presAssocID="{71963D07-5733-4E27-A451-9B1969DA20C0}" presName="negativeSpace" presStyleCnt="0"/>
      <dgm:spPr/>
    </dgm:pt>
    <dgm:pt modelId="{717F4A5C-CCF0-4C2D-90AB-3E390319ACEA}" type="pres">
      <dgm:prSet presAssocID="{71963D07-5733-4E27-A451-9B1969DA20C0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18A5530B-5B1A-405A-8645-40A0D0C70F0A}" type="presOf" srcId="{35875F52-9517-4274-B9EB-96A02F2D4C22}" destId="{97D32938-A651-48D8-9A9E-1EDE5BC77941}" srcOrd="0" destOrd="1" presId="urn:microsoft.com/office/officeart/2005/8/layout/list1"/>
    <dgm:cxn modelId="{774E9D0C-079F-4B48-A062-76060B873EB9}" type="presOf" srcId="{3D48FF11-F185-4CB3-A993-E941518FF63E}" destId="{97D32938-A651-48D8-9A9E-1EDE5BC77941}" srcOrd="0" destOrd="2" presId="urn:microsoft.com/office/officeart/2005/8/layout/list1"/>
    <dgm:cxn modelId="{ED3B480F-B4A4-48D7-A7BF-43A5C95B00C4}" srcId="{F3AF5E6A-897E-4ACE-8A9E-CD22D40ADFA5}" destId="{71963D07-5733-4E27-A451-9B1969DA20C0}" srcOrd="3" destOrd="0" parTransId="{C8F12BE5-1EC5-456D-A0A8-6C23C489E1AB}" sibTransId="{0A48B4E5-F67A-4C10-9309-EE2D3D738FC7}"/>
    <dgm:cxn modelId="{786A2513-4B0A-41DF-A9E5-065A61C68572}" type="presOf" srcId="{76A2A8B6-2C83-47BB-95AE-9AA6EADFD7F8}" destId="{18B0FFE6-B10C-4FC8-BAF3-3A26E8C5FE16}" srcOrd="1" destOrd="0" presId="urn:microsoft.com/office/officeart/2005/8/layout/list1"/>
    <dgm:cxn modelId="{DAC4F61E-5749-42FD-B39F-384B65C79DD3}" type="presOf" srcId="{76A2A8B6-2C83-47BB-95AE-9AA6EADFD7F8}" destId="{E095D19A-3890-4321-8A4E-20CBEE5F2A9C}" srcOrd="0" destOrd="0" presId="urn:microsoft.com/office/officeart/2005/8/layout/list1"/>
    <dgm:cxn modelId="{15827533-69BE-4E6A-BD39-BD8A05EBE286}" type="presOf" srcId="{6A552F90-B89E-403A-9BFF-26660283FDBC}" destId="{717F4A5C-CCF0-4C2D-90AB-3E390319ACEA}" srcOrd="0" destOrd="1" presId="urn:microsoft.com/office/officeart/2005/8/layout/list1"/>
    <dgm:cxn modelId="{FE3C5A35-BA72-4A4B-827D-40840B0464A8}" srcId="{F3AF5E6A-897E-4ACE-8A9E-CD22D40ADFA5}" destId="{A4D97700-BCAE-4A3A-B5A3-981720FB91BC}" srcOrd="2" destOrd="0" parTransId="{9ABA7C6F-9F4D-4013-8B21-A07FF85AE7D3}" sibTransId="{7E738AAB-AB89-4E1C-980E-F5D35B9E1E53}"/>
    <dgm:cxn modelId="{3706D842-487A-4933-8723-919E3B0A8E25}" type="presOf" srcId="{A4D97700-BCAE-4A3A-B5A3-981720FB91BC}" destId="{36AE6B6C-DED7-45CF-97A1-691C061E9DEE}" srcOrd="0" destOrd="0" presId="urn:microsoft.com/office/officeart/2005/8/layout/list1"/>
    <dgm:cxn modelId="{A5E8676B-497C-4DE8-B5D1-ECE5D70F99AB}" srcId="{71963D07-5733-4E27-A451-9B1969DA20C0}" destId="{40BA9664-454A-4AAA-9855-FCBC601089DC}" srcOrd="0" destOrd="0" parTransId="{2000B57E-DAE5-497A-9C9A-F6F84B4B855E}" sibTransId="{33DDF62B-6EEE-4C02-91BD-BC474CB04DA8}"/>
    <dgm:cxn modelId="{86B8766C-6BBD-4521-8768-0AF3B070CF42}" type="presOf" srcId="{7B018414-E768-4778-9B88-8E820ACB109C}" destId="{4A3E113F-A0C9-4607-B6B3-5FDED7D44F6A}" srcOrd="0" destOrd="0" presId="urn:microsoft.com/office/officeart/2005/8/layout/list1"/>
    <dgm:cxn modelId="{2397F174-1F02-456D-B364-7603A7DE883C}" type="presOf" srcId="{B787E83E-4FEF-400E-9CB4-E65669AE3887}" destId="{7AC94D09-5951-4B3F-91C1-A96A6E997B86}" srcOrd="0" destOrd="1" presId="urn:microsoft.com/office/officeart/2005/8/layout/list1"/>
    <dgm:cxn modelId="{636D1876-9A7B-477B-83EA-F49640DAB63C}" type="presOf" srcId="{F3AF5E6A-897E-4ACE-8A9E-CD22D40ADFA5}" destId="{180CE50F-5554-4C76-BBC9-6C453D34EE73}" srcOrd="0" destOrd="0" presId="urn:microsoft.com/office/officeart/2005/8/layout/list1"/>
    <dgm:cxn modelId="{997F8359-A7D4-4208-9DB2-8EDAF6348E97}" srcId="{71963D07-5733-4E27-A451-9B1969DA20C0}" destId="{6A552F90-B89E-403A-9BFF-26660283FDBC}" srcOrd="1" destOrd="0" parTransId="{DF2133BF-9CEB-4EE5-A9BA-D38FB205AF37}" sibTransId="{B0BF5A28-C52B-4A59-AC5F-7BAE8CD5D14B}"/>
    <dgm:cxn modelId="{6350847E-3909-4B1A-8098-C54D9D419F75}" type="presOf" srcId="{A4D97700-BCAE-4A3A-B5A3-981720FB91BC}" destId="{26B6FC12-5E41-45AE-ABE5-134CD9243C32}" srcOrd="1" destOrd="0" presId="urn:microsoft.com/office/officeart/2005/8/layout/list1"/>
    <dgm:cxn modelId="{D982D27E-914E-41AF-8F68-69402006AAD4}" type="presOf" srcId="{40BA9664-454A-4AAA-9855-FCBC601089DC}" destId="{717F4A5C-CCF0-4C2D-90AB-3E390319ACEA}" srcOrd="0" destOrd="0" presId="urn:microsoft.com/office/officeart/2005/8/layout/list1"/>
    <dgm:cxn modelId="{0401208E-13BA-4EF8-8FF9-E12FBEB0356A}" srcId="{7B018414-E768-4778-9B88-8E820ACB109C}" destId="{35875F52-9517-4274-B9EB-96A02F2D4C22}" srcOrd="1" destOrd="0" parTransId="{2ED043FB-4753-4C89-A27E-311994268193}" sibTransId="{7029FEFC-6377-4E0D-B609-AB07ADD422CD}"/>
    <dgm:cxn modelId="{A6CB2595-BAB2-443A-81FA-F2B10E013646}" type="presOf" srcId="{8B919A8D-0155-4960-97B6-7B41194D4C6D}" destId="{97D32938-A651-48D8-9A9E-1EDE5BC77941}" srcOrd="0" destOrd="0" presId="urn:microsoft.com/office/officeart/2005/8/layout/list1"/>
    <dgm:cxn modelId="{A6807097-7473-43F7-85DA-AA7AE0D40A52}" type="presOf" srcId="{9AF15801-3AE2-4DEA-97FE-0ADF418C2BC0}" destId="{7AC94D09-5951-4B3F-91C1-A96A6E997B86}" srcOrd="0" destOrd="0" presId="urn:microsoft.com/office/officeart/2005/8/layout/list1"/>
    <dgm:cxn modelId="{6B3F26A0-607B-449B-96DA-A2BFA88C6118}" srcId="{7B018414-E768-4778-9B88-8E820ACB109C}" destId="{8B919A8D-0155-4960-97B6-7B41194D4C6D}" srcOrd="0" destOrd="0" parTransId="{773C4187-B1D6-4531-A75C-9074A50DCBCD}" sibTransId="{01BDE3CB-3E81-4EB1-A289-308953C5D4E9}"/>
    <dgm:cxn modelId="{C43EC9A8-EEC8-46C3-8E8B-7AEBCCF47521}" type="presOf" srcId="{71963D07-5733-4E27-A451-9B1969DA20C0}" destId="{FBA716BF-3FF2-4788-8791-45B68C23EBBB}" srcOrd="0" destOrd="0" presId="urn:microsoft.com/office/officeart/2005/8/layout/list1"/>
    <dgm:cxn modelId="{845018AA-17E9-4FF4-AFA3-1912F81575E8}" srcId="{7B018414-E768-4778-9B88-8E820ACB109C}" destId="{3D48FF11-F185-4CB3-A993-E941518FF63E}" srcOrd="2" destOrd="0" parTransId="{08820AC3-3815-41DF-A4C6-8D854ADD4926}" sibTransId="{7BE592DC-B58B-4A31-92A7-8A00696A764D}"/>
    <dgm:cxn modelId="{FDE59EB3-0118-4782-A656-5B80AFCF4BB4}" srcId="{7B018414-E768-4778-9B88-8E820ACB109C}" destId="{755C551E-2720-4C34-9FF9-831F0DC5A252}" srcOrd="3" destOrd="0" parTransId="{283BFB1F-BFC3-4C09-B890-A04C46B61DCC}" sibTransId="{2DE9EA55-12AA-4116-A36D-84EF4C478E08}"/>
    <dgm:cxn modelId="{40CBE9BB-F7EC-44D1-8A12-3EC1CD6A9803}" type="presOf" srcId="{755C551E-2720-4C34-9FF9-831F0DC5A252}" destId="{97D32938-A651-48D8-9A9E-1EDE5BC77941}" srcOrd="0" destOrd="3" presId="urn:microsoft.com/office/officeart/2005/8/layout/list1"/>
    <dgm:cxn modelId="{9B97CFD9-3C0E-47AB-86B9-575A42A0FC84}" type="presOf" srcId="{7B018414-E768-4778-9B88-8E820ACB109C}" destId="{5049F503-F2B2-4EE4-AD5B-0F6383BFC45A}" srcOrd="1" destOrd="0" presId="urn:microsoft.com/office/officeart/2005/8/layout/list1"/>
    <dgm:cxn modelId="{FF06A4DA-8361-4624-8270-11BBCD85A286}" type="presOf" srcId="{71963D07-5733-4E27-A451-9B1969DA20C0}" destId="{23F5CB7B-5AF3-45B9-8362-40C84F4180C5}" srcOrd="1" destOrd="0" presId="urn:microsoft.com/office/officeart/2005/8/layout/list1"/>
    <dgm:cxn modelId="{AD92A8E9-8079-4F92-B7E4-AD42696F4618}" srcId="{A4D97700-BCAE-4A3A-B5A3-981720FB91BC}" destId="{B787E83E-4FEF-400E-9CB4-E65669AE3887}" srcOrd="1" destOrd="0" parTransId="{3936ED46-1DB6-4EB2-A346-15E23D93FF29}" sibTransId="{B10E5062-DCFC-4D54-8D1A-DD909BB40244}"/>
    <dgm:cxn modelId="{0BFBDAEA-3C6D-405B-9436-1ED417A612A3}" srcId="{F3AF5E6A-897E-4ACE-8A9E-CD22D40ADFA5}" destId="{7B018414-E768-4778-9B88-8E820ACB109C}" srcOrd="1" destOrd="0" parTransId="{BD1132D8-2B39-42DA-BEA8-B106C0DA955D}" sibTransId="{34B735FE-9C03-4EAB-896A-6508262EF755}"/>
    <dgm:cxn modelId="{B35015F2-62D3-49F1-93DE-466882E886B5}" srcId="{F3AF5E6A-897E-4ACE-8A9E-CD22D40ADFA5}" destId="{76A2A8B6-2C83-47BB-95AE-9AA6EADFD7F8}" srcOrd="0" destOrd="0" parTransId="{E8C4CE6F-7F10-4B55-8B23-1EB321059FD3}" sibTransId="{385AFA9C-7141-44F0-B140-5C327E2BF164}"/>
    <dgm:cxn modelId="{CE3F87F7-9F2F-4736-8C85-B8179CED686D}" srcId="{A4D97700-BCAE-4A3A-B5A3-981720FB91BC}" destId="{9AF15801-3AE2-4DEA-97FE-0ADF418C2BC0}" srcOrd="0" destOrd="0" parTransId="{6C55AA38-4BE4-40CC-ADBB-343654D7A165}" sibTransId="{D4360C9D-A3CC-4885-83CF-E45E519EDD52}"/>
    <dgm:cxn modelId="{FF34432C-FED8-42FF-91C0-29AB2FE8D2B7}" type="presParOf" srcId="{180CE50F-5554-4C76-BBC9-6C453D34EE73}" destId="{5C5D5924-5AC7-490A-8175-76F6340A3B21}" srcOrd="0" destOrd="0" presId="urn:microsoft.com/office/officeart/2005/8/layout/list1"/>
    <dgm:cxn modelId="{24E4BFF4-5FDF-401E-A807-87E164E8D339}" type="presParOf" srcId="{5C5D5924-5AC7-490A-8175-76F6340A3B21}" destId="{E095D19A-3890-4321-8A4E-20CBEE5F2A9C}" srcOrd="0" destOrd="0" presId="urn:microsoft.com/office/officeart/2005/8/layout/list1"/>
    <dgm:cxn modelId="{722F0EB0-E196-440C-8CCE-66A4242C1711}" type="presParOf" srcId="{5C5D5924-5AC7-490A-8175-76F6340A3B21}" destId="{18B0FFE6-B10C-4FC8-BAF3-3A26E8C5FE16}" srcOrd="1" destOrd="0" presId="urn:microsoft.com/office/officeart/2005/8/layout/list1"/>
    <dgm:cxn modelId="{E2F71F4C-574D-4085-974F-C152B361A14E}" type="presParOf" srcId="{180CE50F-5554-4C76-BBC9-6C453D34EE73}" destId="{13361309-AC1A-41CD-88E0-17873096EEB5}" srcOrd="1" destOrd="0" presId="urn:microsoft.com/office/officeart/2005/8/layout/list1"/>
    <dgm:cxn modelId="{232D99DF-F4DE-4F94-9681-A15A86647947}" type="presParOf" srcId="{180CE50F-5554-4C76-BBC9-6C453D34EE73}" destId="{9261BB1F-EB71-416E-814A-5B9AC78A32C0}" srcOrd="2" destOrd="0" presId="urn:microsoft.com/office/officeart/2005/8/layout/list1"/>
    <dgm:cxn modelId="{34F269CC-8493-48A5-A8DE-0E608E695B8B}" type="presParOf" srcId="{180CE50F-5554-4C76-BBC9-6C453D34EE73}" destId="{7E4A7AF5-7898-4716-A4E9-72DA3A09093A}" srcOrd="3" destOrd="0" presId="urn:microsoft.com/office/officeart/2005/8/layout/list1"/>
    <dgm:cxn modelId="{767C8C02-4B31-4899-96C5-7F8ADAD7D5EC}" type="presParOf" srcId="{180CE50F-5554-4C76-BBC9-6C453D34EE73}" destId="{1497935A-5F94-4AAA-950A-EC80E050E778}" srcOrd="4" destOrd="0" presId="urn:microsoft.com/office/officeart/2005/8/layout/list1"/>
    <dgm:cxn modelId="{1728ED44-275F-4584-B6C1-FFECE87C7D90}" type="presParOf" srcId="{1497935A-5F94-4AAA-950A-EC80E050E778}" destId="{4A3E113F-A0C9-4607-B6B3-5FDED7D44F6A}" srcOrd="0" destOrd="0" presId="urn:microsoft.com/office/officeart/2005/8/layout/list1"/>
    <dgm:cxn modelId="{6E3A36A9-86AB-4500-9120-988BB5F53DEB}" type="presParOf" srcId="{1497935A-5F94-4AAA-950A-EC80E050E778}" destId="{5049F503-F2B2-4EE4-AD5B-0F6383BFC45A}" srcOrd="1" destOrd="0" presId="urn:microsoft.com/office/officeart/2005/8/layout/list1"/>
    <dgm:cxn modelId="{B12DC328-C11C-4240-876C-B162B8ED8E40}" type="presParOf" srcId="{180CE50F-5554-4C76-BBC9-6C453D34EE73}" destId="{CE955290-5F29-405F-8C62-ED76DD5DAD52}" srcOrd="5" destOrd="0" presId="urn:microsoft.com/office/officeart/2005/8/layout/list1"/>
    <dgm:cxn modelId="{7B3E8915-6402-4D09-8F92-AA83AAB75557}" type="presParOf" srcId="{180CE50F-5554-4C76-BBC9-6C453D34EE73}" destId="{97D32938-A651-48D8-9A9E-1EDE5BC77941}" srcOrd="6" destOrd="0" presId="urn:microsoft.com/office/officeart/2005/8/layout/list1"/>
    <dgm:cxn modelId="{AA64FFC6-BA9E-4816-B509-EAE7FA03EEAF}" type="presParOf" srcId="{180CE50F-5554-4C76-BBC9-6C453D34EE73}" destId="{8387FC2A-284F-4604-9233-11B12AA2D118}" srcOrd="7" destOrd="0" presId="urn:microsoft.com/office/officeart/2005/8/layout/list1"/>
    <dgm:cxn modelId="{8851B0B4-CD39-4F6E-8E11-F3BC1B2CD090}" type="presParOf" srcId="{180CE50F-5554-4C76-BBC9-6C453D34EE73}" destId="{B186B5E0-3DEE-4A68-978B-994D52976479}" srcOrd="8" destOrd="0" presId="urn:microsoft.com/office/officeart/2005/8/layout/list1"/>
    <dgm:cxn modelId="{CBFF919C-38F4-4700-AEE7-2E092A250558}" type="presParOf" srcId="{B186B5E0-3DEE-4A68-978B-994D52976479}" destId="{36AE6B6C-DED7-45CF-97A1-691C061E9DEE}" srcOrd="0" destOrd="0" presId="urn:microsoft.com/office/officeart/2005/8/layout/list1"/>
    <dgm:cxn modelId="{823755AB-EC40-480F-A90F-DEE3AE649C63}" type="presParOf" srcId="{B186B5E0-3DEE-4A68-978B-994D52976479}" destId="{26B6FC12-5E41-45AE-ABE5-134CD9243C32}" srcOrd="1" destOrd="0" presId="urn:microsoft.com/office/officeart/2005/8/layout/list1"/>
    <dgm:cxn modelId="{CC23F482-7087-4D81-88AD-7F2C1B03CE13}" type="presParOf" srcId="{180CE50F-5554-4C76-BBC9-6C453D34EE73}" destId="{FC731B9C-894A-4950-9D6E-DC728BA82C0F}" srcOrd="9" destOrd="0" presId="urn:microsoft.com/office/officeart/2005/8/layout/list1"/>
    <dgm:cxn modelId="{7DEA1755-E494-4FA4-B8C7-60DC464DA729}" type="presParOf" srcId="{180CE50F-5554-4C76-BBC9-6C453D34EE73}" destId="{7AC94D09-5951-4B3F-91C1-A96A6E997B86}" srcOrd="10" destOrd="0" presId="urn:microsoft.com/office/officeart/2005/8/layout/list1"/>
    <dgm:cxn modelId="{46139E98-C730-4A6E-B65D-BBAAED24913D}" type="presParOf" srcId="{180CE50F-5554-4C76-BBC9-6C453D34EE73}" destId="{DFC6F665-E0D8-4AAD-AF1F-74C9A1B4FD08}" srcOrd="11" destOrd="0" presId="urn:microsoft.com/office/officeart/2005/8/layout/list1"/>
    <dgm:cxn modelId="{0E2238ED-5FB5-40CE-98AD-0E4683790E67}" type="presParOf" srcId="{180CE50F-5554-4C76-BBC9-6C453D34EE73}" destId="{86941F4A-4972-4002-B3B0-8E0B1FCD66F0}" srcOrd="12" destOrd="0" presId="urn:microsoft.com/office/officeart/2005/8/layout/list1"/>
    <dgm:cxn modelId="{E12834D4-397A-4427-8D9B-B52DBDD00EC7}" type="presParOf" srcId="{86941F4A-4972-4002-B3B0-8E0B1FCD66F0}" destId="{FBA716BF-3FF2-4788-8791-45B68C23EBBB}" srcOrd="0" destOrd="0" presId="urn:microsoft.com/office/officeart/2005/8/layout/list1"/>
    <dgm:cxn modelId="{C79BD335-3BF9-44D0-B604-40861EF06A96}" type="presParOf" srcId="{86941F4A-4972-4002-B3B0-8E0B1FCD66F0}" destId="{23F5CB7B-5AF3-45B9-8362-40C84F4180C5}" srcOrd="1" destOrd="0" presId="urn:microsoft.com/office/officeart/2005/8/layout/list1"/>
    <dgm:cxn modelId="{406697B4-B43D-4457-8A8F-653C56ED0BFB}" type="presParOf" srcId="{180CE50F-5554-4C76-BBC9-6C453D34EE73}" destId="{2EFEE28B-ED5A-473F-9B25-5994166557B5}" srcOrd="13" destOrd="0" presId="urn:microsoft.com/office/officeart/2005/8/layout/list1"/>
    <dgm:cxn modelId="{32155440-68AC-4D90-91E3-47CDF7275BC6}" type="presParOf" srcId="{180CE50F-5554-4C76-BBC9-6C453D34EE73}" destId="{717F4A5C-CCF0-4C2D-90AB-3E390319ACEA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0CD2F2-D521-494A-9FE5-74349AFAD5BB}">
      <dsp:nvSpPr>
        <dsp:cNvPr id="0" name=""/>
        <dsp:cNvSpPr/>
      </dsp:nvSpPr>
      <dsp:spPr>
        <a:xfrm>
          <a:off x="0" y="221255"/>
          <a:ext cx="5181600" cy="27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7EDC43-DBD9-4C3B-B544-388833534F2D}">
      <dsp:nvSpPr>
        <dsp:cNvPr id="0" name=""/>
        <dsp:cNvSpPr/>
      </dsp:nvSpPr>
      <dsp:spPr>
        <a:xfrm>
          <a:off x="259080" y="58895"/>
          <a:ext cx="3627120" cy="3247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Customer Impact</a:t>
          </a:r>
          <a:endParaRPr lang="en-US" sz="1200" kern="1200"/>
        </a:p>
      </dsp:txBody>
      <dsp:txXfrm>
        <a:off x="274932" y="74747"/>
        <a:ext cx="3595416" cy="293016"/>
      </dsp:txXfrm>
    </dsp:sp>
    <dsp:sp modelId="{3961D80A-D986-4989-AAF5-DDD485598750}">
      <dsp:nvSpPr>
        <dsp:cNvPr id="0" name=""/>
        <dsp:cNvSpPr/>
      </dsp:nvSpPr>
      <dsp:spPr>
        <a:xfrm>
          <a:off x="0" y="720215"/>
          <a:ext cx="5181600" cy="1212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229108" rIns="402150" bIns="56896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kern="1200"/>
            <a:t>1,395 customers impacted</a:t>
          </a:r>
          <a:r>
            <a:rPr lang="en-US" sz="1000" kern="1200"/>
            <a:t> by complaint-handling failures.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kern="1200"/>
            <a:t>706 vulnerable customers affected.</a:t>
          </a:r>
          <a:endParaRPr lang="en-US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Some complaints remained unresolved for </a:t>
          </a:r>
          <a:r>
            <a:rPr lang="en-US" sz="1000" b="1" kern="1200"/>
            <a:t>up to 18 months</a:t>
          </a:r>
          <a:r>
            <a:rPr lang="en-US" sz="1000" kern="1200"/>
            <a:t>.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Demonstrates how delayed issue identification can directly impact vulnerable customers.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q"/>
          </a:pPr>
          <a:r>
            <a:rPr lang="en-US" sz="800" b="1" kern="1200">
              <a:solidFill>
                <a:srgbClr val="00263E"/>
              </a:solidFill>
              <a:latin typeface="Aptos"/>
              <a:ea typeface="+mn-ea"/>
              <a:cs typeface="+mn-cs"/>
            </a:rPr>
            <a:t>Source: Ofgem (2024)</a:t>
          </a:r>
          <a:endParaRPr lang="en-US" sz="1000" kern="1200"/>
        </a:p>
      </dsp:txBody>
      <dsp:txXfrm>
        <a:off x="0" y="720215"/>
        <a:ext cx="5181600" cy="1212750"/>
      </dsp:txXfrm>
    </dsp:sp>
    <dsp:sp modelId="{100EABE9-CABA-413E-AF6B-56D03774A761}">
      <dsp:nvSpPr>
        <dsp:cNvPr id="0" name=""/>
        <dsp:cNvSpPr/>
      </dsp:nvSpPr>
      <dsp:spPr>
        <a:xfrm>
          <a:off x="259080" y="557855"/>
          <a:ext cx="3627120" cy="3247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OVO Complaint Handling Case (2024)</a:t>
          </a:r>
          <a:endParaRPr lang="en-US" sz="1100" kern="1200"/>
        </a:p>
      </dsp:txBody>
      <dsp:txXfrm>
        <a:off x="274932" y="573707"/>
        <a:ext cx="3595416" cy="293016"/>
      </dsp:txXfrm>
    </dsp:sp>
    <dsp:sp modelId="{AEF54E70-4DE5-4543-A7BF-12D2A25CD938}">
      <dsp:nvSpPr>
        <dsp:cNvPr id="0" name=""/>
        <dsp:cNvSpPr/>
      </dsp:nvSpPr>
      <dsp:spPr>
        <a:xfrm>
          <a:off x="0" y="2154725"/>
          <a:ext cx="5181600" cy="8835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229108" rIns="402150" bIns="71120" numCol="1" spcCol="1270" anchor="t" anchorCtr="0">
          <a:noAutofit/>
        </a:bodyPr>
        <a:lstStyle/>
        <a:p>
          <a:pPr marL="57150" lvl="1" indent="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Only </a:t>
          </a:r>
          <a:r>
            <a:rPr lang="en-US" sz="1000" b="1" kern="1200"/>
            <a:t>44% of customers</a:t>
          </a:r>
          <a:r>
            <a:rPr lang="en-US" sz="1000" kern="1200"/>
            <a:t> were satisfied with how their complaint was handled.</a:t>
          </a:r>
        </a:p>
        <a:p>
          <a:pPr marL="57150" lvl="1" indent="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More than half of complainants reported </a:t>
          </a:r>
          <a:r>
            <a:rPr lang="en-US" sz="1000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/>
              <a:ea typeface="+mn-ea"/>
              <a:cs typeface="+mn-cs"/>
            </a:rPr>
            <a:t>dissatisfaction</a:t>
          </a:r>
          <a:r>
            <a:rPr lang="en-US" sz="1000" kern="1200"/>
            <a:t> with complaint resolution.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q"/>
          </a:pPr>
          <a:r>
            <a:rPr lang="en-US" sz="800" b="1" kern="1200">
              <a:solidFill>
                <a:srgbClr val="00263E"/>
              </a:solidFill>
              <a:latin typeface="Aptos"/>
              <a:ea typeface="+mn-ea"/>
              <a:cs typeface="+mn-cs"/>
            </a:rPr>
            <a:t>Source: Ofgem Energy Consumer Satisfaction Survey (2025)</a:t>
          </a:r>
        </a:p>
      </dsp:txBody>
      <dsp:txXfrm>
        <a:off x="0" y="2154725"/>
        <a:ext cx="5181600" cy="883575"/>
      </dsp:txXfrm>
    </dsp:sp>
    <dsp:sp modelId="{9AA88F4C-2871-4FD1-9A92-9842F744CC18}">
      <dsp:nvSpPr>
        <dsp:cNvPr id="0" name=""/>
        <dsp:cNvSpPr/>
      </dsp:nvSpPr>
      <dsp:spPr>
        <a:xfrm>
          <a:off x="259080" y="1992365"/>
          <a:ext cx="3627120" cy="3247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Consumer Satisfaction</a:t>
          </a:r>
          <a:endParaRPr lang="en-US" sz="1100" kern="1200"/>
        </a:p>
      </dsp:txBody>
      <dsp:txXfrm>
        <a:off x="274932" y="2008217"/>
        <a:ext cx="3595416" cy="293016"/>
      </dsp:txXfrm>
    </dsp:sp>
    <dsp:sp modelId="{D13AF780-C1E1-44BB-9442-E241D3F40D4A}">
      <dsp:nvSpPr>
        <dsp:cNvPr id="0" name=""/>
        <dsp:cNvSpPr/>
      </dsp:nvSpPr>
      <dsp:spPr>
        <a:xfrm>
          <a:off x="0" y="3260060"/>
          <a:ext cx="5181600" cy="7103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229108" rIns="402150" bIns="56896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kern="1200"/>
            <a:t>34% of customers</a:t>
          </a:r>
          <a:r>
            <a:rPr lang="en-US" sz="1000" kern="1200"/>
            <a:t> reporting smart-meter issues stated that their problem was still unresolved or under investigation.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q"/>
          </a:pPr>
          <a:r>
            <a:rPr lang="en-US" sz="800" b="1" kern="1200">
              <a:solidFill>
                <a:srgbClr val="00263E"/>
              </a:solidFill>
              <a:latin typeface="Aptos"/>
              <a:ea typeface="+mn-ea"/>
              <a:cs typeface="+mn-cs"/>
            </a:rPr>
            <a:t>Source: Ofgem (2024)</a:t>
          </a:r>
          <a:endParaRPr lang="en-US" sz="800" kern="1200"/>
        </a:p>
      </dsp:txBody>
      <dsp:txXfrm>
        <a:off x="0" y="3260060"/>
        <a:ext cx="5181600" cy="710325"/>
      </dsp:txXfrm>
    </dsp:sp>
    <dsp:sp modelId="{EE927680-B863-4661-AA70-445BD21D1153}">
      <dsp:nvSpPr>
        <dsp:cNvPr id="0" name=""/>
        <dsp:cNvSpPr/>
      </dsp:nvSpPr>
      <dsp:spPr>
        <a:xfrm>
          <a:off x="259080" y="3097700"/>
          <a:ext cx="3627120" cy="3247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Unresolved Customer Issues</a:t>
          </a:r>
          <a:endParaRPr lang="en-US" sz="1100" kern="1200"/>
        </a:p>
      </dsp:txBody>
      <dsp:txXfrm>
        <a:off x="274932" y="3113552"/>
        <a:ext cx="3595416" cy="293016"/>
      </dsp:txXfrm>
    </dsp:sp>
    <dsp:sp modelId="{8364B185-9250-4C92-B384-F28843992C81}">
      <dsp:nvSpPr>
        <dsp:cNvPr id="0" name=""/>
        <dsp:cNvSpPr/>
      </dsp:nvSpPr>
      <dsp:spPr>
        <a:xfrm>
          <a:off x="0" y="4192145"/>
          <a:ext cx="5181600" cy="27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E1B171-4620-45F7-BE20-F17422F95C17}">
      <dsp:nvSpPr>
        <dsp:cNvPr id="0" name=""/>
        <dsp:cNvSpPr/>
      </dsp:nvSpPr>
      <dsp:spPr>
        <a:xfrm>
          <a:off x="259080" y="4029785"/>
          <a:ext cx="3627120" cy="3247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Source:</a:t>
          </a:r>
          <a:r>
            <a:rPr lang="en-US" sz="1100" kern="1200"/>
            <a:t> Ofgem Survey (2024)</a:t>
          </a:r>
        </a:p>
      </dsp:txBody>
      <dsp:txXfrm>
        <a:off x="274932" y="4045637"/>
        <a:ext cx="3595416" cy="2930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61BB1F-EB71-416E-814A-5B9AC78A32C0}">
      <dsp:nvSpPr>
        <dsp:cNvPr id="0" name=""/>
        <dsp:cNvSpPr/>
      </dsp:nvSpPr>
      <dsp:spPr>
        <a:xfrm>
          <a:off x="0" y="241378"/>
          <a:ext cx="518160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B0FFE6-B10C-4FC8-BAF3-3A26E8C5FE16}">
      <dsp:nvSpPr>
        <dsp:cNvPr id="0" name=""/>
        <dsp:cNvSpPr/>
      </dsp:nvSpPr>
      <dsp:spPr>
        <a:xfrm>
          <a:off x="259080" y="49498"/>
          <a:ext cx="3627120" cy="3837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effectLst/>
            </a:rPr>
            <a:t>Business Impact</a:t>
          </a:r>
          <a:endParaRPr lang="en-US" sz="1200" kern="1200"/>
        </a:p>
      </dsp:txBody>
      <dsp:txXfrm>
        <a:off x="277814" y="68232"/>
        <a:ext cx="3589652" cy="346292"/>
      </dsp:txXfrm>
    </dsp:sp>
    <dsp:sp modelId="{97D32938-A651-48D8-9A9E-1EDE5BC77941}">
      <dsp:nvSpPr>
        <dsp:cNvPr id="0" name=""/>
        <dsp:cNvSpPr/>
      </dsp:nvSpPr>
      <dsp:spPr>
        <a:xfrm>
          <a:off x="0" y="831058"/>
          <a:ext cx="5181600" cy="12080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270764" rIns="402150" bIns="56896" numCol="1" spcCol="1270" anchor="t" anchorCtr="0">
          <a:noAutofit/>
        </a:bodyPr>
        <a:lstStyle/>
        <a:p>
          <a:pPr marL="114300" lvl="1" indent="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effectLst/>
            </a:rPr>
            <a:t>OVO paid </a:t>
          </a:r>
          <a:r>
            <a:rPr lang="en-US" sz="1200" b="1" kern="1200">
              <a:effectLst/>
            </a:rPr>
            <a:t>£378,512 directly to affected customers</a:t>
          </a:r>
          <a:r>
            <a:rPr lang="en-US" sz="1200" kern="1200">
              <a:effectLst/>
            </a:rPr>
            <a:t>.</a:t>
          </a:r>
          <a:endParaRPr lang="en-US" sz="1200" kern="1200"/>
        </a:p>
        <a:p>
          <a:pPr marL="114300" lvl="1" indent="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effectLst/>
            </a:rPr>
            <a:t>Additional </a:t>
          </a:r>
          <a:r>
            <a:rPr lang="en-US" sz="1200" b="1" kern="1200">
              <a:effectLst/>
            </a:rPr>
            <a:t>£2 million contribution</a:t>
          </a:r>
          <a:r>
            <a:rPr lang="en-US" sz="1200" kern="1200">
              <a:effectLst/>
            </a:rPr>
            <a:t> made to the Energy Industry Voluntary Redress Scheme.</a:t>
          </a:r>
        </a:p>
        <a:p>
          <a:pPr marL="114300" lvl="1" indent="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effectLst/>
            </a:rPr>
            <a:t>Total remediation cost exceeded </a:t>
          </a:r>
          <a:r>
            <a:rPr lang="en-US" sz="1200" b="1" kern="1200">
              <a:effectLst/>
            </a:rPr>
            <a:t>£2.37 million</a:t>
          </a:r>
          <a:r>
            <a:rPr lang="en-US" sz="1200" kern="1200">
              <a:effectLst/>
            </a:rPr>
            <a:t>.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q"/>
          </a:pPr>
          <a:r>
            <a:rPr lang="en-US" sz="800" b="1" kern="1200">
              <a:solidFill>
                <a:srgbClr val="00263E"/>
              </a:solidFill>
              <a:latin typeface="Aptos"/>
              <a:ea typeface="+mn-ea"/>
              <a:cs typeface="+mn-cs"/>
            </a:rPr>
            <a:t>Source: Ofgem Enforcement Action</a:t>
          </a:r>
        </a:p>
      </dsp:txBody>
      <dsp:txXfrm>
        <a:off x="0" y="831058"/>
        <a:ext cx="5181600" cy="1208025"/>
      </dsp:txXfrm>
    </dsp:sp>
    <dsp:sp modelId="{5049F503-F2B2-4EE4-AD5B-0F6383BFC45A}">
      <dsp:nvSpPr>
        <dsp:cNvPr id="0" name=""/>
        <dsp:cNvSpPr/>
      </dsp:nvSpPr>
      <dsp:spPr>
        <a:xfrm>
          <a:off x="259080" y="639178"/>
          <a:ext cx="3627120" cy="3837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>
              <a:effectLst/>
            </a:rPr>
            <a:t>Financial Penalties</a:t>
          </a:r>
          <a:endParaRPr lang="en-US" sz="1300" kern="1200"/>
        </a:p>
      </dsp:txBody>
      <dsp:txXfrm>
        <a:off x="277814" y="657912"/>
        <a:ext cx="3589652" cy="346292"/>
      </dsp:txXfrm>
    </dsp:sp>
    <dsp:sp modelId="{7AC94D09-5951-4B3F-91C1-A96A6E997B86}">
      <dsp:nvSpPr>
        <dsp:cNvPr id="0" name=""/>
        <dsp:cNvSpPr/>
      </dsp:nvSpPr>
      <dsp:spPr>
        <a:xfrm>
          <a:off x="0" y="2301164"/>
          <a:ext cx="5181600" cy="98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270764" rIns="402150" bIns="56896" numCol="1" spcCol="1270" anchor="t" anchorCtr="0">
          <a:noAutofit/>
        </a:bodyPr>
        <a:lstStyle/>
        <a:p>
          <a:pPr marL="114300" lvl="1" indent="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kern="1200">
              <a:effectLst/>
            </a:rPr>
            <a:t>1.2 million energy customers</a:t>
          </a:r>
          <a:r>
            <a:rPr lang="en-US" sz="1200" kern="1200">
              <a:effectLst/>
            </a:rPr>
            <a:t> were estimated to be </a:t>
          </a:r>
          <a:r>
            <a:rPr lang="en-US" sz="1200" b="1" kern="1200">
              <a:effectLst/>
            </a:rPr>
            <a:t>£166 million worse off</a:t>
          </a:r>
          <a:r>
            <a:rPr lang="en-US" sz="1200" kern="1200">
              <a:effectLst/>
            </a:rPr>
            <a:t> after abandoning attempts to resolve issues with their supplier.</a:t>
          </a:r>
          <a:endParaRPr lang="en-US" sz="1200" kern="120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q"/>
          </a:pPr>
          <a:r>
            <a:rPr lang="en-US" sz="800" b="1" kern="1200">
              <a:solidFill>
                <a:srgbClr val="00263E"/>
              </a:solidFill>
              <a:latin typeface="Aptos"/>
              <a:ea typeface="+mn-ea"/>
              <a:cs typeface="+mn-cs"/>
            </a:rPr>
            <a:t>Source: UK Government consultation response</a:t>
          </a:r>
        </a:p>
      </dsp:txBody>
      <dsp:txXfrm>
        <a:off x="0" y="2301164"/>
        <a:ext cx="5181600" cy="982800"/>
      </dsp:txXfrm>
    </dsp:sp>
    <dsp:sp modelId="{26B6FC12-5E41-45AE-ABE5-134CD9243C32}">
      <dsp:nvSpPr>
        <dsp:cNvPr id="0" name=""/>
        <dsp:cNvSpPr/>
      </dsp:nvSpPr>
      <dsp:spPr>
        <a:xfrm>
          <a:off x="259080" y="2109283"/>
          <a:ext cx="3627120" cy="3837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>
              <a:effectLst/>
            </a:rPr>
            <a:t>Customer Churn &amp; Revenue Risk</a:t>
          </a:r>
          <a:endParaRPr lang="en-US" sz="1300" kern="1200"/>
        </a:p>
      </dsp:txBody>
      <dsp:txXfrm>
        <a:off x="277814" y="2128017"/>
        <a:ext cx="3589652" cy="346292"/>
      </dsp:txXfrm>
    </dsp:sp>
    <dsp:sp modelId="{717F4A5C-CCF0-4C2D-90AB-3E390319ACEA}">
      <dsp:nvSpPr>
        <dsp:cNvPr id="0" name=""/>
        <dsp:cNvSpPr/>
      </dsp:nvSpPr>
      <dsp:spPr>
        <a:xfrm>
          <a:off x="0" y="3546044"/>
          <a:ext cx="5181600" cy="941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270764" rIns="402150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>
              <a:effectLst/>
            </a:rPr>
            <a:t>Customers spent an estimated </a:t>
          </a:r>
          <a:r>
            <a:rPr lang="en-US" sz="1300" b="1" kern="1200">
              <a:effectLst/>
            </a:rPr>
            <a:t>13.9 million hours</a:t>
          </a:r>
          <a:r>
            <a:rPr lang="en-US" sz="1300" kern="1200">
              <a:effectLst/>
            </a:rPr>
            <a:t> dealing with energy-service issues.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>
              <a:effectLst/>
            </a:rPr>
            <a:t>Equivalent to roughly </a:t>
          </a:r>
          <a:r>
            <a:rPr lang="en-US" sz="1300" b="1" kern="1200">
              <a:effectLst/>
            </a:rPr>
            <a:t>1,600 years of customer time lost</a:t>
          </a:r>
          <a:r>
            <a:rPr lang="en-US" sz="1300" kern="1200">
              <a:effectLst/>
            </a:rPr>
            <a:t>.</a:t>
          </a:r>
        </a:p>
      </dsp:txBody>
      <dsp:txXfrm>
        <a:off x="0" y="3546044"/>
        <a:ext cx="5181600" cy="941850"/>
      </dsp:txXfrm>
    </dsp:sp>
    <dsp:sp modelId="{23F5CB7B-5AF3-45B9-8362-40C84F4180C5}">
      <dsp:nvSpPr>
        <dsp:cNvPr id="0" name=""/>
        <dsp:cNvSpPr/>
      </dsp:nvSpPr>
      <dsp:spPr>
        <a:xfrm>
          <a:off x="259080" y="3354164"/>
          <a:ext cx="3627120" cy="3837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>
              <a:effectLst/>
            </a:rPr>
            <a:t>Operational Cost</a:t>
          </a:r>
          <a:endParaRPr lang="en-US" sz="1300" kern="1200"/>
        </a:p>
      </dsp:txBody>
      <dsp:txXfrm>
        <a:off x="277814" y="3372898"/>
        <a:ext cx="3589652" cy="3462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3C12CE-E56D-9B9D-54B8-372E91786BC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09BBD2-8ECB-2039-6E0B-8FA34430AB3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BC65C4-8F6F-407F-80BE-163B006CA4B1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EE81E3-EFD4-8DCC-C5EC-C8D96A320B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E7F93-139E-E175-90BC-268616FA17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8DA641-B0A8-449E-B363-F9021BA245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747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First slide requested to follow the hackathon reference-image style provided by the user.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Sources
- Updated from the detailed reviewer feedback provided by Rahul Gupta in the chat.
- Scenario values are synthetic working-demo numbers from Rahul Gupta feedback: 50,000 customer records, Complaint Rate 1,200 to 1,650, 1,200 to 1,650 complaint cases, 4 hours to 5 minutes, 87% confidence, 9 tables and related impact metrics.
- Content uses the uploaded AI_Operations_Intelligence_Agent_2.pptx as the base storyline.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- Updated per Rahul Gupta request: Business Problem slide now contains only the heading and main business problem points, without complaint-specific or complaint-specific metrics.</a:t>
            </a:r>
          </a:p>
          <a:p>
            <a:r>
              <a:t>- Content is a business framing suggestion for the UK utilities AI Operations Intelligence Agent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- Added per Rahul Gupta request after the Business Problem slide to show the old/manual way of analysis.</a:t>
            </a:r>
          </a:p>
          <a:p>
            <a:r>
              <a:t>- Flow and pain points are proposed business framing for the UK utilities AI Operations Intelligence Agent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Sources
- Updated from the detailed reviewer feedback provided by Rahul Gupta in the chat.
- Scenario values are synthetic working-demo numbers from Rahul Gupta feedback: 50,000 customer records, Complaint Rate 1,200 to 1,650, 1,200 to 1,650 complaint cases, 4 hours to 5 minutes, 87% confidence, 9 tables and related impact metrics.
- Content uses the uploaded AI_Operations_Intelligence_Agent_2.pptx as the base storyline.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- Updated from the detailed reviewer feedback provided by Rahul Gupta in the chat.</a:t>
            </a:r>
          </a:p>
          <a:p>
            <a:r>
              <a:t>- Scenario values are synthetic working-demo numbers from Rahul Gupta feedback: 50,000 customer records, Complaint Rate 1,200 to 1,650, 1,200 to 1,650 complaint cases, 4 hours to 5 minutes, 87% confidence, 9 tables and related impact metrics.</a:t>
            </a:r>
          </a:p>
          <a:p>
            <a:r>
              <a:t>- Content uses the uploaded AI_Operations_Intelligence_Agent_2.pptx as the base storyline.</a:t>
            </a:r>
          </a:p>
          <a:p>
            <a:r>
              <a:t>- Visual on this slide was generated with Microsoft Copilot.</a:t>
            </a:r>
          </a:p>
          <a:p>
            <a:r>
              <a:t>- Dashboard-style images removed and replaced with editable PowerPoint charts using illustrative complaint-case scenario values provided in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D51F6-B97F-3B95-5CF7-4F9DF17C1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AFEA74-3063-0A05-2E05-B4AF862DD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1F54BE-DE1E-4BC3-AF4E-C374124C5C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- Technical architecture elements are based on AI_Technical_Architecture_Slide.pptx: Architecture flow, Processing &amp; AI Engine, Application &amp; Delivery, and architecture components.</a:t>
            </a:r>
          </a:p>
          <a:p>
            <a:r>
              <a:t>- Source specifies Business Users → Insight Forge Investigation Portal (Streamlit on Cloud Run) → AI Investigation Agent → Investigation Engines → BigQuery Reporting &amp; Analytics Layer → Enterprise Operational Data Platform.</a:t>
            </a:r>
          </a:p>
          <a:p>
            <a:r>
              <a:t>- Source also specifies BigQuery approved reporting datasets, Cloud Run hosting/autoscaling, Secret Manager credentials, and IAM role-based access control.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E9F284-86A5-0778-B38F-CC625D8A07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3527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- Uploaded architecture image from Rahul Gupta: Designer (3).png.</a:t>
            </a:r>
          </a:p>
          <a:p>
            <a:r>
              <a:t>- Slide created in the same deck style and positioned after New Way of Analysis to bridge architecture into feasibility, compliance and deployment content.</a:t>
            </a:r>
          </a:p>
          <a:p>
            <a:r>
              <a:t>- Suggested placement: after Slide 7 because Slide 7 introduces the AI investigation flow and this image provides the full high-level integrated architecture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- Based on AI_Technical_Architecture_Slide.pptx: Deployment Plan and Integration sections mention direct integration with BigQuery datasets, reuse of existing KPI calculations, connection to Complaint, Billing, Meter &amp; Customer data, Cloud Run for Streamlit &amp; AI Agent, and OpenAI/Claude API integration.</a:t>
            </a:r>
          </a:p>
          <a:p>
            <a:r>
              <a:t>- Tool calling and AI engine details are from the Processing &amp; AI Engine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Sources
- Content synthesizes the two slide screenshots provided by the user in this chat.
- Key concepts retained: dashboard vs automation vs InsightForge, dynamic investigation, evidence comparison, explainability, business action and reusable pattern.
- Added user-provided positioning: InsightForge is not a standalone product; it integrates with existing dashboards/reports and creates role-based action items for business, consumer-service and sales/operations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- Based on AI_Technical_Architecture_Slide.pptx: Security &amp; Compliance section mentions read-only dataset access, IAM role-based access control, and Secret Manager for credentials.</a:t>
            </a:r>
          </a:p>
          <a:p>
            <a:r>
              <a:t>- Architecture Components mention BigQuery approved reporting datasets, Cloud Run, Secret Manager and IAM.</a:t>
            </a:r>
          </a:p>
          <a:p>
            <a:r>
              <a:t>- Metric-only exposure through tools is based on the user-provided requirement in this chat.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- Based on AI_Technical_Architecture_Slide.pptx: Deployment Plan mentions GCP cloud-native deployment, Cloud Run for Streamlit and AI Agent, BigQuery reporting layer, Dev/UAT/Production environments, and auto-scaling serverless architecture.</a:t>
            </a:r>
          </a:p>
          <a:p>
            <a:r>
              <a:t>- Rollout phases are adapted from the source rollout approach: PoC, Business Pilot, Enterprise Rollout, and Multi KPI Expansion.</a:t>
            </a:r>
          </a:p>
          <a:p>
            <a:r>
              <a:t>- Ownership and support points are based on the source roles: Analytics Team, Data Engineering and Cloud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Sources
- Updated from the detailed reviewer feedback provided by Rahul Gupta in the chat.
- Scenario values are synthetic working-demo numbers from Rahul Gupta feedback: 50,000 customer records, Complaint Rate 1,200 to 1,650, 1,200 to 1,650 complaint cases, 4 hours to 5 minutes, 87% confidence, 9 tables and related impact metrics.
- Content uses the uploaded AI_Operations_Intelligence_Agent_2.pptx as the base storyline.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00241-2A2D-15B2-A1DB-EB4A25C97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E10D70-E5AF-9E76-A78B-8FF6BB5F85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E8B55E-79F6-DD40-DD19-22485E8E0F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Sources
- Updated from the detailed reviewer feedback provided by Rahul Gupta in the chat.
- Scenario values are synthetic working-demo numbers from Rahul Gupta feedback: 50,000 customer records, Complaint Rate 1,200 to 1,650, 1,200 to 1,650 complaint cases, 4 hours to 5 minutes, 87% confidence, 9 tables and related impact metrics.
- Content uses the uploaded AI_Operations_Intelligence_Agent_2.pptx as the base storyline.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35BA3E-0B35-2CE5-1B2A-51E887B111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6939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C5DB1-74CE-69DD-C377-8DED6408C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669D4C-21D4-5EF6-9F8F-F722B5C6B4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E7706D-5C9A-4378-04E9-95715E288C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First slide requested to follow the hackathon reference-image style provided by the user.
- Visual on this slide was generated with Microsoft Copilot.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63818-ECDB-AF3B-9574-6E737B1600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10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508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6483096"/>
            <a:ext cx="3291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>
                <a:solidFill>
                  <a:srgbClr val="6A7785"/>
                </a:solidFill>
              </a:rPr>
              <a:t>InsightForge-AI | AI Operations Intelligence Agent</a:t>
            </a:r>
            <a:endParaRPr lang="en-US" sz="55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bad29691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28016"/>
            <a:ext cx="12191999" cy="6729984"/>
          </a:xfrm>
          <a:prstGeom prst="rect">
            <a:avLst/>
          </a:prstGeom>
          <a:solidFill>
            <a:srgbClr val="001A2B">
              <a:alpha val="87000"/>
            </a:srgbClr>
          </a:solidFill>
          <a:ln w="12700">
            <a:solidFill>
              <a:srgbClr val="001A2B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lang="en-IN">
                <a:solidFill>
                  <a:schemeClr val="bg1"/>
                </a:solidFill>
              </a:rPr>
              <a:t>InsightForge-AI</a:t>
            </a:r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36000"/>
          </a:xfrm>
          <a:prstGeom prst="rect">
            <a:avLst/>
          </a:prstGeom>
          <a:solidFill>
            <a:srgbClr val="FB4D0A"/>
          </a:solidFill>
          <a:ln w="127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75488" y="4389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</a:t>
            </a:r>
            <a:endParaRPr lang="en-US" sz="2500"/>
          </a:p>
        </p:txBody>
      </p:sp>
      <p:sp>
        <p:nvSpPr>
          <p:cNvPr id="6" name="Text 3"/>
          <p:cNvSpPr/>
          <p:nvPr/>
        </p:nvSpPr>
        <p:spPr>
          <a:xfrm>
            <a:off x="475488" y="1143000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4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</a:t>
            </a:r>
            <a:endParaRPr lang="en-US" sz="4800"/>
          </a:p>
        </p:txBody>
      </p:sp>
      <p:sp>
        <p:nvSpPr>
          <p:cNvPr id="7" name="Shape 4"/>
          <p:cNvSpPr/>
          <p:nvPr/>
        </p:nvSpPr>
        <p:spPr>
          <a:xfrm>
            <a:off x="502920" y="2011680"/>
            <a:ext cx="822960" cy="1"/>
          </a:xfrm>
          <a:prstGeom prst="line">
            <a:avLst/>
          </a:prstGeom>
          <a:noFill/>
          <a:ln w="2794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84378" y="2102947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BOLD SOLUTIONS.</a:t>
            </a:r>
            <a:endParaRPr lang="en-US" sz="1800"/>
          </a:p>
        </p:txBody>
      </p:sp>
      <p:sp>
        <p:nvSpPr>
          <p:cNvPr id="9" name="Text 6"/>
          <p:cNvSpPr/>
          <p:nvPr/>
        </p:nvSpPr>
        <p:spPr>
          <a:xfrm>
            <a:off x="502920" y="2587752"/>
            <a:ext cx="4572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REAL-WORLD IMPACT.</a:t>
            </a:r>
            <a:endParaRPr lang="en-US" sz="2000"/>
          </a:p>
        </p:txBody>
      </p:sp>
      <p:sp>
        <p:nvSpPr>
          <p:cNvPr id="10" name="Shape 7"/>
          <p:cNvSpPr/>
          <p:nvPr/>
        </p:nvSpPr>
        <p:spPr>
          <a:xfrm>
            <a:off x="658368" y="3127248"/>
            <a:ext cx="256032" cy="256032"/>
          </a:xfrm>
          <a:prstGeom prst="arc">
            <a:avLst/>
          </a:prstGeom>
          <a:noFill/>
          <a:ln w="1524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02336" y="3456432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INNOVATE</a:t>
            </a:r>
            <a:endParaRPr lang="en-US" sz="760"/>
          </a:p>
        </p:txBody>
      </p:sp>
      <p:sp>
        <p:nvSpPr>
          <p:cNvPr id="12" name="Shape 9"/>
          <p:cNvSpPr/>
          <p:nvPr/>
        </p:nvSpPr>
        <p:spPr>
          <a:xfrm>
            <a:off x="1453896" y="3447288"/>
            <a:ext cx="1" cy="201168"/>
          </a:xfrm>
          <a:prstGeom prst="line">
            <a:avLst/>
          </a:prstGeom>
          <a:noFill/>
          <a:ln w="1397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2029968" y="3127248"/>
            <a:ext cx="256032" cy="256032"/>
          </a:xfrm>
          <a:prstGeom prst="arc">
            <a:avLst/>
          </a:prstGeom>
          <a:noFill/>
          <a:ln w="1524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1773936" y="3456432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</a:t>
            </a:r>
            <a:endParaRPr lang="en-US" sz="760"/>
          </a:p>
        </p:txBody>
      </p:sp>
      <p:sp>
        <p:nvSpPr>
          <p:cNvPr id="15" name="Shape 12"/>
          <p:cNvSpPr/>
          <p:nvPr/>
        </p:nvSpPr>
        <p:spPr>
          <a:xfrm>
            <a:off x="2825496" y="3447288"/>
            <a:ext cx="1" cy="201168"/>
          </a:xfrm>
          <a:prstGeom prst="line">
            <a:avLst/>
          </a:prstGeom>
          <a:noFill/>
          <a:ln w="1397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3328416" y="3127248"/>
            <a:ext cx="256032" cy="256032"/>
          </a:xfrm>
          <a:prstGeom prst="arc">
            <a:avLst/>
          </a:prstGeom>
          <a:noFill/>
          <a:ln w="1524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3072384" y="3456432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760"/>
          </a:p>
        </p:txBody>
      </p:sp>
      <p:sp>
        <p:nvSpPr>
          <p:cNvPr id="18" name="Shape 15"/>
          <p:cNvSpPr/>
          <p:nvPr/>
        </p:nvSpPr>
        <p:spPr>
          <a:xfrm>
            <a:off x="4123944" y="3447288"/>
            <a:ext cx="1" cy="201168"/>
          </a:xfrm>
          <a:prstGeom prst="line">
            <a:avLst/>
          </a:prstGeom>
          <a:noFill/>
          <a:ln w="1397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4892040" y="3127248"/>
            <a:ext cx="256032" cy="256032"/>
          </a:xfrm>
          <a:prstGeom prst="arc">
            <a:avLst/>
          </a:prstGeom>
          <a:noFill/>
          <a:ln w="1524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636008" y="3456432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760"/>
          </a:p>
        </p:txBody>
      </p:sp>
      <p:sp>
        <p:nvSpPr>
          <p:cNvPr id="21" name="Text 18"/>
          <p:cNvSpPr/>
          <p:nvPr/>
        </p:nvSpPr>
        <p:spPr>
          <a:xfrm>
            <a:off x="475488" y="3785423"/>
            <a:ext cx="1641471" cy="434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name:</a:t>
            </a:r>
            <a:endParaRPr lang="en-US" sz="1600" b="1"/>
          </a:p>
        </p:txBody>
      </p:sp>
      <p:sp>
        <p:nvSpPr>
          <p:cNvPr id="22" name="Shape 19"/>
          <p:cNvSpPr/>
          <p:nvPr/>
        </p:nvSpPr>
        <p:spPr>
          <a:xfrm>
            <a:off x="2062988" y="4076098"/>
            <a:ext cx="2556000" cy="1"/>
          </a:xfrm>
          <a:prstGeom prst="line">
            <a:avLst/>
          </a:prstGeom>
          <a:noFill/>
          <a:ln w="1143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2062988" y="3892731"/>
            <a:ext cx="3246120" cy="192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b="1">
                <a:solidFill>
                  <a:schemeClr val="bg1"/>
                </a:solidFill>
              </a:rPr>
              <a:t>Hackathon Dragon's Den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24" name="Text 21"/>
          <p:cNvSpPr/>
          <p:nvPr/>
        </p:nvSpPr>
        <p:spPr>
          <a:xfrm>
            <a:off x="475488" y="4448025"/>
            <a:ext cx="1325880" cy="145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name:</a:t>
            </a:r>
            <a:endParaRPr lang="en-US" sz="1600"/>
          </a:p>
        </p:txBody>
      </p:sp>
      <p:sp>
        <p:nvSpPr>
          <p:cNvPr id="25" name="Shape 22"/>
          <p:cNvSpPr/>
          <p:nvPr/>
        </p:nvSpPr>
        <p:spPr>
          <a:xfrm>
            <a:off x="2065274" y="4607814"/>
            <a:ext cx="3375406" cy="1"/>
          </a:xfrm>
          <a:prstGeom prst="line">
            <a:avLst/>
          </a:prstGeom>
          <a:noFill/>
          <a:ln w="1143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2076990" y="4423396"/>
            <a:ext cx="4093907" cy="153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b="1">
                <a:solidFill>
                  <a:schemeClr val="bg1"/>
                </a:solidFill>
              </a:rPr>
              <a:t>AI Operations Intelligence Agent</a:t>
            </a:r>
          </a:p>
        </p:txBody>
      </p:sp>
      <p:sp>
        <p:nvSpPr>
          <p:cNvPr id="27" name="Text 24"/>
          <p:cNvSpPr/>
          <p:nvPr/>
        </p:nvSpPr>
        <p:spPr>
          <a:xfrm>
            <a:off x="479850" y="4951805"/>
            <a:ext cx="1040002" cy="153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</a:t>
            </a:r>
            <a:endParaRPr lang="en-US" sz="1600"/>
          </a:p>
        </p:txBody>
      </p:sp>
      <p:sp>
        <p:nvSpPr>
          <p:cNvPr id="28" name="Shape 25"/>
          <p:cNvSpPr/>
          <p:nvPr/>
        </p:nvSpPr>
        <p:spPr>
          <a:xfrm>
            <a:off x="2028974" y="5147056"/>
            <a:ext cx="1584300" cy="1"/>
          </a:xfrm>
          <a:prstGeom prst="line">
            <a:avLst/>
          </a:prstGeom>
          <a:noFill/>
          <a:ln w="1016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479850" y="5598076"/>
            <a:ext cx="1310118" cy="363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</a:t>
            </a:r>
            <a:endParaRPr lang="en-US" sz="1600"/>
          </a:p>
        </p:txBody>
      </p:sp>
      <p:sp>
        <p:nvSpPr>
          <p:cNvPr id="31" name="Shape 28"/>
          <p:cNvSpPr/>
          <p:nvPr/>
        </p:nvSpPr>
        <p:spPr>
          <a:xfrm flipV="1">
            <a:off x="2058920" y="5569264"/>
            <a:ext cx="1075395" cy="10159"/>
          </a:xfrm>
          <a:prstGeom prst="line">
            <a:avLst/>
          </a:prstGeom>
          <a:noFill/>
          <a:ln w="1016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2058920" y="5872098"/>
            <a:ext cx="1152000" cy="1"/>
          </a:xfrm>
          <a:prstGeom prst="line">
            <a:avLst/>
          </a:prstGeom>
          <a:noFill/>
          <a:ln w="1016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2053590" y="6150098"/>
            <a:ext cx="1530858" cy="1"/>
          </a:xfrm>
          <a:prstGeom prst="line">
            <a:avLst/>
          </a:prstGeom>
          <a:noFill/>
          <a:ln w="1016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1737360" y="5495544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>
              <a:solidFill>
                <a:schemeClr val="bg1"/>
              </a:solidFill>
            </a:endParaRPr>
          </a:p>
        </p:txBody>
      </p:sp>
      <p:sp>
        <p:nvSpPr>
          <p:cNvPr id="35" name="Text 32"/>
          <p:cNvSpPr/>
          <p:nvPr/>
        </p:nvSpPr>
        <p:spPr>
          <a:xfrm>
            <a:off x="7973568" y="55229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Idea. Build. Scale.</a:t>
            </a:r>
            <a:endParaRPr lang="en-US" sz="1700"/>
          </a:p>
        </p:txBody>
      </p:sp>
      <p:sp>
        <p:nvSpPr>
          <p:cNvPr id="36" name="Text 33"/>
          <p:cNvSpPr/>
          <p:nvPr/>
        </p:nvSpPr>
        <p:spPr>
          <a:xfrm>
            <a:off x="8549640" y="58795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TOMORROW,</a:t>
            </a:r>
            <a:endParaRPr lang="en-US" sz="1300"/>
          </a:p>
        </p:txBody>
      </p:sp>
      <p:sp>
        <p:nvSpPr>
          <p:cNvPr id="37" name="Text 34"/>
          <p:cNvSpPr/>
          <p:nvPr/>
        </p:nvSpPr>
        <p:spPr>
          <a:xfrm>
            <a:off x="8942832" y="612648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TOGETHER.</a:t>
            </a:r>
            <a:endParaRPr lang="en-US" sz="1600"/>
          </a:p>
        </p:txBody>
      </p:sp>
      <p:sp>
        <p:nvSpPr>
          <p:cNvPr id="39" name="Text 23">
            <a:extLst>
              <a:ext uri="{FF2B5EF4-FFF2-40B4-BE49-F238E27FC236}">
                <a16:creationId xmlns:a16="http://schemas.microsoft.com/office/drawing/2014/main" id="{6255465E-1704-E899-922B-592EAEBB7BEB}"/>
              </a:ext>
            </a:extLst>
          </p:cNvPr>
          <p:cNvSpPr/>
          <p:nvPr/>
        </p:nvSpPr>
        <p:spPr>
          <a:xfrm>
            <a:off x="2029968" y="4911915"/>
            <a:ext cx="3246120" cy="29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b="1">
                <a:solidFill>
                  <a:schemeClr val="bg1"/>
                </a:solidFill>
              </a:rPr>
              <a:t>InsightForge-AI</a:t>
            </a:r>
          </a:p>
        </p:txBody>
      </p:sp>
      <p:sp>
        <p:nvSpPr>
          <p:cNvPr id="41" name="Text 23">
            <a:extLst>
              <a:ext uri="{FF2B5EF4-FFF2-40B4-BE49-F238E27FC236}">
                <a16:creationId xmlns:a16="http://schemas.microsoft.com/office/drawing/2014/main" id="{105F2D9B-72EE-7E97-1D17-9ADE441C6BE8}"/>
              </a:ext>
            </a:extLst>
          </p:cNvPr>
          <p:cNvSpPr/>
          <p:nvPr/>
        </p:nvSpPr>
        <p:spPr>
          <a:xfrm>
            <a:off x="2050596" y="5399843"/>
            <a:ext cx="1277820" cy="179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b="1">
                <a:solidFill>
                  <a:schemeClr val="bg1"/>
                </a:solidFill>
              </a:rPr>
              <a:t>Manish Dua</a:t>
            </a:r>
          </a:p>
        </p:txBody>
      </p:sp>
      <p:sp>
        <p:nvSpPr>
          <p:cNvPr id="45" name="Shape 28">
            <a:extLst>
              <a:ext uri="{FF2B5EF4-FFF2-40B4-BE49-F238E27FC236}">
                <a16:creationId xmlns:a16="http://schemas.microsoft.com/office/drawing/2014/main" id="{2AB8C1AC-65DA-5003-813F-82F1AE020F20}"/>
              </a:ext>
            </a:extLst>
          </p:cNvPr>
          <p:cNvSpPr/>
          <p:nvPr/>
        </p:nvSpPr>
        <p:spPr>
          <a:xfrm flipV="1">
            <a:off x="3195828" y="5564185"/>
            <a:ext cx="1310979" cy="10160"/>
          </a:xfrm>
          <a:prstGeom prst="line">
            <a:avLst/>
          </a:prstGeom>
          <a:noFill/>
          <a:ln w="1016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23">
            <a:extLst>
              <a:ext uri="{FF2B5EF4-FFF2-40B4-BE49-F238E27FC236}">
                <a16:creationId xmlns:a16="http://schemas.microsoft.com/office/drawing/2014/main" id="{E7F9E813-EBFC-AFB3-CD11-C8F1A60AE946}"/>
              </a:ext>
            </a:extLst>
          </p:cNvPr>
          <p:cNvSpPr/>
          <p:nvPr/>
        </p:nvSpPr>
        <p:spPr>
          <a:xfrm>
            <a:off x="3195828" y="5402922"/>
            <a:ext cx="1494790" cy="173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b="1">
                <a:solidFill>
                  <a:schemeClr val="bg1"/>
                </a:solidFill>
              </a:rPr>
              <a:t>Mukesh Yadav</a:t>
            </a:r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2FE9EA2D-9E22-EFE9-E6EC-D7C1106F0ACF}"/>
              </a:ext>
            </a:extLst>
          </p:cNvPr>
          <p:cNvSpPr/>
          <p:nvPr/>
        </p:nvSpPr>
        <p:spPr>
          <a:xfrm>
            <a:off x="2050596" y="5686990"/>
            <a:ext cx="1868874" cy="179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b="1">
                <a:solidFill>
                  <a:schemeClr val="bg1"/>
                </a:solidFill>
              </a:rPr>
              <a:t>Rahul Gupta</a:t>
            </a:r>
          </a:p>
        </p:txBody>
      </p:sp>
      <p:sp>
        <p:nvSpPr>
          <p:cNvPr id="51" name="Shape 29">
            <a:extLst>
              <a:ext uri="{FF2B5EF4-FFF2-40B4-BE49-F238E27FC236}">
                <a16:creationId xmlns:a16="http://schemas.microsoft.com/office/drawing/2014/main" id="{EB5653CC-01FC-5401-EA4E-33AD79141E07}"/>
              </a:ext>
            </a:extLst>
          </p:cNvPr>
          <p:cNvSpPr/>
          <p:nvPr/>
        </p:nvSpPr>
        <p:spPr>
          <a:xfrm>
            <a:off x="3227053" y="5872097"/>
            <a:ext cx="1489407" cy="5527"/>
          </a:xfrm>
          <a:prstGeom prst="line">
            <a:avLst/>
          </a:prstGeom>
          <a:noFill/>
          <a:ln w="1016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23">
            <a:extLst>
              <a:ext uri="{FF2B5EF4-FFF2-40B4-BE49-F238E27FC236}">
                <a16:creationId xmlns:a16="http://schemas.microsoft.com/office/drawing/2014/main" id="{3000C3D8-F67B-7C7C-D823-676AD7A0A44E}"/>
              </a:ext>
            </a:extLst>
          </p:cNvPr>
          <p:cNvSpPr/>
          <p:nvPr/>
        </p:nvSpPr>
        <p:spPr>
          <a:xfrm>
            <a:off x="3222791" y="5696933"/>
            <a:ext cx="1676843" cy="182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b="1">
                <a:solidFill>
                  <a:schemeClr val="bg1"/>
                </a:solidFill>
              </a:rPr>
              <a:t>Shivam Rajawat</a:t>
            </a:r>
          </a:p>
        </p:txBody>
      </p:sp>
      <p:sp>
        <p:nvSpPr>
          <p:cNvPr id="55" name="Text 23">
            <a:extLst>
              <a:ext uri="{FF2B5EF4-FFF2-40B4-BE49-F238E27FC236}">
                <a16:creationId xmlns:a16="http://schemas.microsoft.com/office/drawing/2014/main" id="{4244558B-A8C9-E9EC-D875-DFE4E29D89FC}"/>
              </a:ext>
            </a:extLst>
          </p:cNvPr>
          <p:cNvSpPr/>
          <p:nvPr/>
        </p:nvSpPr>
        <p:spPr>
          <a:xfrm>
            <a:off x="2036058" y="5968104"/>
            <a:ext cx="1982150" cy="179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b="1">
                <a:solidFill>
                  <a:schemeClr val="bg1"/>
                </a:solidFill>
              </a:rPr>
              <a:t>Kartik Chaudhari</a:t>
            </a:r>
          </a:p>
        </p:txBody>
      </p:sp>
      <p:sp>
        <p:nvSpPr>
          <p:cNvPr id="57" name="Shape 30">
            <a:extLst>
              <a:ext uri="{FF2B5EF4-FFF2-40B4-BE49-F238E27FC236}">
                <a16:creationId xmlns:a16="http://schemas.microsoft.com/office/drawing/2014/main" id="{FE6EDFBC-290F-CCC6-603F-14F428D5703C}"/>
              </a:ext>
            </a:extLst>
          </p:cNvPr>
          <p:cNvSpPr/>
          <p:nvPr/>
        </p:nvSpPr>
        <p:spPr>
          <a:xfrm>
            <a:off x="3613274" y="6150098"/>
            <a:ext cx="1908000" cy="1"/>
          </a:xfrm>
          <a:prstGeom prst="line">
            <a:avLst/>
          </a:prstGeom>
          <a:noFill/>
          <a:ln w="1016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23">
            <a:extLst>
              <a:ext uri="{FF2B5EF4-FFF2-40B4-BE49-F238E27FC236}">
                <a16:creationId xmlns:a16="http://schemas.microsoft.com/office/drawing/2014/main" id="{5DD00A1A-8CD6-6859-0F0C-45D78F8C9F66}"/>
              </a:ext>
            </a:extLst>
          </p:cNvPr>
          <p:cNvSpPr/>
          <p:nvPr/>
        </p:nvSpPr>
        <p:spPr>
          <a:xfrm>
            <a:off x="3936870" y="6226897"/>
            <a:ext cx="2754577" cy="179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IN" sz="16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6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a35235fd38.pn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B2C">
              <a:alpha val="86000"/>
            </a:srgbClr>
          </a:solidFill>
          <a:ln w="12700">
            <a:solidFill>
              <a:srgbClr val="001B2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36000"/>
          </a:xfrm>
          <a:prstGeom prst="rect">
            <a:avLst/>
          </a:prstGeom>
          <a:solidFill>
            <a:srgbClr val="FB4D0A"/>
          </a:solidFill>
          <a:ln w="127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57200" y="713232"/>
            <a:ext cx="6400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Operations Intelligence Agent</a:t>
            </a:r>
            <a:endParaRPr lang="en-US" sz="4000"/>
          </a:p>
        </p:txBody>
      </p:sp>
      <p:sp>
        <p:nvSpPr>
          <p:cNvPr id="6" name="Text 3"/>
          <p:cNvSpPr/>
          <p:nvPr/>
        </p:nvSpPr>
        <p:spPr>
          <a:xfrm>
            <a:off x="505335" y="1857959"/>
            <a:ext cx="3657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600" b="1">
                <a:solidFill>
                  <a:srgbClr val="DDEA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InsightForge-AI | Dragon's Den pitch</a:t>
            </a:r>
            <a:endParaRPr lang="en-US" sz="1600"/>
          </a:p>
        </p:txBody>
      </p:sp>
      <p:sp>
        <p:nvSpPr>
          <p:cNvPr id="7" name="Shape 4"/>
          <p:cNvSpPr/>
          <p:nvPr/>
        </p:nvSpPr>
        <p:spPr>
          <a:xfrm>
            <a:off x="505335" y="2539355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800"/>
          </a:p>
        </p:txBody>
      </p:sp>
      <p:sp>
        <p:nvSpPr>
          <p:cNvPr id="8" name="Text 5"/>
          <p:cNvSpPr/>
          <p:nvPr/>
        </p:nvSpPr>
        <p:spPr>
          <a:xfrm>
            <a:off x="724791" y="2767955"/>
            <a:ext cx="12344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0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MESSAGE</a:t>
            </a:r>
            <a:endParaRPr lang="en-US" sz="1000"/>
          </a:p>
        </p:txBody>
      </p:sp>
      <p:sp>
        <p:nvSpPr>
          <p:cNvPr id="9" name="Text 6"/>
          <p:cNvSpPr/>
          <p:nvPr/>
        </p:nvSpPr>
        <p:spPr>
          <a:xfrm>
            <a:off x="724791" y="3078851"/>
            <a:ext cx="4590288" cy="75516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lang="en-US" sz="1600" b="1">
                <a:solidFill>
                  <a:srgbClr val="00263E"/>
                </a:solidFill>
                <a:ea typeface="+mn-lt"/>
                <a:cs typeface="+mn-lt"/>
              </a:rPr>
              <a:t>Dashboards show the number. </a:t>
            </a:r>
            <a:r>
              <a:rPr lang="en-US" sz="1600" b="1" err="1">
                <a:solidFill>
                  <a:srgbClr val="00263E"/>
                </a:solidFill>
                <a:ea typeface="+mn-lt"/>
                <a:cs typeface="+mn-lt"/>
              </a:rPr>
              <a:t>InsightForge</a:t>
            </a:r>
            <a:r>
              <a:rPr lang="en-US" sz="1600" b="1">
                <a:solidFill>
                  <a:srgbClr val="00263E"/>
                </a:solidFill>
                <a:ea typeface="+mn-lt"/>
                <a:cs typeface="+mn-lt"/>
              </a:rPr>
              <a:t> detects what changed, investigates why, identifies who is impacted, and tells you what to do next.</a:t>
            </a:r>
            <a:endParaRPr lang="en-US" b="1">
              <a:ea typeface="+mn-lt"/>
              <a:cs typeface="+mn-lt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279319" y="4679539"/>
            <a:ext cx="2412000" cy="288000"/>
          </a:xfrm>
          <a:prstGeom prst="roundRect">
            <a:avLst>
              <a:gd name="adj" fmla="val 26667"/>
            </a:avLst>
          </a:prstGeom>
          <a:solidFill>
            <a:srgbClr val="003C5F"/>
          </a:solidFill>
          <a:ln w="12700">
            <a:solidFill>
              <a:srgbClr val="003C5F"/>
            </a:solidFill>
            <a:prstDash val="solid"/>
          </a:ln>
        </p:spPr>
        <p:txBody>
          <a:bodyPr/>
          <a:lstStyle/>
          <a:p>
            <a:endParaRPr lang="en-IN" sz="4000"/>
          </a:p>
        </p:txBody>
      </p:sp>
      <p:sp>
        <p:nvSpPr>
          <p:cNvPr id="11" name="Text 8"/>
          <p:cNvSpPr/>
          <p:nvPr/>
        </p:nvSpPr>
        <p:spPr>
          <a:xfrm>
            <a:off x="1625063" y="4761348"/>
            <a:ext cx="16459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another dashboard</a:t>
            </a:r>
            <a:endParaRPr lang="en-US" sz="1200"/>
          </a:p>
        </p:txBody>
      </p:sp>
      <p:sp>
        <p:nvSpPr>
          <p:cNvPr id="12" name="Shape 9"/>
          <p:cNvSpPr/>
          <p:nvPr/>
        </p:nvSpPr>
        <p:spPr>
          <a:xfrm>
            <a:off x="3787923" y="4680689"/>
            <a:ext cx="2422800" cy="288000"/>
          </a:xfrm>
          <a:prstGeom prst="roundRect">
            <a:avLst>
              <a:gd name="adj" fmla="val 26667"/>
            </a:avLst>
          </a:prstGeom>
          <a:solidFill>
            <a:srgbClr val="FB4D0A"/>
          </a:solidFill>
          <a:ln w="127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 sz="4000"/>
          </a:p>
        </p:txBody>
      </p:sp>
      <p:sp>
        <p:nvSpPr>
          <p:cNvPr id="13" name="Text 10"/>
          <p:cNvSpPr/>
          <p:nvPr/>
        </p:nvSpPr>
        <p:spPr>
          <a:xfrm>
            <a:off x="4031361" y="4761348"/>
            <a:ext cx="196596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root-cause investigation</a:t>
            </a:r>
            <a:endParaRPr lang="en-US" sz="1200"/>
          </a:p>
        </p:txBody>
      </p:sp>
      <p:sp>
        <p:nvSpPr>
          <p:cNvPr id="14" name="Shape 11"/>
          <p:cNvSpPr/>
          <p:nvPr/>
        </p:nvSpPr>
        <p:spPr>
          <a:xfrm>
            <a:off x="6307327" y="4680689"/>
            <a:ext cx="2422125" cy="294334"/>
          </a:xfrm>
          <a:prstGeom prst="roundRect">
            <a:avLst>
              <a:gd name="adj" fmla="val 2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 sz="4000"/>
          </a:p>
        </p:txBody>
      </p:sp>
      <p:sp>
        <p:nvSpPr>
          <p:cNvPr id="15" name="Text 12"/>
          <p:cNvSpPr/>
          <p:nvPr/>
        </p:nvSpPr>
        <p:spPr>
          <a:xfrm>
            <a:off x="6307327" y="4727102"/>
            <a:ext cx="2422125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Evidence-backed actions</a:t>
            </a:r>
            <a:endParaRPr lang="en-US" sz="1200"/>
          </a:p>
        </p:txBody>
      </p:sp>
      <p:sp>
        <p:nvSpPr>
          <p:cNvPr id="16" name="Text 13"/>
          <p:cNvSpPr/>
          <p:nvPr/>
        </p:nvSpPr>
        <p:spPr>
          <a:xfrm>
            <a:off x="724790" y="5708270"/>
            <a:ext cx="8263935" cy="43649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used throughout: 25,000 customer records | Complaint cases: 1,200 to 1,650 | RCA: 4 hours to 5 minutes</a:t>
            </a:r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6000"/>
          </a:xfrm>
          <a:prstGeom prst="rect">
            <a:avLst/>
          </a:prstGeom>
          <a:solidFill>
            <a:srgbClr val="FB4D0A"/>
          </a:solidFill>
          <a:ln>
            <a:solidFill>
              <a:srgbClr val="FB4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EE70D54-1509-70BE-9501-7903A932D25C}"/>
              </a:ext>
            </a:extLst>
          </p:cNvPr>
          <p:cNvGrpSpPr/>
          <p:nvPr/>
        </p:nvGrpSpPr>
        <p:grpSpPr>
          <a:xfrm>
            <a:off x="438912" y="1325880"/>
            <a:ext cx="11292840" cy="1024128"/>
            <a:chOff x="438912" y="1325880"/>
            <a:chExt cx="11292840" cy="1024128"/>
          </a:xfrm>
        </p:grpSpPr>
        <p:sp>
          <p:nvSpPr>
            <p:cNvPr id="6" name="Rounded Rectangle 5"/>
            <p:cNvSpPr/>
            <p:nvPr/>
          </p:nvSpPr>
          <p:spPr>
            <a:xfrm>
              <a:off x="438912" y="1325880"/>
              <a:ext cx="11292840" cy="1024128"/>
            </a:xfrm>
            <a:prstGeom prst="roundRect">
              <a:avLst/>
            </a:prstGeom>
            <a:solidFill>
              <a:srgbClr val="00263E"/>
            </a:solidFill>
            <a:ln w="10160">
              <a:solidFill>
                <a:srgbClr val="00263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85799" y="1428607"/>
              <a:ext cx="2652624" cy="221599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spAutoFit/>
            </a:bodyPr>
            <a:lstStyle/>
            <a:p>
              <a:r>
                <a:rPr sz="1200" b="1">
                  <a:solidFill>
                    <a:srgbClr val="FB4D0A"/>
                  </a:solidFill>
                  <a:latin typeface="Aptos"/>
                </a:rPr>
                <a:t>Main business problem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85799" y="1673352"/>
              <a:ext cx="10482309" cy="498598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spAutoFit/>
            </a:bodyPr>
            <a:lstStyle/>
            <a:p>
              <a:r>
                <a:rPr lang="en-US" sz="1500" b="1">
                  <a:solidFill>
                    <a:srgbClr val="FFFFFF"/>
                  </a:solidFill>
                  <a:latin typeface="Aptos Display"/>
                </a:rPr>
                <a:t>Utility teams can see operational KPIs changing in existing dashboards, but they cannot quickly understand the real business reason, impacted customer groups, and priority action required for each user group.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F4E2158-429F-07D1-F7EE-4DB44E3E354B}"/>
              </a:ext>
            </a:extLst>
          </p:cNvPr>
          <p:cNvGrpSpPr/>
          <p:nvPr/>
        </p:nvGrpSpPr>
        <p:grpSpPr>
          <a:xfrm>
            <a:off x="438912" y="2743200"/>
            <a:ext cx="5440680" cy="2331720"/>
            <a:chOff x="438912" y="2743200"/>
            <a:chExt cx="5440680" cy="2331720"/>
          </a:xfrm>
        </p:grpSpPr>
        <p:sp>
          <p:nvSpPr>
            <p:cNvPr id="9" name="Rounded Rectangle 8"/>
            <p:cNvSpPr/>
            <p:nvPr/>
          </p:nvSpPr>
          <p:spPr>
            <a:xfrm>
              <a:off x="438912" y="2743200"/>
              <a:ext cx="5440680" cy="2331720"/>
            </a:xfrm>
            <a:prstGeom prst="roundRect">
              <a:avLst/>
            </a:prstGeom>
            <a:solidFill>
              <a:srgbClr val="F4F7FA"/>
            </a:solidFill>
            <a:ln w="10160">
              <a:solidFill>
                <a:srgbClr val="D8E1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85800" y="2944368"/>
              <a:ext cx="1645920" cy="164592"/>
            </a:xfrm>
            <a:prstGeom prst="rect">
              <a:avLst/>
            </a:prstGeom>
            <a:noFill/>
          </p:spPr>
          <p:txBody>
            <a:bodyPr wrap="none" lIns="36576" tIns="18288" rIns="36576" bIns="18288">
              <a:spAutoFit/>
            </a:bodyPr>
            <a:lstStyle/>
            <a:p>
              <a:r>
                <a:rPr sz="1200" b="1">
                  <a:solidFill>
                    <a:srgbClr val="FB4D0A"/>
                  </a:solidFill>
                  <a:latin typeface="Aptos"/>
                </a:rPr>
                <a:t>Key challenges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85799" y="3273552"/>
              <a:ext cx="5102525" cy="1620957"/>
            </a:xfrm>
            <a:prstGeom prst="rect">
              <a:avLst/>
            </a:prstGeom>
            <a:noFill/>
          </p:spPr>
          <p:txBody>
            <a:bodyPr wrap="square" lIns="45720" tIns="18288" rIns="45720" bIns="18288">
              <a:spAutoFit/>
            </a:bodyPr>
            <a:lstStyle/>
            <a:p>
              <a:pPr>
                <a:spcAft>
                  <a:spcPts val="400"/>
                </a:spcAft>
                <a:defRPr sz="1120">
                  <a:solidFill>
                    <a:srgbClr val="3B4652"/>
                  </a:solidFill>
                  <a:latin typeface="Aptos"/>
                </a:defRPr>
              </a:pPr>
              <a:r>
                <a:rPr lang="en-US"/>
                <a:t>• Root-cause visibility is fragmented across multiple operational processes and systems.</a:t>
              </a:r>
            </a:p>
            <a:p>
              <a:pPr>
                <a:spcAft>
                  <a:spcPts val="400"/>
                </a:spcAft>
                <a:defRPr sz="1120">
                  <a:solidFill>
                    <a:srgbClr val="3B4652"/>
                  </a:solidFill>
                  <a:latin typeface="Aptos"/>
                </a:defRPr>
              </a:pPr>
              <a:r>
                <a:rPr lang="en-US"/>
                <a:t>• Business teams spend too much time interpreting data before action can begin.</a:t>
              </a:r>
            </a:p>
            <a:p>
              <a:pPr>
                <a:spcAft>
                  <a:spcPts val="400"/>
                </a:spcAft>
                <a:defRPr sz="1120">
                  <a:solidFill>
                    <a:srgbClr val="3B4652"/>
                  </a:solidFill>
                  <a:latin typeface="Aptos"/>
                </a:defRPr>
              </a:pPr>
              <a:r>
                <a:rPr lang="en-US"/>
                <a:t>• Different analysts or teams may reach different conclusions from the same KPI movement.</a:t>
              </a:r>
            </a:p>
            <a:p>
              <a:pPr>
                <a:spcAft>
                  <a:spcPts val="400"/>
                </a:spcAft>
                <a:defRPr sz="1120">
                  <a:solidFill>
                    <a:srgbClr val="3B4652"/>
                  </a:solidFill>
                  <a:latin typeface="Aptos"/>
                </a:defRPr>
              </a:pPr>
              <a:r>
                <a:rPr lang="en-US"/>
                <a:t>• Operational decisions become reactive instead of proactive.</a:t>
              </a:r>
              <a:endParaRPr lang="en-US" sz="1120">
                <a:solidFill>
                  <a:srgbClr val="3B4652"/>
                </a:solidFill>
                <a:latin typeface="Aptos"/>
              </a:endParaRPr>
            </a:p>
            <a:p>
              <a:pPr>
                <a:spcAft>
                  <a:spcPts val="400"/>
                </a:spcAft>
                <a:defRPr sz="1120">
                  <a:solidFill>
                    <a:srgbClr val="3B4652"/>
                  </a:solidFill>
                  <a:latin typeface="Aptos"/>
                </a:defRPr>
              </a:pPr>
              <a:r>
                <a:rPr lang="en-US"/>
                <a:t>• </a:t>
              </a:r>
              <a:r>
                <a:rPr lang="en-US" sz="1120">
                  <a:solidFill>
                    <a:srgbClr val="3B4652"/>
                  </a:solidFill>
                  <a:latin typeface="Aptos"/>
                </a:rPr>
                <a:t>Delayed understanding leads to reactive customer and operational management.</a:t>
              </a: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6291072" y="2743200"/>
            <a:ext cx="544068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FCD95FE-3D6F-CA16-065C-296EE466FC76}"/>
              </a:ext>
            </a:extLst>
          </p:cNvPr>
          <p:cNvGrpSpPr/>
          <p:nvPr/>
        </p:nvGrpSpPr>
        <p:grpSpPr>
          <a:xfrm>
            <a:off x="6537960" y="2944368"/>
            <a:ext cx="5120640" cy="1726490"/>
            <a:chOff x="6537960" y="2944368"/>
            <a:chExt cx="5120640" cy="1726490"/>
          </a:xfrm>
        </p:grpSpPr>
        <p:sp>
          <p:nvSpPr>
            <p:cNvPr id="13" name="TextBox 12"/>
            <p:cNvSpPr txBox="1"/>
            <p:nvPr/>
          </p:nvSpPr>
          <p:spPr>
            <a:xfrm>
              <a:off x="6537960" y="2944368"/>
              <a:ext cx="1554480" cy="164592"/>
            </a:xfrm>
            <a:prstGeom prst="rect">
              <a:avLst/>
            </a:prstGeom>
            <a:noFill/>
          </p:spPr>
          <p:txBody>
            <a:bodyPr wrap="none" lIns="36576" tIns="18288" rIns="36576" bIns="18288">
              <a:spAutoFit/>
            </a:bodyPr>
            <a:lstStyle/>
            <a:p>
              <a:r>
                <a:rPr sz="1200" b="1">
                  <a:solidFill>
                    <a:srgbClr val="FB4D0A"/>
                  </a:solidFill>
                  <a:latin typeface="Aptos"/>
                </a:rPr>
                <a:t>Business impact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537960" y="3273552"/>
              <a:ext cx="5120640" cy="1397306"/>
            </a:xfrm>
            <a:prstGeom prst="rect">
              <a:avLst/>
            </a:prstGeom>
            <a:noFill/>
          </p:spPr>
          <p:txBody>
            <a:bodyPr wrap="square" lIns="45720" tIns="18288" rIns="45720" bIns="18288">
              <a:spAutoFit/>
            </a:bodyPr>
            <a:lstStyle/>
            <a:p>
              <a:pPr>
                <a:spcAft>
                  <a:spcPts val="400"/>
                </a:spcAft>
                <a:defRPr sz="1120">
                  <a:solidFill>
                    <a:srgbClr val="3B4652"/>
                  </a:solidFill>
                  <a:latin typeface="Aptos"/>
                </a:defRPr>
              </a:pPr>
              <a:r>
                <a:rPr lang="en-US"/>
                <a:t>• Customer-impacting issues can escalate before the true driver is identified.</a:t>
              </a:r>
            </a:p>
            <a:p>
              <a:pPr>
                <a:spcAft>
                  <a:spcPts val="400"/>
                </a:spcAft>
                <a:defRPr sz="1120">
                  <a:solidFill>
                    <a:srgbClr val="3B4652"/>
                  </a:solidFill>
                  <a:latin typeface="Aptos"/>
                </a:defRPr>
              </a:pPr>
              <a:r>
                <a:rPr lang="en-US"/>
                <a:t>• High-risk customers, regions, segments or processes may not be prioritized early enough.</a:t>
              </a:r>
            </a:p>
            <a:p>
              <a:pPr>
                <a:spcAft>
                  <a:spcPts val="400"/>
                </a:spcAft>
                <a:defRPr sz="1120">
                  <a:solidFill>
                    <a:srgbClr val="3B4652"/>
                  </a:solidFill>
                  <a:latin typeface="Aptos"/>
                </a:defRPr>
              </a:pPr>
              <a:r>
                <a:rPr lang="en-US"/>
                <a:t>• Leadership receives KPI movement updates without clear evidence or action confidence.</a:t>
              </a:r>
            </a:p>
            <a:p>
              <a:pPr>
                <a:spcAft>
                  <a:spcPts val="400"/>
                </a:spcAft>
                <a:defRPr sz="1120">
                  <a:solidFill>
                    <a:srgbClr val="3B4652"/>
                  </a:solidFill>
                  <a:latin typeface="Aptos"/>
                </a:defRPr>
              </a:pPr>
              <a:r>
                <a:rPr lang="en-US"/>
                <a:t>• Resources are not always focused on the issues with the highest business impact.</a:t>
              </a:r>
            </a:p>
          </p:txBody>
        </p:sp>
      </p:grpSp>
      <p:sp>
        <p:nvSpPr>
          <p:cNvPr id="15" name="Rounded Rectangle 14"/>
          <p:cNvSpPr/>
          <p:nvPr/>
        </p:nvSpPr>
        <p:spPr>
          <a:xfrm>
            <a:off x="438912" y="5532120"/>
            <a:ext cx="11292840" cy="713232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0717" y="5742432"/>
            <a:ext cx="1633843" cy="20621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100" b="1">
                <a:solidFill>
                  <a:srgbClr val="FB4D0A"/>
                </a:solidFill>
                <a:latin typeface="Aptos"/>
              </a:rPr>
              <a:t>What needs to change: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76272" y="5669280"/>
            <a:ext cx="9331366" cy="437043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US" sz="1300" b="1">
                <a:solidFill>
                  <a:srgbClr val="00263E"/>
                </a:solidFill>
              </a:rPr>
              <a:t>Move from “KPI changed” to integrated report-level insight: why it changed, who is impacted, what evidence supports it, and what action each user group should take next.</a:t>
            </a:r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2031AA97-63F0-89E5-6555-E20C2DE3C7E7}"/>
              </a:ext>
            </a:extLst>
          </p:cNvPr>
          <p:cNvSpPr/>
          <p:nvPr/>
        </p:nvSpPr>
        <p:spPr>
          <a:xfrm>
            <a:off x="749808" y="118872"/>
            <a:ext cx="6035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IN" sz="2400" b="1">
                <a:solidFill>
                  <a:srgbClr val="005071"/>
                </a:solidFill>
                <a:latin typeface="Aptos Display"/>
              </a:rPr>
              <a:t>Business Problem</a:t>
            </a:r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27D2F15C-F0D5-722C-2299-01FFAA2CC51A}"/>
              </a:ext>
            </a:extLst>
          </p:cNvPr>
          <p:cNvSpPr/>
          <p:nvPr/>
        </p:nvSpPr>
        <p:spPr>
          <a:xfrm>
            <a:off x="219456" y="731520"/>
            <a:ext cx="11777472" cy="1"/>
          </a:xfrm>
          <a:prstGeom prst="line">
            <a:avLst/>
          </a:prstGeom>
          <a:noFill/>
          <a:ln w="1016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D48DA4-DD0C-B72D-BF2D-B248169E0EB9}"/>
              </a:ext>
            </a:extLst>
          </p:cNvPr>
          <p:cNvSpPr txBox="1"/>
          <p:nvPr/>
        </p:nvSpPr>
        <p:spPr>
          <a:xfrm>
            <a:off x="749808" y="456128"/>
            <a:ext cx="3829703" cy="19851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r>
              <a:rPr sz="1050" b="0">
                <a:solidFill>
                  <a:srgbClr val="3B4652"/>
                </a:solidFill>
                <a:latin typeface="Aptos"/>
              </a:rPr>
              <a:t>The core challenge our AI Operations Intelligence Agent is solving</a:t>
            </a:r>
          </a:p>
        </p:txBody>
      </p:sp>
      <p:sp>
        <p:nvSpPr>
          <p:cNvPr id="19" name="Text 35">
            <a:extLst>
              <a:ext uri="{FF2B5EF4-FFF2-40B4-BE49-F238E27FC236}">
                <a16:creationId xmlns:a16="http://schemas.microsoft.com/office/drawing/2014/main" id="{141B488E-9AD8-F71A-9B64-2392D5102C5F}"/>
              </a:ext>
            </a:extLst>
          </p:cNvPr>
          <p:cNvSpPr/>
          <p:nvPr/>
        </p:nvSpPr>
        <p:spPr>
          <a:xfrm>
            <a:off x="292608" y="6473952"/>
            <a:ext cx="324612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00">
                <a:solidFill>
                  <a:srgbClr val="6A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InsightForge-AI | AI Operations Intelligence Agent</a:t>
            </a:r>
            <a:endParaRPr lang="en-US" sz="700"/>
          </a:p>
        </p:txBody>
      </p:sp>
      <p:sp>
        <p:nvSpPr>
          <p:cNvPr id="21" name="Text 36">
            <a:extLst>
              <a:ext uri="{FF2B5EF4-FFF2-40B4-BE49-F238E27FC236}">
                <a16:creationId xmlns:a16="http://schemas.microsoft.com/office/drawing/2014/main" id="{5233152D-3B6B-ADE5-30EA-E9BDD432B668}"/>
              </a:ext>
            </a:extLst>
          </p:cNvPr>
          <p:cNvSpPr/>
          <p:nvPr/>
        </p:nvSpPr>
        <p:spPr>
          <a:xfrm>
            <a:off x="11411712" y="6473952"/>
            <a:ext cx="41148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EXL</a:t>
            </a:r>
            <a:endParaRPr lang="en-US" sz="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204000" cy="36000"/>
          </a:xfrm>
          <a:prstGeom prst="rect">
            <a:avLst/>
          </a:prstGeom>
          <a:solidFill>
            <a:srgbClr val="FB4D0A"/>
          </a:solidFill>
          <a:ln>
            <a:solidFill>
              <a:srgbClr val="FB4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66344" y="1273049"/>
            <a:ext cx="11247120" cy="9144"/>
          </a:xfrm>
          <a:prstGeom prst="rect">
            <a:avLst/>
          </a:prstGeom>
          <a:solidFill>
            <a:srgbClr val="D8E1EA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11356848" cy="530352"/>
          </a:xfrm>
          <a:prstGeom prst="roundRect">
            <a:avLst/>
          </a:prstGeom>
          <a:solidFill>
            <a:srgbClr val="FFF2EA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417320"/>
            <a:ext cx="7772400" cy="146304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r>
              <a:rPr sz="1200" b="1">
                <a:solidFill>
                  <a:srgbClr val="00263E"/>
                </a:solidFill>
                <a:latin typeface="Aptos Display"/>
              </a:rPr>
              <a:t>Manual investigation journey: fragmented, slow and analyst-dependent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11680"/>
            <a:ext cx="164592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Oval 8"/>
          <p:cNvSpPr/>
          <p:nvPr/>
        </p:nvSpPr>
        <p:spPr>
          <a:xfrm>
            <a:off x="1033271" y="2167128"/>
            <a:ext cx="384048" cy="384048"/>
          </a:xfrm>
          <a:prstGeom prst="ellipse">
            <a:avLst/>
          </a:prstGeom>
          <a:solidFill>
            <a:srgbClr val="FB4D0A"/>
          </a:solidFill>
          <a:ln>
            <a:solidFill>
              <a:srgbClr val="FB4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1157905" y="2276856"/>
            <a:ext cx="134780" cy="175433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550" y="2679192"/>
            <a:ext cx="1462068" cy="19851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050" b="1">
                <a:solidFill>
                  <a:srgbClr val="FB4D0A"/>
                </a:solidFill>
                <a:latin typeface="Aptos"/>
              </a:rPr>
              <a:t>KPI movement noticed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2962656"/>
            <a:ext cx="1243584" cy="68326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lang="en-US" sz="1050">
                <a:solidFill>
                  <a:srgbClr val="3B4652"/>
                </a:solidFill>
              </a:rPr>
              <a:t>Existing dashboard/report shows KPI movement.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86584" y="2011680"/>
            <a:ext cx="1645920" cy="182880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Oval 14"/>
          <p:cNvSpPr/>
          <p:nvPr/>
        </p:nvSpPr>
        <p:spPr>
          <a:xfrm>
            <a:off x="2916936" y="2167128"/>
            <a:ext cx="384048" cy="384048"/>
          </a:xfrm>
          <a:prstGeom prst="ellipse">
            <a:avLst/>
          </a:prstGeom>
          <a:solidFill>
            <a:srgbClr val="00263E"/>
          </a:solidFill>
          <a:ln>
            <a:solidFill>
              <a:srgbClr val="00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3041570" y="2276856"/>
            <a:ext cx="134780" cy="175433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80184" y="2679192"/>
            <a:ext cx="1494128" cy="19851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050" b="1">
                <a:solidFill>
                  <a:srgbClr val="FB4D0A"/>
                </a:solidFill>
                <a:latin typeface="Aptos"/>
              </a:rPr>
              <a:t>Open multiple systems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962656"/>
            <a:ext cx="1261872" cy="68326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0">
                <a:solidFill>
                  <a:srgbClr val="3B4652"/>
                </a:solidFill>
                <a:latin typeface="Aptos"/>
              </a:rPr>
              <a:t>Analyst checks dashboards, extracts, SQL tables and reports.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0248" y="2011680"/>
            <a:ext cx="164592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Oval 20"/>
          <p:cNvSpPr/>
          <p:nvPr/>
        </p:nvSpPr>
        <p:spPr>
          <a:xfrm>
            <a:off x="4800600" y="2167128"/>
            <a:ext cx="384048" cy="384048"/>
          </a:xfrm>
          <a:prstGeom prst="ellipse">
            <a:avLst/>
          </a:prstGeom>
          <a:solidFill>
            <a:srgbClr val="00263E"/>
          </a:solidFill>
          <a:ln>
            <a:solidFill>
              <a:srgbClr val="00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4925234" y="2276856"/>
            <a:ext cx="134780" cy="175433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9917" y="2679192"/>
            <a:ext cx="1421992" cy="19851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050" b="1">
                <a:solidFill>
                  <a:srgbClr val="FB4D0A"/>
                </a:solidFill>
                <a:latin typeface="Aptos"/>
              </a:rPr>
              <a:t>Collect data manually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98264" y="2962656"/>
            <a:ext cx="1261872" cy="84484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>
                <a:solidFill>
                  <a:srgbClr val="3B4652"/>
                </a:solidFill>
                <a:latin typeface="Aptos"/>
              </a:rPr>
              <a:t>Data is pulled from billing, payments, complaints, calls, meter and customer records.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53912" y="2011680"/>
            <a:ext cx="1645920" cy="182880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Oval 26"/>
          <p:cNvSpPr/>
          <p:nvPr/>
        </p:nvSpPr>
        <p:spPr>
          <a:xfrm>
            <a:off x="6684264" y="2167128"/>
            <a:ext cx="384048" cy="384048"/>
          </a:xfrm>
          <a:prstGeom prst="ellipse">
            <a:avLst/>
          </a:prstGeom>
          <a:solidFill>
            <a:srgbClr val="00263E"/>
          </a:solidFill>
          <a:ln>
            <a:solidFill>
              <a:srgbClr val="00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TextBox 27"/>
          <p:cNvSpPr txBox="1"/>
          <p:nvPr/>
        </p:nvSpPr>
        <p:spPr>
          <a:xfrm>
            <a:off x="6808898" y="2276856"/>
            <a:ext cx="134780" cy="175433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8847" y="2679192"/>
            <a:ext cx="1351460" cy="19851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050" b="1">
                <a:solidFill>
                  <a:srgbClr val="FB4D0A"/>
                </a:solidFill>
                <a:latin typeface="Aptos"/>
              </a:rPr>
              <a:t>Test possible causes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1926" y="2962656"/>
            <a:ext cx="1243585" cy="84484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>
                <a:solidFill>
                  <a:srgbClr val="3B4652"/>
                </a:solidFill>
                <a:latin typeface="Aptos"/>
              </a:rPr>
              <a:t>Analyst forms hypotheses and compares movements across multiple views.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37576" y="2011680"/>
            <a:ext cx="164592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Oval 32"/>
          <p:cNvSpPr/>
          <p:nvPr/>
        </p:nvSpPr>
        <p:spPr>
          <a:xfrm>
            <a:off x="8567928" y="2167128"/>
            <a:ext cx="384048" cy="384048"/>
          </a:xfrm>
          <a:prstGeom prst="ellipse">
            <a:avLst/>
          </a:prstGeom>
          <a:solidFill>
            <a:srgbClr val="00263E"/>
          </a:solidFill>
          <a:ln>
            <a:solidFill>
              <a:srgbClr val="00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4" name="TextBox 33"/>
          <p:cNvSpPr txBox="1"/>
          <p:nvPr/>
        </p:nvSpPr>
        <p:spPr>
          <a:xfrm>
            <a:off x="8692562" y="2276856"/>
            <a:ext cx="134780" cy="175433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9529" y="2679192"/>
            <a:ext cx="1117422" cy="19851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050" b="1">
                <a:solidFill>
                  <a:srgbClr val="FB4D0A"/>
                </a:solidFill>
                <a:latin typeface="Aptos"/>
              </a:rPr>
              <a:t>Create RCA story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65592" y="2962656"/>
            <a:ext cx="1225296" cy="84484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>
                <a:solidFill>
                  <a:srgbClr val="3B4652"/>
                </a:solidFill>
                <a:latin typeface="Aptos"/>
              </a:rPr>
              <a:t>Findings are summarized manually with evidence and assumptions.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21240" y="2011680"/>
            <a:ext cx="1645920" cy="182880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9" name="Oval 38"/>
          <p:cNvSpPr/>
          <p:nvPr/>
        </p:nvSpPr>
        <p:spPr>
          <a:xfrm>
            <a:off x="10451592" y="2167128"/>
            <a:ext cx="384048" cy="384048"/>
          </a:xfrm>
          <a:prstGeom prst="ellipse">
            <a:avLst/>
          </a:prstGeom>
          <a:solidFill>
            <a:srgbClr val="00263E"/>
          </a:solidFill>
          <a:ln>
            <a:solidFill>
              <a:srgbClr val="00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0" name="TextBox 39"/>
          <p:cNvSpPr txBox="1"/>
          <p:nvPr/>
        </p:nvSpPr>
        <p:spPr>
          <a:xfrm>
            <a:off x="10576226" y="2276856"/>
            <a:ext cx="134780" cy="175433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28842" y="2679192"/>
            <a:ext cx="1066126" cy="19851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050" b="1">
                <a:solidFill>
                  <a:srgbClr val="FB4D0A"/>
                </a:solidFill>
                <a:latin typeface="Aptos"/>
              </a:rPr>
              <a:t>Business review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49256" y="2962656"/>
            <a:ext cx="1261872" cy="68326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>
                <a:solidFill>
                  <a:srgbClr val="3B4652"/>
                </a:solidFill>
                <a:latin typeface="Aptos"/>
              </a:rPr>
              <a:t>Output is reviewed before actions are agreed and prioritized.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" y="3931920"/>
            <a:ext cx="5349240" cy="160020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4" name="TextBox 43"/>
          <p:cNvSpPr txBox="1"/>
          <p:nvPr/>
        </p:nvSpPr>
        <p:spPr>
          <a:xfrm>
            <a:off x="658368" y="4133087"/>
            <a:ext cx="2120902" cy="20621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r>
              <a:rPr sz="1100" b="1">
                <a:solidFill>
                  <a:srgbClr val="FB4D0A"/>
                </a:solidFill>
                <a:latin typeface="Aptos"/>
              </a:rPr>
              <a:t>Why the old way creates friction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4425696"/>
            <a:ext cx="4684103" cy="947439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>
              <a:spcAft>
                <a:spcPts val="200"/>
              </a:spcAft>
              <a:defRPr sz="670">
                <a:solidFill>
                  <a:srgbClr val="3B4652"/>
                </a:solidFill>
                <a:latin typeface="Aptos"/>
              </a:defRPr>
            </a:pPr>
            <a:r>
              <a:rPr lang="en-US" sz="1050">
                <a:ea typeface="+mn-lt"/>
                <a:cs typeface="+mn-lt"/>
              </a:rPr>
              <a:t>• KPI deviations may not be detected early enough to enable timely investigation</a:t>
            </a:r>
            <a:r>
              <a:rPr lang="en-US" sz="1050"/>
              <a:t> </a:t>
            </a:r>
            <a:endParaRPr lang="en-US" sz="650"/>
          </a:p>
          <a:p>
            <a:pPr>
              <a:spcAft>
                <a:spcPts val="200"/>
              </a:spcAft>
              <a:defRPr sz="670">
                <a:solidFill>
                  <a:srgbClr val="3B4652"/>
                </a:solidFill>
                <a:latin typeface="Aptos"/>
              </a:defRPr>
            </a:pPr>
            <a:r>
              <a:rPr lang="en-US" sz="1100"/>
              <a:t>•</a:t>
            </a:r>
            <a:r>
              <a:rPr lang="en-US" sz="1050"/>
              <a:t> </a:t>
            </a:r>
            <a:r>
              <a:rPr sz="1050"/>
              <a:t>Root-cause evidence is spread across different operational datasets.</a:t>
            </a:r>
            <a:endParaRPr sz="650"/>
          </a:p>
          <a:p>
            <a:pPr>
              <a:spcAft>
                <a:spcPts val="200"/>
              </a:spcAft>
              <a:defRPr sz="670">
                <a:solidFill>
                  <a:srgbClr val="3B4652"/>
                </a:solidFill>
                <a:latin typeface="Aptos"/>
              </a:defRPr>
            </a:pPr>
            <a:r>
              <a:rPr sz="1050"/>
              <a:t>• Analysis depends heavily on analyst experience and local knowledge.</a:t>
            </a:r>
          </a:p>
          <a:p>
            <a:pPr>
              <a:spcAft>
                <a:spcPts val="200"/>
              </a:spcAft>
              <a:defRPr sz="670">
                <a:solidFill>
                  <a:srgbClr val="3B4652"/>
                </a:solidFill>
                <a:latin typeface="Aptos"/>
              </a:defRPr>
            </a:pPr>
            <a:r>
              <a:rPr sz="1050"/>
              <a:t>• The same KPI movement can lead to different explanations across teams.</a:t>
            </a:r>
          </a:p>
          <a:p>
            <a:pPr>
              <a:spcAft>
                <a:spcPts val="200"/>
              </a:spcAft>
              <a:defRPr sz="670">
                <a:solidFill>
                  <a:srgbClr val="3B4652"/>
                </a:solidFill>
                <a:latin typeface="Aptos"/>
              </a:defRPr>
            </a:pPr>
            <a:r>
              <a:rPr sz="1050"/>
              <a:t>• Business action starts after manual data stitching and review.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26480" y="3931920"/>
            <a:ext cx="5650992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7" name="TextBox 46"/>
          <p:cNvSpPr txBox="1"/>
          <p:nvPr/>
        </p:nvSpPr>
        <p:spPr>
          <a:xfrm>
            <a:off x="6373368" y="4133087"/>
            <a:ext cx="2353337" cy="20621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r>
              <a:rPr sz="1100" b="1">
                <a:solidFill>
                  <a:srgbClr val="FB4D0A"/>
                </a:solidFill>
                <a:latin typeface="Aptos"/>
              </a:rPr>
              <a:t>What this means for business users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3368" y="4425696"/>
            <a:ext cx="4483728" cy="7602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200"/>
              </a:spcAft>
              <a:defRPr sz="670">
                <a:solidFill>
                  <a:srgbClr val="3B4652"/>
                </a:solidFill>
                <a:latin typeface="Aptos"/>
              </a:defRPr>
            </a:pPr>
            <a:r>
              <a:rPr sz="1050"/>
              <a:t>• Stakeholders see the issue before they understand the business reason.</a:t>
            </a:r>
          </a:p>
          <a:p>
            <a:pPr>
              <a:spcAft>
                <a:spcPts val="200"/>
              </a:spcAft>
              <a:defRPr sz="670">
                <a:solidFill>
                  <a:srgbClr val="3B4652"/>
                </a:solidFill>
                <a:latin typeface="Aptos"/>
              </a:defRPr>
            </a:pPr>
            <a:r>
              <a:rPr sz="1050"/>
              <a:t>• Customer-impacting trends may worsen while teams investigate.</a:t>
            </a:r>
          </a:p>
          <a:p>
            <a:pPr>
              <a:spcAft>
                <a:spcPts val="200"/>
              </a:spcAft>
              <a:defRPr sz="670">
                <a:solidFill>
                  <a:srgbClr val="3B4652"/>
                </a:solidFill>
                <a:latin typeface="Aptos"/>
              </a:defRPr>
            </a:pPr>
            <a:r>
              <a:rPr sz="1050"/>
              <a:t>• Operational resources may not be focused on the highest-impact problem.</a:t>
            </a:r>
          </a:p>
          <a:p>
            <a:pPr>
              <a:spcAft>
                <a:spcPts val="200"/>
              </a:spcAft>
              <a:defRPr sz="670">
                <a:solidFill>
                  <a:srgbClr val="3B4652"/>
                </a:solidFill>
                <a:latin typeface="Aptos"/>
              </a:defRPr>
            </a:pPr>
            <a:r>
              <a:rPr sz="1050"/>
              <a:t>• Leadership receives delayed insight without a consistent evidence trail.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11480" y="5779008"/>
            <a:ext cx="11356848" cy="502920"/>
          </a:xfrm>
          <a:prstGeom prst="roundRect">
            <a:avLst/>
          </a:prstGeom>
          <a:solidFill>
            <a:srgbClr val="00263E"/>
          </a:solidFill>
          <a:ln w="10160">
            <a:solidFill>
              <a:srgbClr val="00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76249" y="5931650"/>
            <a:ext cx="1728216" cy="20621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100" b="1">
                <a:solidFill>
                  <a:srgbClr val="FB4D0A"/>
                </a:solidFill>
                <a:latin typeface="Aptos"/>
              </a:rPr>
              <a:t>Transition to the new way: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57985" y="5831622"/>
            <a:ext cx="9557766" cy="40626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00" b="1" err="1">
                <a:solidFill>
                  <a:srgbClr val="FFFFFF"/>
                </a:solidFill>
                <a:latin typeface="Aptos"/>
              </a:rPr>
              <a:t>InsightForge</a:t>
            </a:r>
            <a:r>
              <a:rPr sz="1200" b="1">
                <a:solidFill>
                  <a:srgbClr val="FFFFFF"/>
                </a:solidFill>
                <a:latin typeface="Aptos"/>
              </a:rPr>
              <a:t> replaces manual data stitching with an AI-guided investigation that explains why the KPI changed, what evidence supports it, and what action should be taken next.</a:t>
            </a:r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EFCD4EB5-4ADB-EA51-4057-B7E4E96DFAF7}"/>
              </a:ext>
            </a:extLst>
          </p:cNvPr>
          <p:cNvSpPr/>
          <p:nvPr/>
        </p:nvSpPr>
        <p:spPr>
          <a:xfrm>
            <a:off x="2167128" y="2741166"/>
            <a:ext cx="182880" cy="0"/>
          </a:xfrm>
          <a:prstGeom prst="line">
            <a:avLst/>
          </a:prstGeom>
          <a:noFill/>
          <a:ln w="13970">
            <a:solidFill>
              <a:srgbClr val="FB4D0A"/>
            </a:solidFill>
            <a:prstDash val="solid"/>
            <a:tailEnd type="triangle"/>
          </a:ln>
        </p:spPr>
        <p:txBody>
          <a:bodyPr/>
          <a:lstStyle/>
          <a:p>
            <a:endParaRPr lang="en-IN" sz="3600"/>
          </a:p>
        </p:txBody>
      </p:sp>
      <p:sp>
        <p:nvSpPr>
          <p:cNvPr id="55" name="Shape 12">
            <a:extLst>
              <a:ext uri="{FF2B5EF4-FFF2-40B4-BE49-F238E27FC236}">
                <a16:creationId xmlns:a16="http://schemas.microsoft.com/office/drawing/2014/main" id="{F76BF71E-563E-0623-8135-6CD92E76C6D7}"/>
              </a:ext>
            </a:extLst>
          </p:cNvPr>
          <p:cNvSpPr/>
          <p:nvPr/>
        </p:nvSpPr>
        <p:spPr>
          <a:xfrm>
            <a:off x="4059936" y="2757933"/>
            <a:ext cx="182880" cy="0"/>
          </a:xfrm>
          <a:prstGeom prst="line">
            <a:avLst/>
          </a:prstGeom>
          <a:noFill/>
          <a:ln w="13970">
            <a:solidFill>
              <a:srgbClr val="FB4D0A"/>
            </a:solidFill>
            <a:prstDash val="solid"/>
            <a:tailEnd type="triangle"/>
          </a:ln>
        </p:spPr>
        <p:txBody>
          <a:bodyPr/>
          <a:lstStyle/>
          <a:p>
            <a:endParaRPr lang="en-IN" sz="3600"/>
          </a:p>
        </p:txBody>
      </p:sp>
      <p:sp>
        <p:nvSpPr>
          <p:cNvPr id="57" name="Shape 12">
            <a:extLst>
              <a:ext uri="{FF2B5EF4-FFF2-40B4-BE49-F238E27FC236}">
                <a16:creationId xmlns:a16="http://schemas.microsoft.com/office/drawing/2014/main" id="{EB295D3B-E5F1-0911-1E05-148390CB84AE}"/>
              </a:ext>
            </a:extLst>
          </p:cNvPr>
          <p:cNvSpPr/>
          <p:nvPr/>
        </p:nvSpPr>
        <p:spPr>
          <a:xfrm>
            <a:off x="5952744" y="2762760"/>
            <a:ext cx="182880" cy="0"/>
          </a:xfrm>
          <a:prstGeom prst="line">
            <a:avLst/>
          </a:prstGeom>
          <a:noFill/>
          <a:ln w="13970">
            <a:solidFill>
              <a:srgbClr val="FB4D0A"/>
            </a:solidFill>
            <a:prstDash val="solid"/>
            <a:tailEnd type="triangle"/>
          </a:ln>
        </p:spPr>
        <p:txBody>
          <a:bodyPr/>
          <a:lstStyle/>
          <a:p>
            <a:endParaRPr lang="en-IN" sz="3600"/>
          </a:p>
        </p:txBody>
      </p:sp>
      <p:sp>
        <p:nvSpPr>
          <p:cNvPr id="59" name="Shape 12">
            <a:extLst>
              <a:ext uri="{FF2B5EF4-FFF2-40B4-BE49-F238E27FC236}">
                <a16:creationId xmlns:a16="http://schemas.microsoft.com/office/drawing/2014/main" id="{3150EACE-06A0-589B-F3A9-85D421C708E3}"/>
              </a:ext>
            </a:extLst>
          </p:cNvPr>
          <p:cNvSpPr/>
          <p:nvPr/>
        </p:nvSpPr>
        <p:spPr>
          <a:xfrm>
            <a:off x="7827264" y="2757932"/>
            <a:ext cx="182880" cy="0"/>
          </a:xfrm>
          <a:prstGeom prst="line">
            <a:avLst/>
          </a:prstGeom>
          <a:noFill/>
          <a:ln w="13970">
            <a:solidFill>
              <a:srgbClr val="FB4D0A"/>
            </a:solidFill>
            <a:prstDash val="solid"/>
            <a:tailEnd type="triangle"/>
          </a:ln>
        </p:spPr>
        <p:txBody>
          <a:bodyPr/>
          <a:lstStyle/>
          <a:p>
            <a:endParaRPr lang="en-IN" sz="3600"/>
          </a:p>
        </p:txBody>
      </p:sp>
      <p:sp>
        <p:nvSpPr>
          <p:cNvPr id="61" name="Shape 12">
            <a:extLst>
              <a:ext uri="{FF2B5EF4-FFF2-40B4-BE49-F238E27FC236}">
                <a16:creationId xmlns:a16="http://schemas.microsoft.com/office/drawing/2014/main" id="{A423D281-A3DE-00BC-185C-A83DCDDBB0BA}"/>
              </a:ext>
            </a:extLst>
          </p:cNvPr>
          <p:cNvSpPr/>
          <p:nvPr/>
        </p:nvSpPr>
        <p:spPr>
          <a:xfrm>
            <a:off x="9710928" y="2766059"/>
            <a:ext cx="182880" cy="0"/>
          </a:xfrm>
          <a:prstGeom prst="line">
            <a:avLst/>
          </a:prstGeom>
          <a:noFill/>
          <a:ln w="13970">
            <a:solidFill>
              <a:srgbClr val="FB4D0A"/>
            </a:solidFill>
            <a:prstDash val="solid"/>
            <a:tailEnd type="triangle"/>
          </a:ln>
        </p:spPr>
        <p:txBody>
          <a:bodyPr/>
          <a:lstStyle/>
          <a:p>
            <a:endParaRPr lang="en-IN" sz="3600"/>
          </a:p>
        </p:txBody>
      </p:sp>
      <p:sp>
        <p:nvSpPr>
          <p:cNvPr id="63" name="Text 1">
            <a:extLst>
              <a:ext uri="{FF2B5EF4-FFF2-40B4-BE49-F238E27FC236}">
                <a16:creationId xmlns:a16="http://schemas.microsoft.com/office/drawing/2014/main" id="{664EE321-DE2F-53FA-9C5F-6436B4F15B2A}"/>
              </a:ext>
            </a:extLst>
          </p:cNvPr>
          <p:cNvSpPr/>
          <p:nvPr/>
        </p:nvSpPr>
        <p:spPr>
          <a:xfrm>
            <a:off x="749808" y="118872"/>
            <a:ext cx="6035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IN" sz="2400" b="1">
                <a:solidFill>
                  <a:srgbClr val="005071"/>
                </a:solidFill>
                <a:latin typeface="Aptos Display"/>
              </a:rPr>
              <a:t>Old Way of Analysis</a:t>
            </a:r>
          </a:p>
        </p:txBody>
      </p:sp>
      <p:sp>
        <p:nvSpPr>
          <p:cNvPr id="67" name="Shape 3">
            <a:extLst>
              <a:ext uri="{FF2B5EF4-FFF2-40B4-BE49-F238E27FC236}">
                <a16:creationId xmlns:a16="http://schemas.microsoft.com/office/drawing/2014/main" id="{EBD6A793-FF6F-A22B-7C2E-A48116C794E0}"/>
              </a:ext>
            </a:extLst>
          </p:cNvPr>
          <p:cNvSpPr/>
          <p:nvPr/>
        </p:nvSpPr>
        <p:spPr>
          <a:xfrm>
            <a:off x="219456" y="731520"/>
            <a:ext cx="11777472" cy="1"/>
          </a:xfrm>
          <a:prstGeom prst="line">
            <a:avLst/>
          </a:prstGeom>
          <a:noFill/>
          <a:ln w="1016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1E7329-23F2-B7E8-33A9-C546D058A7DB}"/>
              </a:ext>
            </a:extLst>
          </p:cNvPr>
          <p:cNvSpPr txBox="1"/>
          <p:nvPr/>
        </p:nvSpPr>
        <p:spPr>
          <a:xfrm>
            <a:off x="762334" y="429586"/>
            <a:ext cx="8595360" cy="1828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r>
              <a:rPr sz="1000" b="0">
                <a:solidFill>
                  <a:srgbClr val="3B4652"/>
                </a:solidFill>
                <a:latin typeface="Aptos"/>
              </a:rPr>
              <a:t>How KPI movement was investigated before the AI Operations Intelligence Agent</a:t>
            </a:r>
          </a:p>
        </p:txBody>
      </p:sp>
      <p:sp>
        <p:nvSpPr>
          <p:cNvPr id="4" name="Text 35">
            <a:extLst>
              <a:ext uri="{FF2B5EF4-FFF2-40B4-BE49-F238E27FC236}">
                <a16:creationId xmlns:a16="http://schemas.microsoft.com/office/drawing/2014/main" id="{6404912C-27AE-65D2-2748-5A533A7FF241}"/>
              </a:ext>
            </a:extLst>
          </p:cNvPr>
          <p:cNvSpPr/>
          <p:nvPr/>
        </p:nvSpPr>
        <p:spPr>
          <a:xfrm>
            <a:off x="292608" y="6473952"/>
            <a:ext cx="324612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00">
                <a:solidFill>
                  <a:srgbClr val="6A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InsightForge-AI | AI Operations Intelligence Agent</a:t>
            </a:r>
            <a:endParaRPr lang="en-US" sz="700"/>
          </a:p>
        </p:txBody>
      </p:sp>
      <p:sp>
        <p:nvSpPr>
          <p:cNvPr id="19" name="Text 36">
            <a:extLst>
              <a:ext uri="{FF2B5EF4-FFF2-40B4-BE49-F238E27FC236}">
                <a16:creationId xmlns:a16="http://schemas.microsoft.com/office/drawing/2014/main" id="{B7E39324-F502-97DA-9977-D96326B13EE5}"/>
              </a:ext>
            </a:extLst>
          </p:cNvPr>
          <p:cNvSpPr/>
          <p:nvPr/>
        </p:nvSpPr>
        <p:spPr>
          <a:xfrm>
            <a:off x="11411712" y="6473952"/>
            <a:ext cx="41148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EXL</a:t>
            </a:r>
            <a:endParaRPr lang="en-US" sz="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182880" y="128016"/>
            <a:ext cx="502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endParaRPr lang="en-US" sz="2400" b="1">
              <a:solidFill>
                <a:srgbClr val="FB4D0A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53078" y="-125544"/>
            <a:ext cx="6825793" cy="518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endParaRPr lang="en-US" sz="2400" b="1">
              <a:solidFill>
                <a:srgbClr val="005071"/>
              </a:solidFill>
              <a:ea typeface="+mn-lt"/>
              <a:cs typeface="+mn-lt"/>
            </a:endParaRPr>
          </a:p>
          <a:p>
            <a:pPr>
              <a:buFont typeface="Arial"/>
            </a:pPr>
            <a:endParaRPr lang="en-US" sz="2400" b="1">
              <a:solidFill>
                <a:srgbClr val="005071"/>
              </a:solidFill>
              <a:ea typeface="+mn-lt"/>
              <a:cs typeface="+mn-lt"/>
            </a:endParaRPr>
          </a:p>
          <a:p>
            <a:pPr>
              <a:buFont typeface="Arial"/>
            </a:pPr>
            <a:endParaRPr lang="en-US" sz="2400" b="1">
              <a:solidFill>
                <a:srgbClr val="005071"/>
              </a:solidFill>
              <a:ea typeface="+mn-lt"/>
              <a:cs typeface="+mn-lt"/>
            </a:endParaRPr>
          </a:p>
          <a:p>
            <a:pPr>
              <a:buFont typeface="Arial"/>
            </a:pPr>
            <a:r>
              <a:rPr lang="en-US" sz="2400" b="1">
                <a:solidFill>
                  <a:srgbClr val="005071"/>
                </a:solidFill>
                <a:ea typeface="+mn-lt"/>
                <a:cs typeface="+mn-lt"/>
              </a:rPr>
              <a:t>The Hidden Cost of Delayed KPI Investigation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Font typeface="Arial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endParaRPr lang="en-US" sz="2400" b="1">
              <a:solidFill>
                <a:srgbClr val="005071"/>
              </a:solidFill>
              <a:latin typeface="Aptos Display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19456" y="731520"/>
            <a:ext cx="11777472" cy="1"/>
          </a:xfrm>
          <a:prstGeom prst="line">
            <a:avLst/>
          </a:prstGeom>
          <a:noFill/>
          <a:ln w="10160">
            <a:solidFill>
              <a:srgbClr val="D8E1EA"/>
            </a:solidFill>
            <a:prstDash val="solid"/>
          </a:ln>
        </p:spPr>
        <p:txBody>
          <a:bodyPr lIns="91440" tIns="45720" rIns="91440" bIns="45720" anchor="t"/>
          <a:lstStyle/>
          <a:p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367284" y="1581910"/>
            <a:ext cx="3566160" cy="265176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800"/>
          </a:p>
        </p:txBody>
      </p:sp>
      <p:sp>
        <p:nvSpPr>
          <p:cNvPr id="7" name="Text 5"/>
          <p:cNvSpPr/>
          <p:nvPr/>
        </p:nvSpPr>
        <p:spPr>
          <a:xfrm>
            <a:off x="568452" y="1719072"/>
            <a:ext cx="1828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1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IMPACT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650748" y="2093976"/>
            <a:ext cx="1463040" cy="640080"/>
          </a:xfrm>
          <a:prstGeom prst="roundRect">
            <a:avLst>
              <a:gd name="adj" fmla="val 11111"/>
            </a:avLst>
          </a:prstGeom>
          <a:solidFill>
            <a:srgbClr val="FFF2EA"/>
          </a:solidFill>
          <a:ln w="889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9" name="Text 7"/>
          <p:cNvSpPr/>
          <p:nvPr/>
        </p:nvSpPr>
        <p:spPr>
          <a:xfrm>
            <a:off x="705612" y="2157984"/>
            <a:ext cx="13716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Additional complaint cases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705612" y="2450592"/>
            <a:ext cx="13716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b="1">
                <a:solidFill>
                  <a:srgbClr val="E11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+450</a:t>
            </a:r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78380" y="2093976"/>
            <a:ext cx="1463040" cy="640080"/>
          </a:xfrm>
          <a:prstGeom prst="roundRect">
            <a:avLst>
              <a:gd name="adj" fmla="val 11111"/>
            </a:avLst>
          </a:prstGeom>
          <a:solidFill>
            <a:srgbClr val="FFF2EA"/>
          </a:solidFill>
          <a:ln w="889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2" name="Text 10"/>
          <p:cNvSpPr/>
          <p:nvPr/>
        </p:nvSpPr>
        <p:spPr>
          <a:xfrm>
            <a:off x="2333244" y="2157984"/>
            <a:ext cx="13716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Service-cost exposure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2333244" y="2450592"/>
            <a:ext cx="13716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b="1">
                <a:solidFill>
                  <a:srgbClr val="E11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£250K+</a:t>
            </a:r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0748" y="2917718"/>
            <a:ext cx="3419856" cy="1161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11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100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root cause, complaint resolution can be delayed or generic.
</a:t>
            </a:r>
            <a:r>
              <a:rPr lang="en-US" sz="11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100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needs evidence, not just a KPI movement.</a:t>
            </a:r>
          </a:p>
          <a:p>
            <a:r>
              <a:rPr lang="en-US" sz="11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100">
                <a:solidFill>
                  <a:srgbClr val="3B4652"/>
                </a:solidFill>
                <a:latin typeface="Aptos" pitchFamily="34" charset="0"/>
              </a:rPr>
              <a:t>Potential revenue leakage due to delayed corrective actions.</a:t>
            </a:r>
          </a:p>
          <a:p>
            <a:r>
              <a:rPr lang="en-US" sz="11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100">
                <a:solidFill>
                  <a:srgbClr val="3B4652"/>
                </a:solidFill>
                <a:latin typeface="Aptos" pitchFamily="34" charset="0"/>
              </a:rPr>
              <a:t>Reputational damage caused by repeated service issues.</a:t>
            </a:r>
          </a:p>
          <a:p>
            <a:r>
              <a:rPr lang="en-US" sz="11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100">
                <a:solidFill>
                  <a:srgbClr val="3B4652"/>
                </a:solidFill>
                <a:latin typeface="Aptos" pitchFamily="34" charset="0"/>
              </a:rPr>
              <a:t>Loss of customer trust and retention.</a:t>
            </a:r>
          </a:p>
        </p:txBody>
      </p:sp>
      <p:sp>
        <p:nvSpPr>
          <p:cNvPr id="15" name="Shape 13"/>
          <p:cNvSpPr/>
          <p:nvPr/>
        </p:nvSpPr>
        <p:spPr>
          <a:xfrm>
            <a:off x="4317492" y="1581910"/>
            <a:ext cx="3566160" cy="265176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 w="8890">
            <a:solidFill>
              <a:srgbClr val="D8E1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800"/>
          </a:p>
        </p:txBody>
      </p:sp>
      <p:sp>
        <p:nvSpPr>
          <p:cNvPr id="16" name="Text 14"/>
          <p:cNvSpPr/>
          <p:nvPr/>
        </p:nvSpPr>
        <p:spPr>
          <a:xfrm>
            <a:off x="4518660" y="1719072"/>
            <a:ext cx="1828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1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IMPACT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4610100" y="2093976"/>
            <a:ext cx="1463040" cy="640080"/>
          </a:xfrm>
          <a:prstGeom prst="roundRect">
            <a:avLst>
              <a:gd name="adj" fmla="val 11111"/>
            </a:avLst>
          </a:prstGeom>
          <a:solidFill>
            <a:srgbClr val="FFF2EA"/>
          </a:solidFill>
          <a:ln w="889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8" name="Text 16"/>
          <p:cNvSpPr/>
          <p:nvPr/>
        </p:nvSpPr>
        <p:spPr>
          <a:xfrm>
            <a:off x="4664964" y="2157984"/>
            <a:ext cx="13716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Vulnerable customers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4664964" y="2450592"/>
            <a:ext cx="13716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800</a:t>
            </a:r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74308" y="2093976"/>
            <a:ext cx="1463040" cy="640080"/>
          </a:xfrm>
          <a:prstGeom prst="roundRect">
            <a:avLst>
              <a:gd name="adj" fmla="val 11111"/>
            </a:avLst>
          </a:prstGeom>
          <a:solidFill>
            <a:srgbClr val="FFF2EA"/>
          </a:solidFill>
          <a:ln w="889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1" name="Text 19"/>
          <p:cNvSpPr/>
          <p:nvPr/>
        </p:nvSpPr>
        <p:spPr>
          <a:xfrm>
            <a:off x="6329172" y="2157984"/>
            <a:ext cx="1205484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Affordability flagged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6329172" y="2450592"/>
            <a:ext cx="13716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393692" y="3159249"/>
            <a:ext cx="342900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11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100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Vulnerable and repeat-contact customers need earlier support.
</a:t>
            </a:r>
            <a:r>
              <a:rPr lang="en-US" sz="11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100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 complaint increase is 12% if root cause is left unresolved.
</a:t>
            </a:r>
            <a:r>
              <a:rPr lang="en-US" sz="11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100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impact makes the use case more than operational efficiency.</a:t>
            </a:r>
          </a:p>
          <a:p>
            <a:r>
              <a:rPr lang="en-US" sz="11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100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 may switch suppliers following poor experience.</a:t>
            </a:r>
          </a:p>
          <a:p>
            <a:pPr marL="0" indent="0">
              <a:buNone/>
            </a:pPr>
            <a:endParaRPr lang="en-US" sz="1100"/>
          </a:p>
        </p:txBody>
      </p:sp>
      <p:sp>
        <p:nvSpPr>
          <p:cNvPr id="24" name="Shape 22"/>
          <p:cNvSpPr/>
          <p:nvPr/>
        </p:nvSpPr>
        <p:spPr>
          <a:xfrm>
            <a:off x="8267700" y="1581910"/>
            <a:ext cx="3566160" cy="265176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800"/>
          </a:p>
        </p:txBody>
      </p:sp>
      <p:sp>
        <p:nvSpPr>
          <p:cNvPr id="25" name="Text 23"/>
          <p:cNvSpPr/>
          <p:nvPr/>
        </p:nvSpPr>
        <p:spPr>
          <a:xfrm>
            <a:off x="8478012" y="1719072"/>
            <a:ext cx="1828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1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STAKEHOLDERS CARE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8478012" y="2066544"/>
            <a:ext cx="2926080" cy="2093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100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Service-cost exposure can be quantified.
</a:t>
            </a:r>
            <a:r>
              <a:rPr lang="en-US" sz="11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100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At-risk customer records can be prioritized.
</a:t>
            </a:r>
            <a:r>
              <a:rPr lang="en-US" sz="11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100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support can be targeted.
</a:t>
            </a:r>
            <a:r>
              <a:rPr lang="en-US" sz="11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100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can be tracked against the true driver.</a:t>
            </a:r>
            <a:endParaRPr lang="en-US" sz="1100"/>
          </a:p>
        </p:txBody>
      </p:sp>
      <p:sp>
        <p:nvSpPr>
          <p:cNvPr id="27" name="Shape 25"/>
          <p:cNvSpPr/>
          <p:nvPr/>
        </p:nvSpPr>
        <p:spPr>
          <a:xfrm>
            <a:off x="358140" y="4407408"/>
            <a:ext cx="11475720" cy="1234440"/>
          </a:xfrm>
          <a:prstGeom prst="roundRect">
            <a:avLst>
              <a:gd name="adj" fmla="val 5926"/>
            </a:avLst>
          </a:prstGeom>
          <a:solidFill>
            <a:srgbClr val="00263E"/>
          </a:solidFill>
          <a:ln w="8890">
            <a:solidFill>
              <a:srgbClr val="D8E1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800"/>
          </a:p>
        </p:txBody>
      </p:sp>
      <p:sp>
        <p:nvSpPr>
          <p:cNvPr id="28" name="Text 26"/>
          <p:cNvSpPr/>
          <p:nvPr/>
        </p:nvSpPr>
        <p:spPr>
          <a:xfrm>
            <a:off x="605028" y="4608576"/>
            <a:ext cx="309981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POSITIONING FOR DRAGON'S DEN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605028" y="4901184"/>
            <a:ext cx="10424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InsightForge is not a standalone product; it integrates with existing dashboards/reports to help analysts and managers identify root cause faster, quantify who is impacted, and generate action items for business, consumer-service and sales/operations users.</a:t>
            </a:r>
            <a:endParaRPr lang="en-US" sz="12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1DD947-2B28-A0E3-2F97-B2E5C5A33B6A}"/>
              </a:ext>
            </a:extLst>
          </p:cNvPr>
          <p:cNvSpPr txBox="1"/>
          <p:nvPr/>
        </p:nvSpPr>
        <p:spPr>
          <a:xfrm>
            <a:off x="575083" y="393316"/>
            <a:ext cx="6193765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ea typeface="+mn-lt"/>
                <a:cs typeface="+mn-lt"/>
              </a:rPr>
              <a:t>Traditional investigation often starts after the deviation has already created impact.</a:t>
            </a:r>
            <a:endParaRPr lang="en-US" sz="1100"/>
          </a:p>
        </p:txBody>
      </p:sp>
      <p:sp>
        <p:nvSpPr>
          <p:cNvPr id="33" name="Text 36">
            <a:extLst>
              <a:ext uri="{FF2B5EF4-FFF2-40B4-BE49-F238E27FC236}">
                <a16:creationId xmlns:a16="http://schemas.microsoft.com/office/drawing/2014/main" id="{BB38B2B0-B159-D46B-D1D0-61B1EFBCC7D7}"/>
              </a:ext>
            </a:extLst>
          </p:cNvPr>
          <p:cNvSpPr/>
          <p:nvPr/>
        </p:nvSpPr>
        <p:spPr>
          <a:xfrm>
            <a:off x="11411712" y="6473952"/>
            <a:ext cx="41148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EXL</a:t>
            </a:r>
            <a:endParaRPr lang="en-US" sz="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3" name="Text 1"/>
          <p:cNvSpPr/>
          <p:nvPr/>
        </p:nvSpPr>
        <p:spPr>
          <a:xfrm>
            <a:off x="749808" y="118872"/>
            <a:ext cx="6035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sz="2400" b="1">
                <a:solidFill>
                  <a:srgbClr val="005071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What We Are Building</a:t>
            </a:r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219456" y="731520"/>
            <a:ext cx="11777472" cy="1"/>
          </a:xfrm>
          <a:prstGeom prst="line">
            <a:avLst/>
          </a:prstGeom>
          <a:noFill/>
          <a:ln w="1016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7" name="Shape 4"/>
          <p:cNvSpPr/>
          <p:nvPr/>
        </p:nvSpPr>
        <p:spPr>
          <a:xfrm>
            <a:off x="230559" y="1700785"/>
            <a:ext cx="6720840" cy="1243258"/>
          </a:xfrm>
          <a:prstGeom prst="roundRect">
            <a:avLst>
              <a:gd name="adj" fmla="val 7407"/>
            </a:avLst>
          </a:prstGeom>
          <a:solidFill>
            <a:srgbClr val="F4F7FA"/>
          </a:solidFill>
          <a:ln w="8890">
            <a:solidFill>
              <a:srgbClr val="D8E1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800"/>
          </a:p>
        </p:txBody>
      </p:sp>
      <p:sp>
        <p:nvSpPr>
          <p:cNvPr id="8" name="Shape 5"/>
          <p:cNvSpPr/>
          <p:nvPr/>
        </p:nvSpPr>
        <p:spPr>
          <a:xfrm>
            <a:off x="398199" y="1811466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FB4D0A"/>
          </a:solidFill>
          <a:ln w="127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6159" y="2195514"/>
            <a:ext cx="253472" cy="253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34646" y="1826534"/>
            <a:ext cx="5677117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b="1">
                <a:solidFill>
                  <a:srgbClr val="0026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intelligence layer for KPI investigations</a:t>
            </a:r>
            <a:endParaRPr lang="en-US" sz="2000"/>
          </a:p>
        </p:txBody>
      </p:sp>
      <p:sp>
        <p:nvSpPr>
          <p:cNvPr id="11" name="Text 7"/>
          <p:cNvSpPr/>
          <p:nvPr/>
        </p:nvSpPr>
        <p:spPr>
          <a:xfrm>
            <a:off x="934646" y="2102722"/>
            <a:ext cx="5996505" cy="841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lang="en-IN" sz="1100"/>
              <a:t>The agent continuously monitors KPIs and detects deviations or anomalies. When a significant change is identified, it automatically investigates the most likely drivers, gathers supporting evidence, evaluates confidence levels, and recommends the next best action. A single business scenario is used throughout the deck to demonstrate the end-to-end investigation journey.</a:t>
            </a:r>
            <a:endParaRPr lang="en-US" sz="1100"/>
          </a:p>
        </p:txBody>
      </p:sp>
      <p:sp>
        <p:nvSpPr>
          <p:cNvPr id="12" name="Shape 8"/>
          <p:cNvSpPr/>
          <p:nvPr/>
        </p:nvSpPr>
        <p:spPr>
          <a:xfrm>
            <a:off x="219456" y="3203812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EAF3FB"/>
          </a:solidFill>
          <a:ln w="889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3" name="Text 9"/>
          <p:cNvSpPr/>
          <p:nvPr/>
        </p:nvSpPr>
        <p:spPr>
          <a:xfrm>
            <a:off x="274320" y="3295252"/>
            <a:ext cx="139903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records monitored</a:t>
            </a:r>
            <a:endParaRPr lang="en-US" sz="900"/>
          </a:p>
        </p:txBody>
      </p:sp>
      <p:sp>
        <p:nvSpPr>
          <p:cNvPr id="14" name="Text 10"/>
          <p:cNvSpPr/>
          <p:nvPr/>
        </p:nvSpPr>
        <p:spPr>
          <a:xfrm>
            <a:off x="274320" y="3551284"/>
            <a:ext cx="139903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b="1">
                <a:solidFill>
                  <a:srgbClr val="00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25,000</a:t>
            </a:r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1956816" y="3203812"/>
            <a:ext cx="1874520" cy="713232"/>
          </a:xfrm>
          <a:prstGeom prst="roundRect">
            <a:avLst>
              <a:gd name="adj" fmla="val 10256"/>
            </a:avLst>
          </a:prstGeom>
          <a:solidFill>
            <a:srgbClr val="FFF2EA"/>
          </a:solidFill>
          <a:ln w="889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6" name="Text 12"/>
          <p:cNvSpPr/>
          <p:nvPr/>
        </p:nvSpPr>
        <p:spPr>
          <a:xfrm>
            <a:off x="2011680" y="3295252"/>
            <a:ext cx="176479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Complaint cases</a:t>
            </a:r>
            <a:endParaRPr lang="en-US" sz="900"/>
          </a:p>
        </p:txBody>
      </p:sp>
      <p:sp>
        <p:nvSpPr>
          <p:cNvPr id="17" name="Text 13"/>
          <p:cNvSpPr/>
          <p:nvPr/>
        </p:nvSpPr>
        <p:spPr>
          <a:xfrm>
            <a:off x="2011680" y="3551284"/>
            <a:ext cx="176479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b="1">
                <a:solidFill>
                  <a:srgbClr val="E11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1,200 -&gt; 1,650</a:t>
            </a:r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059936" y="3203812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FF2EA"/>
          </a:solidFill>
          <a:ln w="889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9" name="Text 15"/>
          <p:cNvSpPr/>
          <p:nvPr/>
        </p:nvSpPr>
        <p:spPr>
          <a:xfrm>
            <a:off x="4114800" y="3295252"/>
            <a:ext cx="139903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Additional complaint cases</a:t>
            </a:r>
            <a:endParaRPr lang="en-US" sz="900"/>
          </a:p>
        </p:txBody>
      </p:sp>
      <p:sp>
        <p:nvSpPr>
          <p:cNvPr id="20" name="Text 16"/>
          <p:cNvSpPr/>
          <p:nvPr/>
        </p:nvSpPr>
        <p:spPr>
          <a:xfrm>
            <a:off x="4114800" y="3551284"/>
            <a:ext cx="139903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b="1">
                <a:solidFill>
                  <a:srgbClr val="E11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+450</a:t>
            </a:r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5797296" y="3203812"/>
            <a:ext cx="1188720" cy="713232"/>
          </a:xfrm>
          <a:prstGeom prst="roundRect">
            <a:avLst>
              <a:gd name="adj" fmla="val 10256"/>
            </a:avLst>
          </a:prstGeom>
          <a:solidFill>
            <a:srgbClr val="FFF2EA"/>
          </a:solidFill>
          <a:ln w="889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2" name="Text 18"/>
          <p:cNvSpPr/>
          <p:nvPr/>
        </p:nvSpPr>
        <p:spPr>
          <a:xfrm>
            <a:off x="5852160" y="3295252"/>
            <a:ext cx="107899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Variance</a:t>
            </a:r>
            <a:endParaRPr lang="en-US" sz="900"/>
          </a:p>
        </p:txBody>
      </p:sp>
      <p:sp>
        <p:nvSpPr>
          <p:cNvPr id="23" name="Text 19"/>
          <p:cNvSpPr/>
          <p:nvPr/>
        </p:nvSpPr>
        <p:spPr>
          <a:xfrm>
            <a:off x="5852160" y="3551284"/>
            <a:ext cx="107899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b="1">
                <a:solidFill>
                  <a:srgbClr val="E11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+37.5%</a:t>
            </a:r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219456" y="4429108"/>
            <a:ext cx="1280160" cy="713232"/>
          </a:xfrm>
          <a:prstGeom prst="roundRect">
            <a:avLst>
              <a:gd name="adj" fmla="val 10256"/>
            </a:avLst>
          </a:prstGeom>
          <a:solidFill>
            <a:srgbClr val="EAF3FB"/>
          </a:solidFill>
          <a:ln w="889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5" name="Text 21"/>
          <p:cNvSpPr/>
          <p:nvPr/>
        </p:nvSpPr>
        <p:spPr>
          <a:xfrm>
            <a:off x="274320" y="4520548"/>
            <a:ext cx="117043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sources</a:t>
            </a:r>
            <a:endParaRPr lang="en-US" sz="900"/>
          </a:p>
        </p:txBody>
      </p:sp>
      <p:sp>
        <p:nvSpPr>
          <p:cNvPr id="26" name="Text 22"/>
          <p:cNvSpPr/>
          <p:nvPr/>
        </p:nvSpPr>
        <p:spPr>
          <a:xfrm>
            <a:off x="274320" y="4776580"/>
            <a:ext cx="117043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b="1">
                <a:solidFill>
                  <a:srgbClr val="00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tables</a:t>
            </a:r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1728216" y="4429108"/>
            <a:ext cx="1783080" cy="713232"/>
          </a:xfrm>
          <a:prstGeom prst="roundRect">
            <a:avLst>
              <a:gd name="adj" fmla="val 10256"/>
            </a:avLst>
          </a:prstGeom>
          <a:solidFill>
            <a:srgbClr val="EAF7EF"/>
          </a:solidFill>
          <a:ln w="889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8" name="Text 24"/>
          <p:cNvSpPr/>
          <p:nvPr/>
        </p:nvSpPr>
        <p:spPr>
          <a:xfrm>
            <a:off x="1783080" y="4520548"/>
            <a:ext cx="167335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Investigation time</a:t>
            </a:r>
            <a:endParaRPr lang="en-US" sz="900"/>
          </a:p>
        </p:txBody>
      </p:sp>
      <p:sp>
        <p:nvSpPr>
          <p:cNvPr id="29" name="Text 25"/>
          <p:cNvSpPr/>
          <p:nvPr/>
        </p:nvSpPr>
        <p:spPr>
          <a:xfrm>
            <a:off x="1783080" y="4776580"/>
            <a:ext cx="167335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b="1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hrs -&gt; 5 mins</a:t>
            </a:r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3739896" y="4429108"/>
            <a:ext cx="1463040" cy="713232"/>
          </a:xfrm>
          <a:prstGeom prst="roundRect">
            <a:avLst>
              <a:gd name="adj" fmla="val 10256"/>
            </a:avLst>
          </a:prstGeom>
          <a:solidFill>
            <a:srgbClr val="EAF7EF"/>
          </a:solidFill>
          <a:ln w="889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31" name="Text 27"/>
          <p:cNvSpPr/>
          <p:nvPr/>
        </p:nvSpPr>
        <p:spPr>
          <a:xfrm>
            <a:off x="3794760" y="4520548"/>
            <a:ext cx="135331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Speed improvement</a:t>
            </a:r>
            <a:endParaRPr lang="en-US" sz="900"/>
          </a:p>
        </p:txBody>
      </p:sp>
      <p:sp>
        <p:nvSpPr>
          <p:cNvPr id="32" name="Text 28"/>
          <p:cNvSpPr/>
          <p:nvPr/>
        </p:nvSpPr>
        <p:spPr>
          <a:xfrm>
            <a:off x="3794760" y="4776580"/>
            <a:ext cx="135331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b="1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98% faster</a:t>
            </a:r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5431536" y="4429108"/>
            <a:ext cx="1188720" cy="713232"/>
          </a:xfrm>
          <a:prstGeom prst="roundRect">
            <a:avLst>
              <a:gd name="adj" fmla="val 10256"/>
            </a:avLst>
          </a:prstGeom>
          <a:solidFill>
            <a:srgbClr val="EAF7EF"/>
          </a:solidFill>
          <a:ln w="889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34" name="Text 30"/>
          <p:cNvSpPr/>
          <p:nvPr/>
        </p:nvSpPr>
        <p:spPr>
          <a:xfrm>
            <a:off x="5486400" y="4520548"/>
            <a:ext cx="107899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score</a:t>
            </a:r>
            <a:endParaRPr lang="en-US" sz="900"/>
          </a:p>
        </p:txBody>
      </p:sp>
      <p:sp>
        <p:nvSpPr>
          <p:cNvPr id="35" name="Text 31"/>
          <p:cNvSpPr/>
          <p:nvPr/>
        </p:nvSpPr>
        <p:spPr>
          <a:xfrm>
            <a:off x="5486400" y="4776580"/>
            <a:ext cx="107899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b="1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87%</a:t>
            </a:r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7597139" y="4489378"/>
            <a:ext cx="4462272" cy="1115568"/>
          </a:xfrm>
          <a:prstGeom prst="roundRect">
            <a:avLst>
              <a:gd name="adj" fmla="val 6557"/>
            </a:avLst>
          </a:prstGeom>
          <a:solidFill>
            <a:srgbClr val="00263E"/>
          </a:solidFill>
          <a:ln w="8890">
            <a:solidFill>
              <a:srgbClr val="D8E1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800"/>
          </a:p>
        </p:txBody>
      </p:sp>
      <p:sp>
        <p:nvSpPr>
          <p:cNvPr id="37" name="Text 33"/>
          <p:cNvSpPr/>
          <p:nvPr/>
        </p:nvSpPr>
        <p:spPr>
          <a:xfrm>
            <a:off x="7825739" y="4690546"/>
            <a:ext cx="14630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1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 TAKEAWAY</a:t>
            </a:r>
            <a:endParaRPr lang="en-US" sz="1100"/>
          </a:p>
        </p:txBody>
      </p:sp>
      <p:sp>
        <p:nvSpPr>
          <p:cNvPr id="38" name="Text 34"/>
          <p:cNvSpPr/>
          <p:nvPr/>
        </p:nvSpPr>
        <p:spPr>
          <a:xfrm>
            <a:off x="7825738" y="4983153"/>
            <a:ext cx="4006597" cy="47548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not a report automation idea. It is a business decision engine that converts an operational KPI movement into evidence, impact and actions.</a:t>
            </a:r>
            <a:endParaRPr lang="en-US" sz="1050"/>
          </a:p>
        </p:txBody>
      </p:sp>
      <p:sp>
        <p:nvSpPr>
          <p:cNvPr id="39" name="Rounded Rectangle 38"/>
          <p:cNvSpPr/>
          <p:nvPr/>
        </p:nvSpPr>
        <p:spPr>
          <a:xfrm>
            <a:off x="7372023" y="1399031"/>
            <a:ext cx="4526280" cy="2645409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54903" y="1554480"/>
            <a:ext cx="3291840" cy="146304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r>
              <a:rPr sz="850" b="1">
                <a:solidFill>
                  <a:srgbClr val="FB4D0A"/>
                </a:solidFill>
                <a:latin typeface="Aptos Display"/>
              </a:rPr>
              <a:t>Complaint trend after AI adoption</a:t>
            </a:r>
          </a:p>
        </p:txBody>
      </p:sp>
      <p:graphicFrame>
        <p:nvGraphicFramePr>
          <p:cNvPr id="41" name="Chart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986885"/>
              </p:ext>
            </p:extLst>
          </p:nvPr>
        </p:nvGraphicFramePr>
        <p:xfrm>
          <a:off x="7554903" y="1837944"/>
          <a:ext cx="4069080" cy="1967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7829223" y="3838700"/>
            <a:ext cx="3983591" cy="144655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r>
              <a:rPr sz="700" b="0">
                <a:solidFill>
                  <a:srgbClr val="3B4652"/>
                </a:solidFill>
                <a:latin typeface="Aptos"/>
              </a:rPr>
              <a:t>Illustrative trend: AI agent helps investigations move from rising backlog to declining complaint cases.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44A102-5B1A-2990-AC30-04A59C236AC0}"/>
              </a:ext>
            </a:extLst>
          </p:cNvPr>
          <p:cNvSpPr txBox="1"/>
          <p:nvPr/>
        </p:nvSpPr>
        <p:spPr>
          <a:xfrm>
            <a:off x="641835" y="388181"/>
            <a:ext cx="5158594" cy="8299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1">
                <a:ea typeface="+mn-lt"/>
                <a:cs typeface="+mn-lt"/>
              </a:rPr>
              <a:t>An AI investigator that turns KPI movements into actionable insights.</a:t>
            </a:r>
            <a:r>
              <a:rPr lang="en-US" sz="1100">
                <a:ea typeface="+mn-lt"/>
                <a:cs typeface="+mn-lt"/>
              </a:rPr>
              <a:t> </a:t>
            </a:r>
            <a:endParaRPr lang="en-US" sz="1100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algn="l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C4AF4-CE1A-C886-E956-04DC45E06ED5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71D21D-2A17-CE1E-C9CB-8A6F9311A5DE}"/>
              </a:ext>
            </a:extLst>
          </p:cNvPr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solidFill>
            <a:srgbClr val="FB4D0A"/>
          </a:solidFill>
          <a:ln>
            <a:solidFill>
              <a:srgbClr val="FB4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2D4BC07-A9F8-537D-C83F-DEFDEEA942BE}"/>
              </a:ext>
            </a:extLst>
          </p:cNvPr>
          <p:cNvSpPr/>
          <p:nvPr/>
        </p:nvSpPr>
        <p:spPr>
          <a:xfrm>
            <a:off x="320040" y="932688"/>
            <a:ext cx="11521440" cy="530352"/>
          </a:xfrm>
          <a:prstGeom prst="roundRect">
            <a:avLst/>
          </a:prstGeom>
          <a:solidFill>
            <a:srgbClr val="FFF2EA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FE627F-0D95-5E41-07DB-F297E531F5F9}"/>
              </a:ext>
            </a:extLst>
          </p:cNvPr>
          <p:cNvSpPr txBox="1"/>
          <p:nvPr/>
        </p:nvSpPr>
        <p:spPr>
          <a:xfrm>
            <a:off x="548640" y="1115568"/>
            <a:ext cx="8961120" cy="146304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r>
              <a:rPr sz="1200" b="1">
                <a:solidFill>
                  <a:srgbClr val="00263E"/>
                </a:solidFill>
                <a:latin typeface="Aptos Display"/>
              </a:rPr>
              <a:t>Technical Architecture: From business question to AI-led root-cause action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28915FB-6944-E08F-59B1-9C205DE9C991}"/>
              </a:ext>
            </a:extLst>
          </p:cNvPr>
          <p:cNvSpPr/>
          <p:nvPr/>
        </p:nvSpPr>
        <p:spPr>
          <a:xfrm>
            <a:off x="384048" y="1874519"/>
            <a:ext cx="1600200" cy="1874519"/>
          </a:xfrm>
          <a:prstGeom prst="roundRect">
            <a:avLst/>
          </a:prstGeom>
          <a:solidFill>
            <a:srgbClr val="EAF3FB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4BE8E6B-0837-E890-9298-E019B03FC90C}"/>
              </a:ext>
            </a:extLst>
          </p:cNvPr>
          <p:cNvSpPr/>
          <p:nvPr/>
        </p:nvSpPr>
        <p:spPr>
          <a:xfrm>
            <a:off x="978408" y="2057400"/>
            <a:ext cx="384048" cy="384048"/>
          </a:xfrm>
          <a:prstGeom prst="ellipse">
            <a:avLst/>
          </a:prstGeom>
          <a:solidFill>
            <a:srgbClr val="00263E"/>
          </a:solidFill>
          <a:ln>
            <a:solidFill>
              <a:srgbClr val="00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77B883-47C1-3FE1-8EC5-9B6BAAED6E52}"/>
              </a:ext>
            </a:extLst>
          </p:cNvPr>
          <p:cNvSpPr txBox="1"/>
          <p:nvPr/>
        </p:nvSpPr>
        <p:spPr>
          <a:xfrm>
            <a:off x="1099034" y="2176272"/>
            <a:ext cx="142796" cy="190821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A1B857-BC9F-5CBC-224C-95F5B0CC4C37}"/>
              </a:ext>
            </a:extLst>
          </p:cNvPr>
          <p:cNvSpPr txBox="1"/>
          <p:nvPr/>
        </p:nvSpPr>
        <p:spPr>
          <a:xfrm>
            <a:off x="539917" y="2532888"/>
            <a:ext cx="1279326" cy="190821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lang="en-US" sz="1000" b="1">
                <a:solidFill>
                  <a:srgbClr val="00263E"/>
                </a:solidFill>
                <a:latin typeface="Aptos"/>
              </a:rPr>
              <a:t>KPI Trend Monitoring</a:t>
            </a:r>
            <a:endParaRPr sz="1000" b="1">
              <a:solidFill>
                <a:srgbClr val="00263E"/>
              </a:solidFill>
              <a:latin typeface="Apto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B8BAA0-37E8-0D8B-377F-0C5BA376C79C}"/>
              </a:ext>
            </a:extLst>
          </p:cNvPr>
          <p:cNvSpPr txBox="1"/>
          <p:nvPr/>
        </p:nvSpPr>
        <p:spPr>
          <a:xfrm>
            <a:off x="434340" y="2930180"/>
            <a:ext cx="1549908" cy="80637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3B4652"/>
                </a:solidFill>
                <a:latin typeface="Aptos" pitchFamily="34" charset="0"/>
              </a:rPr>
              <a:t>Analyze KPI trends over time.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3B4652"/>
                </a:solidFill>
                <a:latin typeface="Aptos" pitchFamily="34" charset="0"/>
              </a:rPr>
              <a:t>Flags significant deviations automatically.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8D5CEBB-4CEC-0C19-EFFD-DC05CA646DED}"/>
              </a:ext>
            </a:extLst>
          </p:cNvPr>
          <p:cNvSpPr/>
          <p:nvPr/>
        </p:nvSpPr>
        <p:spPr>
          <a:xfrm>
            <a:off x="2286000" y="1874519"/>
            <a:ext cx="160020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1021DFF-3839-84C3-AC8B-7BAC0CD0B73C}"/>
              </a:ext>
            </a:extLst>
          </p:cNvPr>
          <p:cNvSpPr/>
          <p:nvPr/>
        </p:nvSpPr>
        <p:spPr>
          <a:xfrm>
            <a:off x="2880360" y="2057400"/>
            <a:ext cx="384048" cy="384048"/>
          </a:xfrm>
          <a:prstGeom prst="ellipse">
            <a:avLst/>
          </a:prstGeom>
          <a:solidFill>
            <a:srgbClr val="00263E"/>
          </a:solidFill>
          <a:ln>
            <a:solidFill>
              <a:srgbClr val="00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E9766A-469F-E1AF-B44B-0C9CAC7AE51F}"/>
              </a:ext>
            </a:extLst>
          </p:cNvPr>
          <p:cNvSpPr txBox="1"/>
          <p:nvPr/>
        </p:nvSpPr>
        <p:spPr>
          <a:xfrm>
            <a:off x="3000986" y="2176272"/>
            <a:ext cx="142796" cy="190821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6AED17-D0CA-9110-D03A-B5FFE172E8AE}"/>
              </a:ext>
            </a:extLst>
          </p:cNvPr>
          <p:cNvSpPr txBox="1"/>
          <p:nvPr/>
        </p:nvSpPr>
        <p:spPr>
          <a:xfrm>
            <a:off x="2287978" y="2532888"/>
            <a:ext cx="1587101" cy="34471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lang="fr-FR" sz="1000" b="1">
                <a:solidFill>
                  <a:srgbClr val="00263E"/>
                </a:solidFill>
              </a:rPr>
              <a:t>KPI Deviation Detection &amp; </a:t>
            </a:r>
          </a:p>
          <a:p>
            <a:pPr algn="ctr"/>
            <a:r>
              <a:rPr lang="fr-FR" sz="1000" b="1">
                <a:solidFill>
                  <a:srgbClr val="00263E"/>
                </a:solidFill>
              </a:rPr>
              <a:t>Investigation Portal</a:t>
            </a:r>
            <a:endParaRPr sz="1000" b="1">
              <a:solidFill>
                <a:srgbClr val="00263E"/>
              </a:solidFill>
              <a:latin typeface="Apto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AE9B67-94F2-AF00-C80F-AD230E4F0A8A}"/>
              </a:ext>
            </a:extLst>
          </p:cNvPr>
          <p:cNvSpPr txBox="1"/>
          <p:nvPr/>
        </p:nvSpPr>
        <p:spPr>
          <a:xfrm>
            <a:off x="2487168" y="2926080"/>
            <a:ext cx="1417320" cy="80637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3B4652"/>
                </a:solidFill>
              </a:rPr>
              <a:t>Detect KPI deviation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3B4652"/>
                </a:solidFill>
              </a:rPr>
              <a:t>Select KPI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3B4652"/>
                </a:solidFill>
              </a:rPr>
              <a:t>Launch AI investigation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3B4652"/>
                </a:solidFill>
              </a:rPr>
              <a:t>Display RCA results</a:t>
            </a:r>
            <a:endParaRPr sz="1000" b="0">
              <a:solidFill>
                <a:srgbClr val="3B4652"/>
              </a:solidFill>
              <a:latin typeface="Aptos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7B667C1-6048-24D0-9D44-67A152883374}"/>
              </a:ext>
            </a:extLst>
          </p:cNvPr>
          <p:cNvSpPr/>
          <p:nvPr/>
        </p:nvSpPr>
        <p:spPr>
          <a:xfrm>
            <a:off x="4187952" y="1874519"/>
            <a:ext cx="1600200" cy="1874519"/>
          </a:xfrm>
          <a:prstGeom prst="roundRect">
            <a:avLst/>
          </a:prstGeom>
          <a:solidFill>
            <a:srgbClr val="FFF2EA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E75CA7C-99BC-7DD0-73E3-3A4565352A16}"/>
              </a:ext>
            </a:extLst>
          </p:cNvPr>
          <p:cNvSpPr/>
          <p:nvPr/>
        </p:nvSpPr>
        <p:spPr>
          <a:xfrm>
            <a:off x="4782312" y="2057400"/>
            <a:ext cx="384048" cy="384048"/>
          </a:xfrm>
          <a:prstGeom prst="ellipse">
            <a:avLst/>
          </a:prstGeom>
          <a:solidFill>
            <a:srgbClr val="FB4D0A"/>
          </a:solidFill>
          <a:ln>
            <a:solidFill>
              <a:srgbClr val="FB4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41BE6B-EB96-8C39-08E5-24BEADCAD1B6}"/>
              </a:ext>
            </a:extLst>
          </p:cNvPr>
          <p:cNvSpPr txBox="1"/>
          <p:nvPr/>
        </p:nvSpPr>
        <p:spPr>
          <a:xfrm>
            <a:off x="4902938" y="2176272"/>
            <a:ext cx="142796" cy="190821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1F6A6C-4479-572E-5A82-B97508797830}"/>
              </a:ext>
            </a:extLst>
          </p:cNvPr>
          <p:cNvSpPr txBox="1"/>
          <p:nvPr/>
        </p:nvSpPr>
        <p:spPr>
          <a:xfrm>
            <a:off x="4318170" y="2532888"/>
            <a:ext cx="1330621" cy="190821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B4D0A"/>
                </a:solidFill>
                <a:latin typeface="Aptos"/>
              </a:rPr>
              <a:t>AI Investigation Agent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4F94F4-CC90-B81D-E745-1A05C41C3C72}"/>
              </a:ext>
            </a:extLst>
          </p:cNvPr>
          <p:cNvSpPr txBox="1"/>
          <p:nvPr/>
        </p:nvSpPr>
        <p:spPr>
          <a:xfrm>
            <a:off x="4234603" y="2691354"/>
            <a:ext cx="1600200" cy="10525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lang="en-US" sz="1000">
                <a:solidFill>
                  <a:srgbClr val="3B4652"/>
                </a:solidFill>
              </a:rPr>
              <a:t>Claude AI + Python Analytics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3B4652"/>
                </a:solidFill>
              </a:rPr>
              <a:t>KPI Analysis</a:t>
            </a:r>
            <a:endParaRPr lang="en-US" sz="900">
              <a:solidFill>
                <a:srgbClr val="3B465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rgbClr val="3B4652"/>
                </a:solidFill>
              </a:rPr>
              <a:t>Root Cause Detection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rgbClr val="3B4652"/>
                </a:solidFill>
              </a:rPr>
              <a:t>Impact Assessment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rgbClr val="3B4652"/>
                </a:solidFill>
              </a:rPr>
              <a:t>Recommendation Generation</a:t>
            </a:r>
            <a:endParaRPr sz="900" b="0">
              <a:solidFill>
                <a:srgbClr val="3B4652"/>
              </a:solidFill>
              <a:latin typeface="Aptos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ED00943-3172-28FC-BC25-BD6F44A7D396}"/>
              </a:ext>
            </a:extLst>
          </p:cNvPr>
          <p:cNvSpPr/>
          <p:nvPr/>
        </p:nvSpPr>
        <p:spPr>
          <a:xfrm>
            <a:off x="6089904" y="1874519"/>
            <a:ext cx="160020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48C3177-57AF-9A62-2C24-F108C485E175}"/>
              </a:ext>
            </a:extLst>
          </p:cNvPr>
          <p:cNvSpPr/>
          <p:nvPr/>
        </p:nvSpPr>
        <p:spPr>
          <a:xfrm>
            <a:off x="6684264" y="2057400"/>
            <a:ext cx="384048" cy="384048"/>
          </a:xfrm>
          <a:prstGeom prst="ellipse">
            <a:avLst/>
          </a:prstGeom>
          <a:solidFill>
            <a:srgbClr val="00263E"/>
          </a:solidFill>
          <a:ln>
            <a:solidFill>
              <a:srgbClr val="00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B3D779-675B-3985-0126-97EEEEC41BE3}"/>
              </a:ext>
            </a:extLst>
          </p:cNvPr>
          <p:cNvSpPr txBox="1"/>
          <p:nvPr/>
        </p:nvSpPr>
        <p:spPr>
          <a:xfrm>
            <a:off x="6804890" y="2176272"/>
            <a:ext cx="142796" cy="190821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DA056F-1E26-467A-3D99-49403416F1F8}"/>
              </a:ext>
            </a:extLst>
          </p:cNvPr>
          <p:cNvSpPr txBox="1"/>
          <p:nvPr/>
        </p:nvSpPr>
        <p:spPr>
          <a:xfrm>
            <a:off x="6045396" y="2532888"/>
            <a:ext cx="1680075" cy="190821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lang="en-US" sz="1000" b="1">
                <a:solidFill>
                  <a:srgbClr val="00263E"/>
                </a:solidFill>
              </a:rPr>
              <a:t>Root Cause Analysis Engine</a:t>
            </a:r>
            <a:endParaRPr sz="1000" b="1">
              <a:solidFill>
                <a:srgbClr val="00263E"/>
              </a:solidFill>
              <a:latin typeface="Apto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3B8BF6A-AE00-5F57-B287-1DF8F4C478EB}"/>
              </a:ext>
            </a:extLst>
          </p:cNvPr>
          <p:cNvSpPr txBox="1"/>
          <p:nvPr/>
        </p:nvSpPr>
        <p:spPr>
          <a:xfrm>
            <a:off x="6208776" y="2689751"/>
            <a:ext cx="1617279" cy="960263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lang="en-US" sz="1000">
                <a:solidFill>
                  <a:srgbClr val="3B4652"/>
                </a:solidFill>
              </a:rPr>
              <a:t>Identifies and prioritizes: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3B4652"/>
                </a:solidFill>
              </a:rPr>
              <a:t>Customer drivers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3B4652"/>
                </a:solidFill>
              </a:rPr>
              <a:t>Billing drivers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3B4652"/>
                </a:solidFill>
              </a:rPr>
              <a:t>Payment drivers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3B4652"/>
                </a:solidFill>
              </a:rPr>
              <a:t>Metering drivers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3B4652"/>
                </a:solidFill>
              </a:rPr>
              <a:t>Regional drivers</a:t>
            </a:r>
            <a:endParaRPr sz="1000" b="0">
              <a:solidFill>
                <a:srgbClr val="3B4652"/>
              </a:solidFill>
              <a:latin typeface="Aptos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68781097-EF0B-A791-349D-59E9FB61A6D8}"/>
              </a:ext>
            </a:extLst>
          </p:cNvPr>
          <p:cNvSpPr/>
          <p:nvPr/>
        </p:nvSpPr>
        <p:spPr>
          <a:xfrm>
            <a:off x="7991856" y="1874519"/>
            <a:ext cx="1600200" cy="1874519"/>
          </a:xfrm>
          <a:prstGeom prst="roundRect">
            <a:avLst/>
          </a:prstGeom>
          <a:solidFill>
            <a:srgbClr val="EAF3FB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D888DBE-73FB-B82B-B1E8-96BE67925238}"/>
              </a:ext>
            </a:extLst>
          </p:cNvPr>
          <p:cNvSpPr/>
          <p:nvPr/>
        </p:nvSpPr>
        <p:spPr>
          <a:xfrm>
            <a:off x="8586216" y="2057400"/>
            <a:ext cx="384048" cy="384048"/>
          </a:xfrm>
          <a:prstGeom prst="ellipse">
            <a:avLst/>
          </a:prstGeom>
          <a:solidFill>
            <a:srgbClr val="00263E"/>
          </a:solidFill>
          <a:ln>
            <a:solidFill>
              <a:srgbClr val="00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E123F0-602A-5CF2-3383-5F48029AA8E3}"/>
              </a:ext>
            </a:extLst>
          </p:cNvPr>
          <p:cNvSpPr txBox="1"/>
          <p:nvPr/>
        </p:nvSpPr>
        <p:spPr>
          <a:xfrm>
            <a:off x="8706842" y="2176272"/>
            <a:ext cx="142796" cy="190821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1C2A0A7-4AE6-3CD9-3BB5-D1C267D78DDA}"/>
              </a:ext>
            </a:extLst>
          </p:cNvPr>
          <p:cNvSpPr txBox="1"/>
          <p:nvPr/>
        </p:nvSpPr>
        <p:spPr>
          <a:xfrm>
            <a:off x="7998645" y="2532888"/>
            <a:ext cx="1577484" cy="190821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lang="en-US" sz="1000" b="1">
                <a:solidFill>
                  <a:srgbClr val="00263E"/>
                </a:solidFill>
              </a:rPr>
              <a:t>Operational Data Sources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D1A3C783-9DE4-BBBA-AD05-376648528D2E}"/>
              </a:ext>
            </a:extLst>
          </p:cNvPr>
          <p:cNvSpPr/>
          <p:nvPr/>
        </p:nvSpPr>
        <p:spPr>
          <a:xfrm>
            <a:off x="9893808" y="1874519"/>
            <a:ext cx="160020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99E87D6-32A9-99F7-5C90-2ABB8D599D85}"/>
              </a:ext>
            </a:extLst>
          </p:cNvPr>
          <p:cNvSpPr txBox="1"/>
          <p:nvPr/>
        </p:nvSpPr>
        <p:spPr>
          <a:xfrm>
            <a:off x="9994392" y="2954692"/>
            <a:ext cx="1371600" cy="49859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lang="en-US" sz="1000" b="0">
                <a:solidFill>
                  <a:srgbClr val="3B4652"/>
                </a:solidFill>
                <a:latin typeface="Aptos"/>
              </a:rPr>
              <a:t>User will get an alert via Email/ Teams &amp; Detailed analysis.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7CFEAEC-B34C-DB2D-EDCC-1784E867919D}"/>
              </a:ext>
            </a:extLst>
          </p:cNvPr>
          <p:cNvSpPr/>
          <p:nvPr/>
        </p:nvSpPr>
        <p:spPr>
          <a:xfrm>
            <a:off x="10488168" y="2057400"/>
            <a:ext cx="384048" cy="384048"/>
          </a:xfrm>
          <a:prstGeom prst="ellipse">
            <a:avLst/>
          </a:prstGeom>
          <a:solidFill>
            <a:srgbClr val="00263E"/>
          </a:solidFill>
          <a:ln>
            <a:solidFill>
              <a:srgbClr val="00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060E366-5D26-4F37-56DA-5CA74D2990AE}"/>
              </a:ext>
            </a:extLst>
          </p:cNvPr>
          <p:cNvSpPr txBox="1"/>
          <p:nvPr/>
        </p:nvSpPr>
        <p:spPr>
          <a:xfrm>
            <a:off x="10608794" y="2176272"/>
            <a:ext cx="142796" cy="190821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C0F395-8F8B-3269-0337-441980335F58}"/>
              </a:ext>
            </a:extLst>
          </p:cNvPr>
          <p:cNvSpPr txBox="1"/>
          <p:nvPr/>
        </p:nvSpPr>
        <p:spPr>
          <a:xfrm>
            <a:off x="10108985" y="2532888"/>
            <a:ext cx="1160702" cy="190821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lang="en-US" sz="1000" b="1">
                <a:solidFill>
                  <a:srgbClr val="00263E"/>
                </a:solidFill>
              </a:rPr>
              <a:t>Send alert to USER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D11C7C9-3570-431D-9DF9-373DA1779021}"/>
              </a:ext>
            </a:extLst>
          </p:cNvPr>
          <p:cNvSpPr txBox="1"/>
          <p:nvPr/>
        </p:nvSpPr>
        <p:spPr>
          <a:xfrm>
            <a:off x="8094302" y="2823443"/>
            <a:ext cx="1438487" cy="80637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lang="en-US" sz="1000">
                <a:solidFill>
                  <a:srgbClr val="3B4652"/>
                </a:solidFill>
              </a:rPr>
              <a:t>Account Health, Billing History, Payments, Complaints, Meter Readings, Customer Interactions</a:t>
            </a:r>
            <a:endParaRPr sz="1000" b="0">
              <a:solidFill>
                <a:srgbClr val="3B4652"/>
              </a:solidFill>
              <a:latin typeface="Aptos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8DC38DBD-FE49-01FF-1DCD-F87B78C3513A}"/>
              </a:ext>
            </a:extLst>
          </p:cNvPr>
          <p:cNvSpPr/>
          <p:nvPr/>
        </p:nvSpPr>
        <p:spPr>
          <a:xfrm>
            <a:off x="384048" y="4206240"/>
            <a:ext cx="3520440" cy="150876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4105166-3A28-C26B-70EC-85048812D48B}"/>
              </a:ext>
            </a:extLst>
          </p:cNvPr>
          <p:cNvSpPr txBox="1"/>
          <p:nvPr/>
        </p:nvSpPr>
        <p:spPr>
          <a:xfrm>
            <a:off x="594360" y="4407408"/>
            <a:ext cx="1465273" cy="19851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r>
              <a:rPr sz="1050" b="1">
                <a:solidFill>
                  <a:srgbClr val="FB4D0A"/>
                </a:solidFill>
                <a:latin typeface="Aptos"/>
              </a:rPr>
              <a:t>Processing &amp; AI Engine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B6ACDD2-71CB-8BC0-6FAE-5FDFDF466222}"/>
              </a:ext>
            </a:extLst>
          </p:cNvPr>
          <p:cNvSpPr txBox="1"/>
          <p:nvPr/>
        </p:nvSpPr>
        <p:spPr>
          <a:xfrm>
            <a:off x="594360" y="4681728"/>
            <a:ext cx="2072812" cy="934615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120"/>
              </a:spcAft>
              <a:defRPr sz="580">
                <a:solidFill>
                  <a:srgbClr val="3B4652"/>
                </a:solidFill>
                <a:latin typeface="Aptos"/>
              </a:defRPr>
            </a:pPr>
            <a:r>
              <a:rPr sz="1100"/>
              <a:t>• AI Investigation Agent in Python</a:t>
            </a:r>
          </a:p>
          <a:p>
            <a:pPr>
              <a:spcAft>
                <a:spcPts val="120"/>
              </a:spcAft>
              <a:defRPr sz="580">
                <a:solidFill>
                  <a:srgbClr val="3B4652"/>
                </a:solidFill>
                <a:latin typeface="Aptos"/>
              </a:defRPr>
            </a:pPr>
            <a:r>
              <a:rPr sz="1100"/>
              <a:t>• KPI anomaly detection</a:t>
            </a:r>
          </a:p>
          <a:p>
            <a:pPr>
              <a:spcAft>
                <a:spcPts val="120"/>
              </a:spcAft>
              <a:defRPr sz="580">
                <a:solidFill>
                  <a:srgbClr val="3B4652"/>
                </a:solidFill>
                <a:latin typeface="Aptos"/>
              </a:defRPr>
            </a:pPr>
            <a:r>
              <a:rPr sz="1100"/>
              <a:t>• Tool calling framework</a:t>
            </a:r>
          </a:p>
          <a:p>
            <a:pPr>
              <a:spcAft>
                <a:spcPts val="120"/>
              </a:spcAft>
              <a:defRPr sz="580">
                <a:solidFill>
                  <a:srgbClr val="3B4652"/>
                </a:solidFill>
                <a:latin typeface="Aptos"/>
              </a:defRPr>
            </a:pPr>
            <a:r>
              <a:rPr sz="1100"/>
              <a:t>• Root-cause analysis</a:t>
            </a:r>
          </a:p>
          <a:p>
            <a:pPr>
              <a:spcAft>
                <a:spcPts val="120"/>
              </a:spcAft>
              <a:defRPr sz="580">
                <a:solidFill>
                  <a:srgbClr val="3B4652"/>
                </a:solidFill>
                <a:latin typeface="Aptos"/>
              </a:defRPr>
            </a:pPr>
            <a:r>
              <a:rPr sz="1100"/>
              <a:t>• Recommendation generation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7B38F772-3F30-35DE-EF49-C757F16D2696}"/>
              </a:ext>
            </a:extLst>
          </p:cNvPr>
          <p:cNvSpPr/>
          <p:nvPr/>
        </p:nvSpPr>
        <p:spPr>
          <a:xfrm>
            <a:off x="4343400" y="4206240"/>
            <a:ext cx="35204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A16B22-A108-8022-8034-CFCF2001D586}"/>
              </a:ext>
            </a:extLst>
          </p:cNvPr>
          <p:cNvSpPr txBox="1"/>
          <p:nvPr/>
        </p:nvSpPr>
        <p:spPr>
          <a:xfrm>
            <a:off x="4553712" y="4407408"/>
            <a:ext cx="1428404" cy="19851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r>
              <a:rPr sz="1050" b="1">
                <a:solidFill>
                  <a:srgbClr val="FB4D0A"/>
                </a:solidFill>
                <a:latin typeface="Aptos"/>
              </a:rPr>
              <a:t>Application &amp; Delivery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55BBD84-3FC5-A2FA-B9DD-E318F27827F4}"/>
              </a:ext>
            </a:extLst>
          </p:cNvPr>
          <p:cNvSpPr txBox="1"/>
          <p:nvPr/>
        </p:nvSpPr>
        <p:spPr>
          <a:xfrm>
            <a:off x="4553712" y="4681728"/>
            <a:ext cx="2781339" cy="934615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120"/>
              </a:spcAft>
              <a:defRPr sz="580">
                <a:solidFill>
                  <a:srgbClr val="3B4652"/>
                </a:solidFill>
                <a:latin typeface="Aptos"/>
              </a:defRPr>
            </a:pPr>
            <a:r>
              <a:rPr sz="1100"/>
              <a:t>• </a:t>
            </a:r>
            <a:r>
              <a:rPr sz="1100" err="1"/>
              <a:t>Streamlit</a:t>
            </a:r>
            <a:r>
              <a:rPr sz="1100"/>
              <a:t> UI hosted on Cloud Run</a:t>
            </a:r>
          </a:p>
          <a:p>
            <a:pPr>
              <a:spcAft>
                <a:spcPts val="120"/>
              </a:spcAft>
              <a:defRPr sz="580">
                <a:solidFill>
                  <a:srgbClr val="3B4652"/>
                </a:solidFill>
                <a:latin typeface="Aptos"/>
              </a:defRPr>
            </a:pPr>
            <a:r>
              <a:rPr sz="1100"/>
              <a:t>• Business dashboard and investigation view</a:t>
            </a:r>
          </a:p>
          <a:p>
            <a:pPr>
              <a:spcAft>
                <a:spcPts val="120"/>
              </a:spcAft>
              <a:defRPr sz="580">
                <a:solidFill>
                  <a:srgbClr val="3B4652"/>
                </a:solidFill>
                <a:latin typeface="Aptos"/>
              </a:defRPr>
            </a:pPr>
            <a:r>
              <a:rPr sz="1100"/>
              <a:t>• Downloadable RCA output</a:t>
            </a:r>
          </a:p>
          <a:p>
            <a:pPr>
              <a:spcAft>
                <a:spcPts val="120"/>
              </a:spcAft>
              <a:defRPr sz="580">
                <a:solidFill>
                  <a:srgbClr val="3B4652"/>
                </a:solidFill>
                <a:latin typeface="Aptos"/>
              </a:defRPr>
            </a:pPr>
            <a:r>
              <a:rPr sz="1100"/>
              <a:t>• Executive reports and delivery layer</a:t>
            </a:r>
          </a:p>
          <a:p>
            <a:pPr>
              <a:spcAft>
                <a:spcPts val="120"/>
              </a:spcAft>
              <a:defRPr sz="580">
                <a:solidFill>
                  <a:srgbClr val="3B4652"/>
                </a:solidFill>
                <a:latin typeface="Aptos"/>
              </a:defRPr>
            </a:pPr>
            <a:r>
              <a:rPr sz="1100"/>
              <a:t>• SSO / IAM access control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EEB1A4A5-CCEF-2A2C-59B8-731D0F319855}"/>
              </a:ext>
            </a:extLst>
          </p:cNvPr>
          <p:cNvSpPr/>
          <p:nvPr/>
        </p:nvSpPr>
        <p:spPr>
          <a:xfrm>
            <a:off x="8302752" y="4206240"/>
            <a:ext cx="3520440" cy="150876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DF61EC6-21A8-9AAC-E2A3-B289EFCB0C06}"/>
              </a:ext>
            </a:extLst>
          </p:cNvPr>
          <p:cNvSpPr txBox="1"/>
          <p:nvPr/>
        </p:nvSpPr>
        <p:spPr>
          <a:xfrm>
            <a:off x="8513064" y="4407408"/>
            <a:ext cx="1548629" cy="19851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r>
              <a:rPr lang="en-US" sz="1050" b="1">
                <a:solidFill>
                  <a:srgbClr val="FB4D0A"/>
                </a:solidFill>
              </a:rPr>
              <a:t>AI Investigation Outputs</a:t>
            </a:r>
            <a:endParaRPr sz="1050" b="1">
              <a:solidFill>
                <a:srgbClr val="FB4D0A"/>
              </a:solidFill>
              <a:latin typeface="Apto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5A75F68-2842-0F1B-4D45-DF43C7AD95FA}"/>
              </a:ext>
            </a:extLst>
          </p:cNvPr>
          <p:cNvSpPr txBox="1"/>
          <p:nvPr/>
        </p:nvSpPr>
        <p:spPr>
          <a:xfrm>
            <a:off x="8513064" y="4681728"/>
            <a:ext cx="2178610" cy="934615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marL="171450" indent="-171450">
              <a:spcAft>
                <a:spcPts val="120"/>
              </a:spcAft>
              <a:buFont typeface="Wingdings" panose="05000000000000000000" pitchFamily="2" charset="2"/>
              <a:buChar char="ü"/>
              <a:defRPr sz="580">
                <a:solidFill>
                  <a:srgbClr val="3B4652"/>
                </a:solidFill>
                <a:latin typeface="Aptos"/>
              </a:defRPr>
            </a:pPr>
            <a:r>
              <a:rPr lang="en-US" sz="1100"/>
              <a:t>Root Cause Identified</a:t>
            </a:r>
          </a:p>
          <a:p>
            <a:pPr marL="171450" indent="-171450">
              <a:spcAft>
                <a:spcPts val="120"/>
              </a:spcAft>
              <a:buFont typeface="Wingdings" panose="05000000000000000000" pitchFamily="2" charset="2"/>
              <a:buChar char="ü"/>
              <a:defRPr sz="580">
                <a:solidFill>
                  <a:srgbClr val="3B4652"/>
                </a:solidFill>
                <a:latin typeface="Aptos"/>
              </a:defRPr>
            </a:pPr>
            <a:r>
              <a:rPr lang="en-US" sz="1100"/>
              <a:t>Impacted Customer </a:t>
            </a:r>
            <a:r>
              <a:rPr lang="en-US" sz="1100" err="1"/>
              <a:t>Segmentse</a:t>
            </a:r>
            <a:endParaRPr lang="en-US" sz="1100"/>
          </a:p>
          <a:p>
            <a:pPr marL="171450" indent="-171450">
              <a:spcAft>
                <a:spcPts val="120"/>
              </a:spcAft>
              <a:buFont typeface="Wingdings" panose="05000000000000000000" pitchFamily="2" charset="2"/>
              <a:buChar char="ü"/>
              <a:defRPr sz="580">
                <a:solidFill>
                  <a:srgbClr val="3B4652"/>
                </a:solidFill>
                <a:latin typeface="Aptos"/>
              </a:defRPr>
            </a:pPr>
            <a:r>
              <a:rPr lang="en-US" sz="1100"/>
              <a:t>Business Impact</a:t>
            </a:r>
          </a:p>
          <a:p>
            <a:pPr marL="171450" indent="-171450">
              <a:spcAft>
                <a:spcPts val="120"/>
              </a:spcAft>
              <a:buFont typeface="Wingdings" panose="05000000000000000000" pitchFamily="2" charset="2"/>
              <a:buChar char="ü"/>
              <a:defRPr sz="580">
                <a:solidFill>
                  <a:srgbClr val="3B4652"/>
                </a:solidFill>
                <a:latin typeface="Aptos"/>
              </a:defRPr>
            </a:pPr>
            <a:r>
              <a:rPr lang="en-US" sz="1100"/>
              <a:t>Confidence Score</a:t>
            </a:r>
          </a:p>
          <a:p>
            <a:pPr marL="171450" indent="-171450">
              <a:spcAft>
                <a:spcPts val="120"/>
              </a:spcAft>
              <a:buFont typeface="Wingdings" panose="05000000000000000000" pitchFamily="2" charset="2"/>
              <a:buChar char="ü"/>
              <a:defRPr sz="580">
                <a:solidFill>
                  <a:srgbClr val="3B4652"/>
                </a:solidFill>
                <a:latin typeface="Aptos"/>
              </a:defRPr>
            </a:pPr>
            <a:r>
              <a:rPr lang="en-US" sz="1100"/>
              <a:t>Recommended Actions</a:t>
            </a:r>
            <a:endParaRPr sz="1100"/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3AFF8E7B-7003-EA47-5A27-9D6789BD9901}"/>
              </a:ext>
            </a:extLst>
          </p:cNvPr>
          <p:cNvSpPr/>
          <p:nvPr/>
        </p:nvSpPr>
        <p:spPr>
          <a:xfrm>
            <a:off x="384048" y="5989320"/>
            <a:ext cx="11430000" cy="502920"/>
          </a:xfrm>
          <a:prstGeom prst="roundRect">
            <a:avLst/>
          </a:prstGeom>
          <a:solidFill>
            <a:srgbClr val="00263E"/>
          </a:solidFill>
          <a:ln w="10160">
            <a:solidFill>
              <a:srgbClr val="00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2C59B3F-18B9-4FDD-3174-B7EFDC52798F}"/>
              </a:ext>
            </a:extLst>
          </p:cNvPr>
          <p:cNvSpPr txBox="1"/>
          <p:nvPr/>
        </p:nvSpPr>
        <p:spPr>
          <a:xfrm>
            <a:off x="611539" y="6080760"/>
            <a:ext cx="1391535" cy="190821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r>
              <a:rPr sz="1000" b="1">
                <a:solidFill>
                  <a:srgbClr val="FB4D0A"/>
                </a:solidFill>
                <a:latin typeface="Aptos"/>
              </a:rPr>
              <a:t>Architecture outcome: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3246AE0-A6E8-6FAC-625A-5A201FD5AA15}"/>
              </a:ext>
            </a:extLst>
          </p:cNvPr>
          <p:cNvSpPr txBox="1"/>
          <p:nvPr/>
        </p:nvSpPr>
        <p:spPr>
          <a:xfrm>
            <a:off x="1993392" y="6080760"/>
            <a:ext cx="9656064" cy="34471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US" sz="1000" b="1">
                <a:solidFill>
                  <a:srgbClr val="FFFFFF"/>
                </a:solidFill>
              </a:rPr>
              <a:t>KPI deviation is investigated inside the existing report/dashboard flow, root causes are identified across operational datasets, and end users receive role-based actions to reduce customer and revenue impact.</a:t>
            </a:r>
          </a:p>
        </p:txBody>
      </p:sp>
      <p:sp>
        <p:nvSpPr>
          <p:cNvPr id="59" name="Text 1">
            <a:extLst>
              <a:ext uri="{FF2B5EF4-FFF2-40B4-BE49-F238E27FC236}">
                <a16:creationId xmlns:a16="http://schemas.microsoft.com/office/drawing/2014/main" id="{80AD2472-15D1-1A85-2848-0663B524B28D}"/>
              </a:ext>
            </a:extLst>
          </p:cNvPr>
          <p:cNvSpPr/>
          <p:nvPr/>
        </p:nvSpPr>
        <p:spPr>
          <a:xfrm>
            <a:off x="749808" y="118872"/>
            <a:ext cx="6035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sz="2400" b="1">
                <a:solidFill>
                  <a:srgbClr val="005071"/>
                </a:solidFill>
                <a:latin typeface="Aptos Display"/>
              </a:rPr>
              <a:t>New Way of Analysis</a:t>
            </a:r>
          </a:p>
        </p:txBody>
      </p:sp>
      <p:sp>
        <p:nvSpPr>
          <p:cNvPr id="63" name="Shape 3">
            <a:extLst>
              <a:ext uri="{FF2B5EF4-FFF2-40B4-BE49-F238E27FC236}">
                <a16:creationId xmlns:a16="http://schemas.microsoft.com/office/drawing/2014/main" id="{4C2E8C46-C74F-F368-0AB8-DBF35ECDE44B}"/>
              </a:ext>
            </a:extLst>
          </p:cNvPr>
          <p:cNvSpPr/>
          <p:nvPr/>
        </p:nvSpPr>
        <p:spPr>
          <a:xfrm>
            <a:off x="219456" y="737870"/>
            <a:ext cx="11777472" cy="1"/>
          </a:xfrm>
          <a:prstGeom prst="line">
            <a:avLst/>
          </a:prstGeom>
          <a:noFill/>
          <a:ln w="1016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65" name="Shape 12">
            <a:extLst>
              <a:ext uri="{FF2B5EF4-FFF2-40B4-BE49-F238E27FC236}">
                <a16:creationId xmlns:a16="http://schemas.microsoft.com/office/drawing/2014/main" id="{BC8345D0-10AA-A051-5217-EDA7F892C1E2}"/>
              </a:ext>
            </a:extLst>
          </p:cNvPr>
          <p:cNvSpPr/>
          <p:nvPr/>
        </p:nvSpPr>
        <p:spPr>
          <a:xfrm>
            <a:off x="1975104" y="2761392"/>
            <a:ext cx="320040" cy="1"/>
          </a:xfrm>
          <a:prstGeom prst="line">
            <a:avLst/>
          </a:prstGeom>
          <a:noFill/>
          <a:ln w="13970">
            <a:solidFill>
              <a:srgbClr val="FB4D0A"/>
            </a:solidFill>
            <a:prstDash val="solid"/>
            <a:tailEnd type="triangle"/>
          </a:ln>
        </p:spPr>
        <p:txBody>
          <a:bodyPr/>
          <a:lstStyle/>
          <a:p>
            <a:endParaRPr lang="en-IN" sz="3600"/>
          </a:p>
        </p:txBody>
      </p:sp>
      <p:sp>
        <p:nvSpPr>
          <p:cNvPr id="69" name="Shape 12">
            <a:extLst>
              <a:ext uri="{FF2B5EF4-FFF2-40B4-BE49-F238E27FC236}">
                <a16:creationId xmlns:a16="http://schemas.microsoft.com/office/drawing/2014/main" id="{2BE42B29-1EAE-C96D-5654-85C6F9E193B1}"/>
              </a:ext>
            </a:extLst>
          </p:cNvPr>
          <p:cNvSpPr/>
          <p:nvPr/>
        </p:nvSpPr>
        <p:spPr>
          <a:xfrm>
            <a:off x="3890264" y="2761392"/>
            <a:ext cx="320040" cy="1"/>
          </a:xfrm>
          <a:prstGeom prst="line">
            <a:avLst/>
          </a:prstGeom>
          <a:noFill/>
          <a:ln w="13970">
            <a:solidFill>
              <a:srgbClr val="FB4D0A"/>
            </a:solidFill>
            <a:prstDash val="solid"/>
            <a:tailEnd type="triangle"/>
          </a:ln>
        </p:spPr>
        <p:txBody>
          <a:bodyPr/>
          <a:lstStyle/>
          <a:p>
            <a:endParaRPr lang="en-IN" sz="3600"/>
          </a:p>
        </p:txBody>
      </p:sp>
      <p:sp>
        <p:nvSpPr>
          <p:cNvPr id="71" name="Shape 12">
            <a:extLst>
              <a:ext uri="{FF2B5EF4-FFF2-40B4-BE49-F238E27FC236}">
                <a16:creationId xmlns:a16="http://schemas.microsoft.com/office/drawing/2014/main" id="{2C5E515F-4D1C-F63C-B71B-A3F9A8209B95}"/>
              </a:ext>
            </a:extLst>
          </p:cNvPr>
          <p:cNvSpPr/>
          <p:nvPr/>
        </p:nvSpPr>
        <p:spPr>
          <a:xfrm flipV="1">
            <a:off x="5805424" y="2759679"/>
            <a:ext cx="299381" cy="3426"/>
          </a:xfrm>
          <a:prstGeom prst="line">
            <a:avLst/>
          </a:prstGeom>
          <a:noFill/>
          <a:ln w="13970">
            <a:solidFill>
              <a:srgbClr val="FB4D0A"/>
            </a:solidFill>
            <a:prstDash val="solid"/>
            <a:tailEnd type="triangle"/>
          </a:ln>
        </p:spPr>
        <p:txBody>
          <a:bodyPr/>
          <a:lstStyle/>
          <a:p>
            <a:endParaRPr lang="en-IN" sz="3600"/>
          </a:p>
        </p:txBody>
      </p:sp>
      <p:sp>
        <p:nvSpPr>
          <p:cNvPr id="73" name="Shape 12">
            <a:extLst>
              <a:ext uri="{FF2B5EF4-FFF2-40B4-BE49-F238E27FC236}">
                <a16:creationId xmlns:a16="http://schemas.microsoft.com/office/drawing/2014/main" id="{BF00DE21-D6D5-8F2F-6195-9701709F2152}"/>
              </a:ext>
            </a:extLst>
          </p:cNvPr>
          <p:cNvSpPr/>
          <p:nvPr/>
        </p:nvSpPr>
        <p:spPr>
          <a:xfrm>
            <a:off x="7699925" y="2761392"/>
            <a:ext cx="299381" cy="1"/>
          </a:xfrm>
          <a:prstGeom prst="line">
            <a:avLst/>
          </a:prstGeom>
          <a:noFill/>
          <a:ln w="13970">
            <a:solidFill>
              <a:srgbClr val="FB4D0A"/>
            </a:solidFill>
            <a:prstDash val="solid"/>
            <a:tailEnd type="triangle"/>
          </a:ln>
        </p:spPr>
        <p:txBody>
          <a:bodyPr/>
          <a:lstStyle/>
          <a:p>
            <a:endParaRPr lang="en-IN" sz="3600"/>
          </a:p>
        </p:txBody>
      </p:sp>
      <p:sp>
        <p:nvSpPr>
          <p:cNvPr id="75" name="Shape 12">
            <a:extLst>
              <a:ext uri="{FF2B5EF4-FFF2-40B4-BE49-F238E27FC236}">
                <a16:creationId xmlns:a16="http://schemas.microsoft.com/office/drawing/2014/main" id="{F7A7FE84-017C-ABB8-49AF-576C38416D8A}"/>
              </a:ext>
            </a:extLst>
          </p:cNvPr>
          <p:cNvSpPr/>
          <p:nvPr/>
        </p:nvSpPr>
        <p:spPr>
          <a:xfrm>
            <a:off x="9594427" y="2761392"/>
            <a:ext cx="299381" cy="1"/>
          </a:xfrm>
          <a:prstGeom prst="line">
            <a:avLst/>
          </a:prstGeom>
          <a:noFill/>
          <a:ln w="13970">
            <a:solidFill>
              <a:srgbClr val="FB4D0A"/>
            </a:solidFill>
            <a:prstDash val="solid"/>
            <a:tailEnd type="triangle"/>
          </a:ln>
        </p:spPr>
        <p:txBody>
          <a:bodyPr/>
          <a:lstStyle/>
          <a:p>
            <a:endParaRPr lang="en-IN" sz="3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7A76A4-ECD4-C272-4DBD-6283EAC2F29B}"/>
              </a:ext>
            </a:extLst>
          </p:cNvPr>
          <p:cNvSpPr txBox="1"/>
          <p:nvPr/>
        </p:nvSpPr>
        <p:spPr>
          <a:xfrm>
            <a:off x="667508" y="388181"/>
            <a:ext cx="4410973" cy="5386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ea typeface="+mn-lt"/>
                <a:cs typeface="+mn-lt"/>
              </a:rPr>
              <a:t>AI-driven, evidence-based and action-oriented</a:t>
            </a:r>
            <a:endParaRPr lang="en-US" sz="1100"/>
          </a:p>
          <a:p>
            <a:pPr algn="l"/>
            <a:endParaRPr lang="en-US"/>
          </a:p>
        </p:txBody>
      </p:sp>
      <p:sp>
        <p:nvSpPr>
          <p:cNvPr id="5" name="Text 36">
            <a:extLst>
              <a:ext uri="{FF2B5EF4-FFF2-40B4-BE49-F238E27FC236}">
                <a16:creationId xmlns:a16="http://schemas.microsoft.com/office/drawing/2014/main" id="{D9AEEBAB-D5DD-CE61-044C-B96029BBE577}"/>
              </a:ext>
            </a:extLst>
          </p:cNvPr>
          <p:cNvSpPr/>
          <p:nvPr/>
        </p:nvSpPr>
        <p:spPr>
          <a:xfrm>
            <a:off x="11411712" y="6473952"/>
            <a:ext cx="41148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EXL</a:t>
            </a:r>
            <a:endParaRPr lang="en-US" sz="700"/>
          </a:p>
        </p:txBody>
      </p:sp>
    </p:spTree>
    <p:extLst>
      <p:ext uri="{BB962C8B-B14F-4D97-AF65-F5344CB8AC3E}">
        <p14:creationId xmlns:p14="http://schemas.microsoft.com/office/powerpoint/2010/main" val="796395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FB4D0A"/>
          </a:solidFill>
          <a:ln>
            <a:solidFill>
              <a:srgbClr val="FB4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19456" y="731520"/>
            <a:ext cx="11777472" cy="9144"/>
          </a:xfrm>
          <a:prstGeom prst="rect">
            <a:avLst/>
          </a:prstGeom>
          <a:solidFill>
            <a:srgbClr val="D8E1EA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208123" y="1077727"/>
            <a:ext cx="2788920" cy="5468112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03436" y="1538331"/>
            <a:ext cx="2468880" cy="290951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150"/>
              </a:spcAft>
              <a:defRPr sz="600">
                <a:solidFill>
                  <a:srgbClr val="3B4652"/>
                </a:solidFill>
                <a:latin typeface="Aptos"/>
              </a:defRPr>
            </a:pPr>
            <a:r>
              <a:rPr sz="1200"/>
              <a:t>• Shows InsightForge as an embedded AI layer, not a standalone product.</a:t>
            </a:r>
          </a:p>
          <a:p>
            <a:pPr>
              <a:spcAft>
                <a:spcPts val="150"/>
              </a:spcAft>
              <a:defRPr sz="600">
                <a:solidFill>
                  <a:srgbClr val="3B4652"/>
                </a:solidFill>
                <a:latin typeface="Aptos"/>
              </a:defRPr>
            </a:pPr>
            <a:r>
              <a:rPr sz="1200"/>
              <a:t>• Clarifies integration with existing dashboards such as Power BI, Tableau and reporting portals.</a:t>
            </a:r>
          </a:p>
          <a:p>
            <a:pPr>
              <a:spcAft>
                <a:spcPts val="150"/>
              </a:spcAft>
              <a:defRPr sz="600">
                <a:solidFill>
                  <a:srgbClr val="3B4652"/>
                </a:solidFill>
                <a:latin typeface="Aptos"/>
              </a:defRPr>
            </a:pPr>
            <a:r>
              <a:rPr sz="1200"/>
              <a:t>• Connects business users to AI investigation, tool calling, RCA and recommended actions.</a:t>
            </a:r>
          </a:p>
          <a:p>
            <a:pPr>
              <a:spcAft>
                <a:spcPts val="150"/>
              </a:spcAft>
              <a:defRPr sz="600">
                <a:solidFill>
                  <a:srgbClr val="3B4652"/>
                </a:solidFill>
                <a:latin typeface="Aptos"/>
              </a:defRPr>
            </a:pPr>
            <a:r>
              <a:rPr sz="1200"/>
              <a:t>• Highlights role-based outputs for business, consumer-service and sales/operations users.</a:t>
            </a:r>
          </a:p>
          <a:p>
            <a:pPr>
              <a:spcAft>
                <a:spcPts val="150"/>
              </a:spcAft>
              <a:defRPr sz="600">
                <a:solidFill>
                  <a:srgbClr val="3B4652"/>
                </a:solidFill>
                <a:latin typeface="Aptos"/>
              </a:defRPr>
            </a:pPr>
            <a:r>
              <a:rPr sz="1200"/>
              <a:t>• Makes the architecture easier for judges and stakeholders to understand in one view.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03436" y="4472505"/>
            <a:ext cx="2377440" cy="1651083"/>
          </a:xfrm>
          <a:prstGeom prst="roundRect">
            <a:avLst/>
          </a:prstGeom>
          <a:solidFill>
            <a:srgbClr val="00263E"/>
          </a:solidFill>
          <a:ln w="10160">
            <a:solidFill>
              <a:srgbClr val="00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9349740" y="4673674"/>
            <a:ext cx="1255280" cy="252377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r>
              <a:rPr sz="1400" b="1">
                <a:solidFill>
                  <a:srgbClr val="FB4D0A"/>
                </a:solidFill>
                <a:latin typeface="Aptos"/>
              </a:rPr>
              <a:t>Slide purpose: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9740" y="5096442"/>
            <a:ext cx="1699260" cy="88331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One-view architecture for explaining how InsightForge fits into the existing reporting ecosystem.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6574536"/>
            <a:ext cx="3246120" cy="1371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r>
              <a:rPr sz="550" b="0">
                <a:solidFill>
                  <a:srgbClr val="6A7785"/>
                </a:solidFill>
                <a:latin typeface="Aptos"/>
              </a:rPr>
              <a:t>InsightForge-AI | AI Operations Intelligence Agent</a:t>
            </a:r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AD2948D6-0E30-0ADD-0B5A-F9D472223BC9}"/>
              </a:ext>
            </a:extLst>
          </p:cNvPr>
          <p:cNvSpPr/>
          <p:nvPr/>
        </p:nvSpPr>
        <p:spPr>
          <a:xfrm>
            <a:off x="749808" y="118871"/>
            <a:ext cx="9308592" cy="37490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sz="2400" b="1">
                <a:solidFill>
                  <a:srgbClr val="005071"/>
                </a:solidFill>
                <a:latin typeface="Aptos Display"/>
              </a:rPr>
              <a:t>High-Level Architecture: InsightForge Inside Existing Dashboards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1B4A31-26D0-D41F-8147-0BBFD8147826}"/>
              </a:ext>
            </a:extLst>
          </p:cNvPr>
          <p:cNvSpPr txBox="1"/>
          <p:nvPr/>
        </p:nvSpPr>
        <p:spPr>
          <a:xfrm>
            <a:off x="649220" y="442476"/>
            <a:ext cx="908914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solidFill>
                  <a:srgbClr val="3B4652"/>
                </a:solidFill>
              </a:rPr>
              <a:t>Detailed integrated architecture view showing dashboard integration, AI investigation, tool calling and role-based outputs.</a:t>
            </a:r>
          </a:p>
        </p:txBody>
      </p:sp>
      <p:sp>
        <p:nvSpPr>
          <p:cNvPr id="30" name="Text 36">
            <a:extLst>
              <a:ext uri="{FF2B5EF4-FFF2-40B4-BE49-F238E27FC236}">
                <a16:creationId xmlns:a16="http://schemas.microsoft.com/office/drawing/2014/main" id="{FB31A0D1-C1F7-E897-3FEA-3B3D30C9953C}"/>
              </a:ext>
            </a:extLst>
          </p:cNvPr>
          <p:cNvSpPr/>
          <p:nvPr/>
        </p:nvSpPr>
        <p:spPr>
          <a:xfrm>
            <a:off x="11411712" y="6473952"/>
            <a:ext cx="41148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EXL</a:t>
            </a:r>
            <a:endParaRPr lang="en-US" sz="7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CDA87B-6484-1E43-8B16-497B593CF1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57" t="10023" r="-524"/>
          <a:stretch>
            <a:fillRect/>
          </a:stretch>
        </p:blipFill>
        <p:spPr>
          <a:xfrm>
            <a:off x="3595" y="733245"/>
            <a:ext cx="9219672" cy="56646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6000"/>
          </a:xfrm>
          <a:prstGeom prst="rect">
            <a:avLst/>
          </a:prstGeom>
          <a:solidFill>
            <a:srgbClr val="FB4D0A"/>
          </a:solidFill>
          <a:ln>
            <a:solidFill>
              <a:srgbClr val="FB4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Rounded Rectangle 6"/>
          <p:cNvSpPr/>
          <p:nvPr/>
        </p:nvSpPr>
        <p:spPr>
          <a:xfrm>
            <a:off x="320040" y="960120"/>
            <a:ext cx="11503152" cy="658368"/>
          </a:xfrm>
          <a:prstGeom prst="roundRect">
            <a:avLst/>
          </a:prstGeom>
          <a:solidFill>
            <a:srgbClr val="FFF2EA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566928" y="1188720"/>
            <a:ext cx="9375452" cy="3139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r>
              <a:rPr b="1">
                <a:solidFill>
                  <a:srgbClr val="00263E"/>
                </a:solidFill>
                <a:latin typeface="Aptos Display"/>
              </a:rPr>
              <a:t>Implementation principle: reuse the existing reporting setup and add AI-led investigation on top.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01952"/>
            <a:ext cx="338328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Oval 9"/>
          <p:cNvSpPr/>
          <p:nvPr/>
        </p:nvSpPr>
        <p:spPr>
          <a:xfrm>
            <a:off x="685800" y="2084832"/>
            <a:ext cx="347472" cy="347472"/>
          </a:xfrm>
          <a:prstGeom prst="ellipse">
            <a:avLst/>
          </a:prstGeom>
          <a:solidFill>
            <a:srgbClr val="FB4D0A"/>
          </a:solidFill>
          <a:ln>
            <a:solidFill>
              <a:srgbClr val="FB4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788138" y="2203704"/>
            <a:ext cx="142796" cy="190821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066544"/>
            <a:ext cx="966740" cy="190821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r>
              <a:rPr sz="1000" b="1">
                <a:solidFill>
                  <a:srgbClr val="FB4D0A"/>
                </a:solidFill>
                <a:latin typeface="Aptos"/>
              </a:rPr>
              <a:t>Reuse KPI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276856"/>
            <a:ext cx="2377320" cy="36009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050">
                <a:solidFill>
                  <a:srgbClr val="3B4652"/>
                </a:solidFill>
                <a:latin typeface="Aptos"/>
              </a:rPr>
              <a:t>Existing KPI calculations and reporting logic can remain in place.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926080"/>
            <a:ext cx="3383280" cy="804672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Oval 14"/>
          <p:cNvSpPr/>
          <p:nvPr/>
        </p:nvSpPr>
        <p:spPr>
          <a:xfrm>
            <a:off x="685800" y="3108960"/>
            <a:ext cx="347472" cy="347472"/>
          </a:xfrm>
          <a:prstGeom prst="ellipse">
            <a:avLst/>
          </a:prstGeom>
          <a:solidFill>
            <a:srgbClr val="00263E"/>
          </a:solidFill>
          <a:ln>
            <a:solidFill>
              <a:srgbClr val="00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788138" y="3227832"/>
            <a:ext cx="142796" cy="190821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090672"/>
            <a:ext cx="1272913" cy="190821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r>
              <a:rPr sz="1000" b="1">
                <a:solidFill>
                  <a:srgbClr val="FB4D0A"/>
                </a:solidFill>
                <a:latin typeface="Aptos"/>
              </a:rPr>
              <a:t>Connect to BigQuery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267973"/>
            <a:ext cx="2644960" cy="52168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050">
                <a:solidFill>
                  <a:srgbClr val="3B4652"/>
                </a:solidFill>
                <a:latin typeface="Aptos"/>
              </a:rPr>
              <a:t>Agent connects to approved reporting datasets rather than rebuilding source systems.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50208"/>
            <a:ext cx="338328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Oval 19"/>
          <p:cNvSpPr/>
          <p:nvPr/>
        </p:nvSpPr>
        <p:spPr>
          <a:xfrm>
            <a:off x="685800" y="4133088"/>
            <a:ext cx="347472" cy="347472"/>
          </a:xfrm>
          <a:prstGeom prst="ellipse">
            <a:avLst/>
          </a:prstGeom>
          <a:solidFill>
            <a:srgbClr val="00263E"/>
          </a:solidFill>
          <a:ln>
            <a:solidFill>
              <a:srgbClr val="00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788138" y="4251960"/>
            <a:ext cx="142796" cy="190821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114800"/>
            <a:ext cx="1309782" cy="190821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r>
              <a:rPr sz="1000" b="1">
                <a:solidFill>
                  <a:srgbClr val="FB4D0A"/>
                </a:solidFill>
                <a:latin typeface="Aptos"/>
              </a:rPr>
              <a:t>Use existing domains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325112"/>
            <a:ext cx="2644960" cy="36009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050">
                <a:solidFill>
                  <a:srgbClr val="3B4652"/>
                </a:solidFill>
                <a:latin typeface="Aptos"/>
              </a:rPr>
              <a:t>Complaint, billing, meter and customer data can be accessed through focused tools.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1874519"/>
            <a:ext cx="3611880" cy="2907792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TextBox 24"/>
          <p:cNvSpPr txBox="1"/>
          <p:nvPr/>
        </p:nvSpPr>
        <p:spPr>
          <a:xfrm>
            <a:off x="4480560" y="2057400"/>
            <a:ext cx="1854803" cy="19851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r>
              <a:rPr sz="1050" b="1">
                <a:solidFill>
                  <a:srgbClr val="FB4D0A"/>
                </a:solidFill>
                <a:latin typeface="Aptos"/>
              </a:rPr>
              <a:t>How it fits into current estate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17720" y="2542032"/>
            <a:ext cx="2880360" cy="457200"/>
          </a:xfrm>
          <a:prstGeom prst="roundRect">
            <a:avLst/>
          </a:prstGeom>
          <a:solidFill>
            <a:srgbClr val="EAF3FB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TextBox 26"/>
          <p:cNvSpPr txBox="1"/>
          <p:nvPr/>
        </p:nvSpPr>
        <p:spPr>
          <a:xfrm>
            <a:off x="5340216" y="2541600"/>
            <a:ext cx="1426224" cy="48320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900" b="1">
                <a:solidFill>
                  <a:srgbClr val="00263E"/>
                </a:solidFill>
                <a:latin typeface="Aptos"/>
              </a:rPr>
              <a:t>Existing</a:t>
            </a:r>
            <a:br>
              <a:rPr sz="2000"/>
            </a:br>
            <a:r>
              <a:rPr sz="2000"/>
              <a:t>Dashboards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17720" y="3291840"/>
            <a:ext cx="2880360" cy="457200"/>
          </a:xfrm>
          <a:prstGeom prst="roundRect">
            <a:avLst/>
          </a:prstGeom>
          <a:solidFill>
            <a:srgbClr val="FFF2EA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TextBox 29"/>
          <p:cNvSpPr txBox="1"/>
          <p:nvPr/>
        </p:nvSpPr>
        <p:spPr>
          <a:xfrm>
            <a:off x="5598473" y="3289251"/>
            <a:ext cx="946285" cy="48320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900" b="1">
                <a:solidFill>
                  <a:srgbClr val="FB4D0A"/>
                </a:solidFill>
                <a:latin typeface="Aptos"/>
              </a:rPr>
              <a:t>InsightForge</a:t>
            </a:r>
            <a:br>
              <a:rPr sz="2000"/>
            </a:br>
            <a:r>
              <a:rPr sz="2000"/>
              <a:t>AI Layer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17720" y="4041648"/>
            <a:ext cx="2880360" cy="457200"/>
          </a:xfrm>
          <a:prstGeom prst="roundRect">
            <a:avLst/>
          </a:prstGeom>
          <a:solidFill>
            <a:srgbClr val="EAF3FB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3" name="TextBox 32"/>
          <p:cNvSpPr txBox="1"/>
          <p:nvPr/>
        </p:nvSpPr>
        <p:spPr>
          <a:xfrm>
            <a:off x="4962742" y="4046416"/>
            <a:ext cx="2181174" cy="483209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900" b="1">
                <a:solidFill>
                  <a:srgbClr val="00263E"/>
                </a:solidFill>
                <a:latin typeface="Aptos"/>
              </a:rPr>
              <a:t>RCA + Evidence</a:t>
            </a:r>
            <a:br>
              <a:rPr sz="2000"/>
            </a:br>
            <a:r>
              <a:rPr lang="en-US" sz="2000"/>
              <a:t>Recommendations</a:t>
            </a:r>
            <a:endParaRPr sz="2000"/>
          </a:p>
        </p:txBody>
      </p:sp>
      <p:sp>
        <p:nvSpPr>
          <p:cNvPr id="34" name="Rounded Rectangle 33"/>
          <p:cNvSpPr/>
          <p:nvPr/>
        </p:nvSpPr>
        <p:spPr>
          <a:xfrm>
            <a:off x="8229600" y="1874519"/>
            <a:ext cx="3429000" cy="2907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5" name="TextBox 34"/>
          <p:cNvSpPr txBox="1"/>
          <p:nvPr/>
        </p:nvSpPr>
        <p:spPr>
          <a:xfrm>
            <a:off x="8458200" y="2057400"/>
            <a:ext cx="1160702" cy="20621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r>
              <a:rPr sz="1100" b="1">
                <a:solidFill>
                  <a:srgbClr val="FB4D0A"/>
                </a:solidFill>
                <a:latin typeface="Aptos"/>
              </a:rPr>
              <a:t>Why it is feasible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6124" y="2725730"/>
            <a:ext cx="3126387" cy="140653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150"/>
              </a:spcAft>
              <a:defRPr sz="610">
                <a:solidFill>
                  <a:srgbClr val="3B4652"/>
                </a:solidFill>
                <a:latin typeface="Aptos"/>
              </a:defRPr>
            </a:pPr>
            <a:r>
              <a:rPr sz="1050">
                <a:solidFill>
                  <a:srgbClr val="3B4652"/>
                </a:solidFill>
                <a:latin typeface="Aptos"/>
              </a:rPr>
              <a:t>• Cloud Run can host the </a:t>
            </a:r>
            <a:r>
              <a:rPr sz="1050" err="1">
                <a:solidFill>
                  <a:srgbClr val="3B4652"/>
                </a:solidFill>
                <a:latin typeface="Aptos"/>
              </a:rPr>
              <a:t>Streamlit</a:t>
            </a:r>
            <a:r>
              <a:rPr sz="1050">
                <a:solidFill>
                  <a:srgbClr val="3B4652"/>
                </a:solidFill>
                <a:latin typeface="Aptos"/>
              </a:rPr>
              <a:t> UI and AI services.</a:t>
            </a:r>
          </a:p>
          <a:p>
            <a:pPr>
              <a:spcAft>
                <a:spcPts val="150"/>
              </a:spcAft>
              <a:defRPr sz="610">
                <a:solidFill>
                  <a:srgbClr val="3B4652"/>
                </a:solidFill>
                <a:latin typeface="Aptos"/>
              </a:defRPr>
            </a:pPr>
            <a:r>
              <a:rPr sz="1050">
                <a:solidFill>
                  <a:srgbClr val="3B4652"/>
                </a:solidFill>
                <a:latin typeface="Aptos"/>
              </a:rPr>
              <a:t>• OpenAI / Claude API integration supports the agent layer.</a:t>
            </a:r>
          </a:p>
          <a:p>
            <a:pPr>
              <a:spcAft>
                <a:spcPts val="150"/>
              </a:spcAft>
              <a:defRPr sz="610">
                <a:solidFill>
                  <a:srgbClr val="3B4652"/>
                </a:solidFill>
                <a:latin typeface="Aptos"/>
              </a:defRPr>
            </a:pPr>
            <a:r>
              <a:rPr sz="1050">
                <a:solidFill>
                  <a:srgbClr val="3B4652"/>
                </a:solidFill>
                <a:latin typeface="Aptos"/>
              </a:rPr>
              <a:t>• Tool calling framework limits the agent to targeted metric retrieval.</a:t>
            </a:r>
          </a:p>
          <a:p>
            <a:pPr>
              <a:spcAft>
                <a:spcPts val="150"/>
              </a:spcAft>
              <a:defRPr sz="610">
                <a:solidFill>
                  <a:srgbClr val="3B4652"/>
                </a:solidFill>
                <a:latin typeface="Aptos"/>
              </a:defRPr>
            </a:pPr>
            <a:r>
              <a:rPr sz="1050">
                <a:solidFill>
                  <a:srgbClr val="3B4652"/>
                </a:solidFill>
                <a:latin typeface="Aptos"/>
              </a:rPr>
              <a:t>• PoC can start with Complaint Rate before expanding to more KPIs.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257800"/>
            <a:ext cx="11155680" cy="594360"/>
          </a:xfrm>
          <a:prstGeom prst="roundRect">
            <a:avLst/>
          </a:prstGeom>
          <a:solidFill>
            <a:srgbClr val="00263E"/>
          </a:solidFill>
          <a:ln w="10160">
            <a:solidFill>
              <a:srgbClr val="00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8" name="TextBox 37"/>
          <p:cNvSpPr txBox="1"/>
          <p:nvPr/>
        </p:nvSpPr>
        <p:spPr>
          <a:xfrm>
            <a:off x="652416" y="5451875"/>
            <a:ext cx="1127040" cy="20621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r>
              <a:rPr sz="1100" b="1">
                <a:solidFill>
                  <a:srgbClr val="FB4D0A"/>
                </a:solidFill>
                <a:latin typeface="Aptos"/>
              </a:rPr>
              <a:t>Judge takeaway: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95903" y="5364459"/>
            <a:ext cx="9576608" cy="37189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US" sz="1050" b="1">
                <a:solidFill>
                  <a:srgbClr val="FFFFFF"/>
                </a:solidFill>
              </a:rPr>
              <a:t>The idea is feasible because it reuses existing reports, data and KPI logic, while adding an integrated AI investigation layer that turns KPI movement into RCA and role-based action items.</a:t>
            </a:r>
          </a:p>
        </p:txBody>
      </p:sp>
      <p:sp>
        <p:nvSpPr>
          <p:cNvPr id="41" name="Shape 12">
            <a:extLst>
              <a:ext uri="{FF2B5EF4-FFF2-40B4-BE49-F238E27FC236}">
                <a16:creationId xmlns:a16="http://schemas.microsoft.com/office/drawing/2014/main" id="{191F7C32-5FD6-CC61-B585-D9037A02EBE9}"/>
              </a:ext>
            </a:extLst>
          </p:cNvPr>
          <p:cNvSpPr/>
          <p:nvPr/>
        </p:nvSpPr>
        <p:spPr>
          <a:xfrm rot="5400000">
            <a:off x="5903637" y="3137176"/>
            <a:ext cx="299381" cy="1"/>
          </a:xfrm>
          <a:prstGeom prst="line">
            <a:avLst/>
          </a:prstGeom>
          <a:noFill/>
          <a:ln w="13970">
            <a:solidFill>
              <a:srgbClr val="FB4D0A"/>
            </a:solidFill>
            <a:prstDash val="solid"/>
            <a:tailEnd type="triangle"/>
          </a:ln>
        </p:spPr>
        <p:txBody>
          <a:bodyPr/>
          <a:lstStyle/>
          <a:p>
            <a:endParaRPr lang="en-IN" sz="3600"/>
          </a:p>
        </p:txBody>
      </p:sp>
      <p:sp>
        <p:nvSpPr>
          <p:cNvPr id="43" name="Shape 12">
            <a:extLst>
              <a:ext uri="{FF2B5EF4-FFF2-40B4-BE49-F238E27FC236}">
                <a16:creationId xmlns:a16="http://schemas.microsoft.com/office/drawing/2014/main" id="{681BC2C8-DDF8-E7B5-5EC0-036B9628567A}"/>
              </a:ext>
            </a:extLst>
          </p:cNvPr>
          <p:cNvSpPr/>
          <p:nvPr/>
        </p:nvSpPr>
        <p:spPr>
          <a:xfrm rot="5400000">
            <a:off x="5903636" y="3896538"/>
            <a:ext cx="299381" cy="1"/>
          </a:xfrm>
          <a:prstGeom prst="line">
            <a:avLst/>
          </a:prstGeom>
          <a:noFill/>
          <a:ln w="13970">
            <a:solidFill>
              <a:srgbClr val="FB4D0A"/>
            </a:solidFill>
            <a:prstDash val="solid"/>
            <a:tailEnd type="triangle"/>
          </a:ln>
        </p:spPr>
        <p:txBody>
          <a:bodyPr/>
          <a:lstStyle/>
          <a:p>
            <a:endParaRPr lang="en-IN" sz="3600"/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EBC3B550-055A-BB18-C66F-8D7ACC3C2725}"/>
              </a:ext>
            </a:extLst>
          </p:cNvPr>
          <p:cNvSpPr/>
          <p:nvPr/>
        </p:nvSpPr>
        <p:spPr>
          <a:xfrm>
            <a:off x="749808" y="118872"/>
            <a:ext cx="6035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sz="2400" b="1">
                <a:solidFill>
                  <a:srgbClr val="005071"/>
                </a:solidFill>
                <a:latin typeface="Aptos Display"/>
              </a:rPr>
              <a:t>Feasibility to Incorporate in Existing Systems</a:t>
            </a:r>
          </a:p>
        </p:txBody>
      </p:sp>
      <p:sp>
        <p:nvSpPr>
          <p:cNvPr id="49" name="Text 2">
            <a:extLst>
              <a:ext uri="{FF2B5EF4-FFF2-40B4-BE49-F238E27FC236}">
                <a16:creationId xmlns:a16="http://schemas.microsoft.com/office/drawing/2014/main" id="{395A86E8-12FF-1EEC-A0DE-24724E646611}"/>
              </a:ext>
            </a:extLst>
          </p:cNvPr>
          <p:cNvSpPr/>
          <p:nvPr/>
        </p:nvSpPr>
        <p:spPr>
          <a:xfrm>
            <a:off x="761746" y="438912"/>
            <a:ext cx="108813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00">
                <a:solidFill>
                  <a:srgbClr val="3B4652"/>
                </a:solidFill>
              </a:rPr>
              <a:t>Designed as an additional intelligence layer on top of current reporting and analytics capabilities.</a:t>
            </a:r>
          </a:p>
        </p:txBody>
      </p:sp>
      <p:sp>
        <p:nvSpPr>
          <p:cNvPr id="55" name="Shape 3">
            <a:extLst>
              <a:ext uri="{FF2B5EF4-FFF2-40B4-BE49-F238E27FC236}">
                <a16:creationId xmlns:a16="http://schemas.microsoft.com/office/drawing/2014/main" id="{0FFD4AB3-0069-CAC2-C21A-52E2655AE937}"/>
              </a:ext>
            </a:extLst>
          </p:cNvPr>
          <p:cNvSpPr/>
          <p:nvPr/>
        </p:nvSpPr>
        <p:spPr>
          <a:xfrm>
            <a:off x="219456" y="737870"/>
            <a:ext cx="11777472" cy="1"/>
          </a:xfrm>
          <a:prstGeom prst="line">
            <a:avLst/>
          </a:prstGeom>
          <a:noFill/>
          <a:ln w="1016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6" name="Text 36">
            <a:extLst>
              <a:ext uri="{FF2B5EF4-FFF2-40B4-BE49-F238E27FC236}">
                <a16:creationId xmlns:a16="http://schemas.microsoft.com/office/drawing/2014/main" id="{26D5D2C9-F806-FCDE-768A-28430EBD6E70}"/>
              </a:ext>
            </a:extLst>
          </p:cNvPr>
          <p:cNvSpPr/>
          <p:nvPr/>
        </p:nvSpPr>
        <p:spPr>
          <a:xfrm>
            <a:off x="11411712" y="6473952"/>
            <a:ext cx="41148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EXL</a:t>
            </a:r>
            <a:endParaRPr lang="en-US" sz="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B4D0A"/>
          </a:solidFill>
          <a:ln w="127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3" name="Text 1"/>
          <p:cNvSpPr/>
          <p:nvPr/>
        </p:nvSpPr>
        <p:spPr>
          <a:xfrm>
            <a:off x="411480" y="219456"/>
            <a:ext cx="5669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00507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InsightForge Is Different</a:t>
            </a:r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438912" y="676656"/>
            <a:ext cx="85039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integrated intelligence layer that turns dashboard trends into evidence-backed actions.</a:t>
            </a:r>
            <a:endParaRPr lang="en-US" sz="100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11292840" cy="1"/>
          </a:xfrm>
          <a:prstGeom prst="line">
            <a:avLst/>
          </a:prstGeom>
          <a:noFill/>
          <a:ln w="1143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11201400" cy="658368"/>
          </a:xfrm>
          <a:prstGeom prst="roundRect">
            <a:avLst>
              <a:gd name="adj" fmla="val 11111"/>
            </a:avLst>
          </a:prstGeom>
          <a:solidFill>
            <a:srgbClr val="FFF2EA"/>
          </a:solidFill>
          <a:ln w="889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000"/>
          </a:p>
        </p:txBody>
      </p:sp>
      <p:sp>
        <p:nvSpPr>
          <p:cNvPr id="7" name="Text 5"/>
          <p:cNvSpPr/>
          <p:nvPr/>
        </p:nvSpPr>
        <p:spPr>
          <a:xfrm>
            <a:off x="749808" y="1408176"/>
            <a:ext cx="9966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0026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InsightForge is not a standalone product. It integrates with existing dashboards and reports.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4000"/>
          </a:p>
        </p:txBody>
      </p:sp>
      <p:sp>
        <p:nvSpPr>
          <p:cNvPr id="9" name="Shape 7"/>
          <p:cNvSpPr/>
          <p:nvPr/>
        </p:nvSpPr>
        <p:spPr>
          <a:xfrm>
            <a:off x="804672" y="2322576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00263E"/>
          </a:solidFill>
          <a:ln w="12700">
            <a:solidFill>
              <a:srgbClr val="00263E"/>
            </a:solidFill>
            <a:prstDash val="solid"/>
          </a:ln>
        </p:spPr>
        <p:txBody>
          <a:bodyPr/>
          <a:lstStyle/>
          <a:p>
            <a:endParaRPr lang="en-IN" sz="4000"/>
          </a:p>
        </p:txBody>
      </p:sp>
      <p:sp>
        <p:nvSpPr>
          <p:cNvPr id="10" name="Text 8"/>
          <p:cNvSpPr/>
          <p:nvPr/>
        </p:nvSpPr>
        <p:spPr>
          <a:xfrm>
            <a:off x="841248" y="2386584"/>
            <a:ext cx="31089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1298448" y="2258567"/>
            <a:ext cx="2148840" cy="43890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00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Dashboard / Report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1298448" y="2784348"/>
            <a:ext cx="21945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100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KPI movement, historical trends and performance change.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3785616" y="2697480"/>
            <a:ext cx="475488" cy="1"/>
          </a:xfrm>
          <a:prstGeom prst="line">
            <a:avLst/>
          </a:prstGeom>
          <a:noFill/>
          <a:ln w="17780">
            <a:solidFill>
              <a:srgbClr val="FB4D0A"/>
            </a:solidFill>
            <a:prstDash val="solid"/>
            <a:tailEnd type="triangle"/>
          </a:ln>
        </p:spPr>
        <p:txBody>
          <a:bodyPr/>
          <a:lstStyle/>
          <a:p>
            <a:endParaRPr lang="en-IN" sz="4000"/>
          </a:p>
        </p:txBody>
      </p:sp>
      <p:sp>
        <p:nvSpPr>
          <p:cNvPr id="14" name="Shape 12"/>
          <p:cNvSpPr/>
          <p:nvPr/>
        </p:nvSpPr>
        <p:spPr>
          <a:xfrm>
            <a:off x="4434840" y="210312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2EA"/>
          </a:solidFill>
          <a:ln w="889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4000"/>
          </a:p>
        </p:txBody>
      </p:sp>
      <p:sp>
        <p:nvSpPr>
          <p:cNvPr id="15" name="Shape 13"/>
          <p:cNvSpPr/>
          <p:nvPr/>
        </p:nvSpPr>
        <p:spPr>
          <a:xfrm>
            <a:off x="4599432" y="2322576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FB4D0A"/>
          </a:solidFill>
          <a:ln w="127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 sz="4000"/>
          </a:p>
        </p:txBody>
      </p:sp>
      <p:sp>
        <p:nvSpPr>
          <p:cNvPr id="16" name="Text 14"/>
          <p:cNvSpPr/>
          <p:nvPr/>
        </p:nvSpPr>
        <p:spPr>
          <a:xfrm>
            <a:off x="4636008" y="2386584"/>
            <a:ext cx="31089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5093208" y="2258568"/>
            <a:ext cx="214884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InsightForge AI Layer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5093208" y="2578608"/>
            <a:ext cx="219456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100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Investigates why the KPI moved using dynamic tools, evidence and confidence scoring.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7580376" y="2697480"/>
            <a:ext cx="475488" cy="1"/>
          </a:xfrm>
          <a:prstGeom prst="line">
            <a:avLst/>
          </a:prstGeom>
          <a:noFill/>
          <a:ln w="17780">
            <a:solidFill>
              <a:srgbClr val="FB4D0A"/>
            </a:solidFill>
            <a:prstDash val="solid"/>
            <a:tailEnd type="triangle"/>
          </a:ln>
        </p:spPr>
        <p:txBody>
          <a:bodyPr/>
          <a:lstStyle/>
          <a:p>
            <a:endParaRPr lang="en-IN" sz="4000"/>
          </a:p>
        </p:txBody>
      </p:sp>
      <p:sp>
        <p:nvSpPr>
          <p:cNvPr id="20" name="Shape 18"/>
          <p:cNvSpPr/>
          <p:nvPr/>
        </p:nvSpPr>
        <p:spPr>
          <a:xfrm>
            <a:off x="8229600" y="210312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EAF3FB"/>
          </a:solidFill>
          <a:ln w="889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4000"/>
          </a:p>
        </p:txBody>
      </p:sp>
      <p:sp>
        <p:nvSpPr>
          <p:cNvPr id="21" name="Shape 19"/>
          <p:cNvSpPr/>
          <p:nvPr/>
        </p:nvSpPr>
        <p:spPr>
          <a:xfrm>
            <a:off x="8394192" y="2322576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00263E"/>
          </a:solidFill>
          <a:ln w="12700">
            <a:solidFill>
              <a:srgbClr val="00263E"/>
            </a:solidFill>
            <a:prstDash val="solid"/>
          </a:ln>
        </p:spPr>
        <p:txBody>
          <a:bodyPr/>
          <a:lstStyle/>
          <a:p>
            <a:endParaRPr lang="en-IN" sz="4000"/>
          </a:p>
        </p:txBody>
      </p:sp>
      <p:sp>
        <p:nvSpPr>
          <p:cNvPr id="22" name="Text 20"/>
          <p:cNvSpPr/>
          <p:nvPr/>
        </p:nvSpPr>
        <p:spPr>
          <a:xfrm>
            <a:off x="8430768" y="2386584"/>
            <a:ext cx="31089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8887968" y="2258568"/>
            <a:ext cx="21488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00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Role-Based Action Items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8887968" y="2578608"/>
            <a:ext cx="219456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100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Recommends next-best actions tailored to business, consumer-service and sales/operations users.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502920" y="3822192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4F7FA"/>
          </a:solidFill>
          <a:ln w="889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4000"/>
          </a:p>
        </p:txBody>
      </p:sp>
      <p:sp>
        <p:nvSpPr>
          <p:cNvPr id="26" name="Text 24"/>
          <p:cNvSpPr/>
          <p:nvPr/>
        </p:nvSpPr>
        <p:spPr>
          <a:xfrm>
            <a:off x="749808" y="4032504"/>
            <a:ext cx="201168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/ Automation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749808" y="4169664"/>
            <a:ext cx="2926080" cy="1207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00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shows KPI movement and trends.
</a:t>
            </a:r>
            <a:r>
              <a:rPr lang="en-US" sz="1200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00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 executes fixed rules for known scenarios.
</a:t>
            </a:r>
            <a:r>
              <a:rPr lang="en-US" sz="1200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00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Root-cause explanation still requires manual investigation.</a:t>
            </a:r>
            <a:endParaRPr lang="en-US" sz="1200"/>
          </a:p>
        </p:txBody>
      </p:sp>
      <p:sp>
        <p:nvSpPr>
          <p:cNvPr id="28" name="Shape 26"/>
          <p:cNvSpPr/>
          <p:nvPr/>
        </p:nvSpPr>
        <p:spPr>
          <a:xfrm>
            <a:off x="4315968" y="3822192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4000"/>
          </a:p>
        </p:txBody>
      </p:sp>
      <p:sp>
        <p:nvSpPr>
          <p:cNvPr id="29" name="Text 27"/>
          <p:cNvSpPr/>
          <p:nvPr/>
        </p:nvSpPr>
        <p:spPr>
          <a:xfrm>
            <a:off x="4562856" y="4032504"/>
            <a:ext cx="210312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InsightForge Intelligence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4562856" y="4169664"/>
            <a:ext cx="2971800" cy="1207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00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Chooses investigation tools dynamically based on KPI context.
</a:t>
            </a:r>
            <a:r>
              <a:rPr lang="en-US" sz="12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00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Compares evidence across multiple drivers before concluding.
</a:t>
            </a:r>
            <a:r>
              <a:rPr lang="en-US" sz="12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00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Provides evidence points, confidence score and recommended actions.</a:t>
            </a:r>
            <a:endParaRPr lang="en-US" sz="1200"/>
          </a:p>
        </p:txBody>
      </p:sp>
      <p:sp>
        <p:nvSpPr>
          <p:cNvPr id="31" name="Shape 29"/>
          <p:cNvSpPr/>
          <p:nvPr/>
        </p:nvSpPr>
        <p:spPr>
          <a:xfrm>
            <a:off x="8138160" y="3822192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4F7FA"/>
          </a:solidFill>
          <a:ln w="889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4000"/>
          </a:p>
        </p:txBody>
      </p:sp>
      <p:sp>
        <p:nvSpPr>
          <p:cNvPr id="32" name="Text 30"/>
          <p:cNvSpPr/>
          <p:nvPr/>
        </p:nvSpPr>
        <p:spPr>
          <a:xfrm>
            <a:off x="8385048" y="4032504"/>
            <a:ext cx="2286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Items by User Type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8385048" y="4169664"/>
            <a:ext cx="2971800" cy="1207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00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users: root-cause summary and priority drivers.
</a:t>
            </a:r>
            <a:r>
              <a:rPr lang="en-US" sz="12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00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Consumer-service users: customer-impact and support actions.
</a:t>
            </a:r>
            <a:r>
              <a:rPr lang="en-US" sz="12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00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Sales/operations users: segment, region and follow-up actions.</a:t>
            </a:r>
            <a:endParaRPr lang="en-US" sz="1200"/>
          </a:p>
        </p:txBody>
      </p:sp>
      <p:sp>
        <p:nvSpPr>
          <p:cNvPr id="34" name="Shape 32"/>
          <p:cNvSpPr/>
          <p:nvPr/>
        </p:nvSpPr>
        <p:spPr>
          <a:xfrm>
            <a:off x="502920" y="5742432"/>
            <a:ext cx="11201400" cy="530352"/>
          </a:xfrm>
          <a:prstGeom prst="roundRect">
            <a:avLst>
              <a:gd name="adj" fmla="val 13793"/>
            </a:avLst>
          </a:prstGeom>
          <a:solidFill>
            <a:srgbClr val="00263E"/>
          </a:solidFill>
          <a:ln w="8890">
            <a:solidFill>
              <a:srgbClr val="00263E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3600"/>
          </a:p>
        </p:txBody>
      </p:sp>
      <p:sp>
        <p:nvSpPr>
          <p:cNvPr id="35" name="Text 33"/>
          <p:cNvSpPr/>
          <p:nvPr/>
        </p:nvSpPr>
        <p:spPr>
          <a:xfrm>
            <a:off x="749808" y="5907024"/>
            <a:ext cx="1508760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1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Judge-friendly message:</a:t>
            </a:r>
            <a:endParaRPr lang="en-US" sz="1100"/>
          </a:p>
        </p:txBody>
      </p:sp>
      <p:sp>
        <p:nvSpPr>
          <p:cNvPr id="36" name="Text 34"/>
          <p:cNvSpPr/>
          <p:nvPr/>
        </p:nvSpPr>
        <p:spPr>
          <a:xfrm>
            <a:off x="2240280" y="5833872"/>
            <a:ext cx="87325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Dashboards show what changed. InsightForge integrates with those dashboards to explain why it changed and generate action items for each business user group.</a:t>
            </a:r>
            <a:endParaRPr lang="en-US" sz="1000"/>
          </a:p>
        </p:txBody>
      </p:sp>
      <p:sp>
        <p:nvSpPr>
          <p:cNvPr id="37" name="Text 35"/>
          <p:cNvSpPr/>
          <p:nvPr/>
        </p:nvSpPr>
        <p:spPr>
          <a:xfrm>
            <a:off x="292608" y="6473952"/>
            <a:ext cx="324612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00">
                <a:solidFill>
                  <a:srgbClr val="6A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InsightForge-AI | AI Operations Intelligence Agent</a:t>
            </a:r>
            <a:endParaRPr lang="en-US" sz="700"/>
          </a:p>
        </p:txBody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88FFFBD7-650F-BEA5-19FA-CE22267BC2AA}"/>
              </a:ext>
            </a:extLst>
          </p:cNvPr>
          <p:cNvSpPr/>
          <p:nvPr/>
        </p:nvSpPr>
        <p:spPr>
          <a:xfrm>
            <a:off x="11411712" y="6473952"/>
            <a:ext cx="41148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EXL</a:t>
            </a:r>
            <a:endParaRPr lang="en-US" sz="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6000"/>
          </a:xfrm>
          <a:prstGeom prst="rect">
            <a:avLst/>
          </a:prstGeom>
          <a:solidFill>
            <a:srgbClr val="FB4D0A"/>
          </a:solidFill>
          <a:ln>
            <a:solidFill>
              <a:srgbClr val="FB4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Rounded Rectangle 6"/>
          <p:cNvSpPr/>
          <p:nvPr/>
        </p:nvSpPr>
        <p:spPr>
          <a:xfrm>
            <a:off x="320040" y="960120"/>
            <a:ext cx="11503152" cy="658368"/>
          </a:xfrm>
          <a:prstGeom prst="roundRect">
            <a:avLst/>
          </a:prstGeom>
          <a:solidFill>
            <a:srgbClr val="FFF2EA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416965" y="1014984"/>
            <a:ext cx="11406227" cy="59093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b="1">
                <a:solidFill>
                  <a:srgbClr val="00263E"/>
                </a:solidFill>
                <a:latin typeface="Aptos Display"/>
              </a:rPr>
              <a:t>Compliance position: metrics are exposed through governed tools, while data remains inside approved reporting layers.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01952"/>
            <a:ext cx="3429000" cy="2148840"/>
          </a:xfrm>
          <a:prstGeom prst="roundRect">
            <a:avLst/>
          </a:prstGeom>
          <a:solidFill>
            <a:srgbClr val="EAF3FB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Oval 9"/>
          <p:cNvSpPr/>
          <p:nvPr/>
        </p:nvSpPr>
        <p:spPr>
          <a:xfrm>
            <a:off x="1124668" y="2333564"/>
            <a:ext cx="365760" cy="365760"/>
          </a:xfrm>
          <a:prstGeom prst="ellipse">
            <a:avLst/>
          </a:prstGeom>
          <a:solidFill>
            <a:srgbClr val="FB4D0A"/>
          </a:solidFill>
          <a:ln>
            <a:solidFill>
              <a:srgbClr val="FB4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1234396" y="2424398"/>
            <a:ext cx="142796" cy="190821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156" y="2351852"/>
            <a:ext cx="1474634" cy="22159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r>
              <a:rPr sz="1200" b="1">
                <a:solidFill>
                  <a:srgbClr val="FB4D0A"/>
                </a:solidFill>
                <a:latin typeface="Aptos"/>
              </a:rPr>
              <a:t>Data access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821" y="2811447"/>
            <a:ext cx="3043198" cy="119622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150"/>
              </a:spcAft>
              <a:defRPr sz="620">
                <a:solidFill>
                  <a:srgbClr val="3B4652"/>
                </a:solidFill>
                <a:latin typeface="Aptos"/>
              </a:defRPr>
            </a:pPr>
            <a:r>
              <a:rPr sz="1200"/>
              <a:t>• Read-only access to approved reporting datasets.</a:t>
            </a:r>
          </a:p>
          <a:p>
            <a:pPr>
              <a:spcAft>
                <a:spcPts val="150"/>
              </a:spcAft>
              <a:defRPr sz="620">
                <a:solidFill>
                  <a:srgbClr val="3B4652"/>
                </a:solidFill>
                <a:latin typeface="Aptos"/>
              </a:defRPr>
            </a:pPr>
            <a:r>
              <a:rPr sz="1200"/>
              <a:t>• RCA uses focused tool outputs, not full raw-data exposure.</a:t>
            </a:r>
          </a:p>
          <a:p>
            <a:pPr>
              <a:spcAft>
                <a:spcPts val="150"/>
              </a:spcAft>
              <a:defRPr sz="620">
                <a:solidFill>
                  <a:srgbClr val="3B4652"/>
                </a:solidFill>
                <a:latin typeface="Aptos"/>
              </a:defRPr>
            </a:pPr>
            <a:r>
              <a:rPr sz="1200"/>
              <a:t>• BigQuery remains the governed reporting layer.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901952"/>
            <a:ext cx="342900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Oval 14"/>
          <p:cNvSpPr/>
          <p:nvPr/>
        </p:nvSpPr>
        <p:spPr>
          <a:xfrm>
            <a:off x="4919428" y="2333564"/>
            <a:ext cx="365760" cy="365760"/>
          </a:xfrm>
          <a:prstGeom prst="ellipse">
            <a:avLst/>
          </a:prstGeom>
          <a:solidFill>
            <a:srgbClr val="00263E"/>
          </a:solidFill>
          <a:ln>
            <a:solidFill>
              <a:srgbClr val="00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5030910" y="2421033"/>
            <a:ext cx="142796" cy="190821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16" y="2351852"/>
            <a:ext cx="1572546" cy="22159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r>
              <a:rPr sz="1200" b="1">
                <a:solidFill>
                  <a:srgbClr val="FB4D0A"/>
                </a:solidFill>
                <a:latin typeface="Aptos"/>
              </a:rPr>
              <a:t>Identity &amp; credentials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6211" y="2911996"/>
            <a:ext cx="3350469" cy="642227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150"/>
              </a:spcAft>
              <a:defRPr sz="620">
                <a:solidFill>
                  <a:srgbClr val="3B4652"/>
                </a:solidFill>
                <a:latin typeface="Aptos"/>
              </a:defRPr>
            </a:pPr>
            <a:r>
              <a:rPr sz="1200"/>
              <a:t>• IAM supports role-based access control.</a:t>
            </a:r>
          </a:p>
          <a:p>
            <a:pPr>
              <a:spcAft>
                <a:spcPts val="150"/>
              </a:spcAft>
              <a:defRPr sz="620">
                <a:solidFill>
                  <a:srgbClr val="3B4652"/>
                </a:solidFill>
                <a:latin typeface="Aptos"/>
              </a:defRPr>
            </a:pPr>
            <a:r>
              <a:rPr sz="1200"/>
              <a:t>• Secret Manager stores API keys and credentials.</a:t>
            </a:r>
          </a:p>
          <a:p>
            <a:pPr>
              <a:spcAft>
                <a:spcPts val="150"/>
              </a:spcAft>
              <a:defRPr sz="620">
                <a:solidFill>
                  <a:srgbClr val="3B4652"/>
                </a:solidFill>
                <a:latin typeface="Aptos"/>
              </a:defRPr>
            </a:pPr>
            <a:r>
              <a:rPr sz="1200"/>
              <a:t>• SSO / IAM can control portal access.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1892808"/>
            <a:ext cx="3429000" cy="214884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Oval 19"/>
          <p:cNvSpPr/>
          <p:nvPr/>
        </p:nvSpPr>
        <p:spPr>
          <a:xfrm>
            <a:off x="8714188" y="2333564"/>
            <a:ext cx="365760" cy="365760"/>
          </a:xfrm>
          <a:prstGeom prst="ellipse">
            <a:avLst/>
          </a:prstGeom>
          <a:solidFill>
            <a:srgbClr val="00263E"/>
          </a:solidFill>
          <a:ln>
            <a:solidFill>
              <a:srgbClr val="00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8825670" y="2410045"/>
            <a:ext cx="142796" cy="190821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676" y="2351852"/>
            <a:ext cx="1410771" cy="22159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r>
              <a:rPr sz="1200" b="1">
                <a:solidFill>
                  <a:srgbClr val="FB4D0A"/>
                </a:solidFill>
                <a:latin typeface="Aptos"/>
              </a:rPr>
              <a:t>Output governance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3487" y="2864706"/>
            <a:ext cx="3429000" cy="101155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150"/>
              </a:spcAft>
              <a:defRPr sz="620">
                <a:solidFill>
                  <a:srgbClr val="3B4652"/>
                </a:solidFill>
                <a:latin typeface="Aptos"/>
              </a:defRPr>
            </a:pPr>
            <a:r>
              <a:rPr sz="1200"/>
              <a:t>• Agent outputs evidence, drivers and recommendations.</a:t>
            </a:r>
          </a:p>
          <a:p>
            <a:pPr>
              <a:spcAft>
                <a:spcPts val="150"/>
              </a:spcAft>
              <a:defRPr sz="620">
                <a:solidFill>
                  <a:srgbClr val="3B4652"/>
                </a:solidFill>
                <a:latin typeface="Aptos"/>
              </a:defRPr>
            </a:pPr>
            <a:r>
              <a:rPr sz="1200"/>
              <a:t>• Business users see summarized RCA metrics and role-based action items.</a:t>
            </a:r>
          </a:p>
          <a:p>
            <a:pPr>
              <a:spcAft>
                <a:spcPts val="150"/>
              </a:spcAft>
              <a:defRPr sz="620">
                <a:solidFill>
                  <a:srgbClr val="3B4652"/>
                </a:solidFill>
                <a:latin typeface="Aptos"/>
              </a:defRPr>
            </a:pPr>
            <a:r>
              <a:rPr sz="1200"/>
              <a:t>• Existing governance controls remain in place.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434840"/>
            <a:ext cx="5440680" cy="13350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TextBox 24"/>
          <p:cNvSpPr txBox="1"/>
          <p:nvPr/>
        </p:nvSpPr>
        <p:spPr>
          <a:xfrm>
            <a:off x="731520" y="4645152"/>
            <a:ext cx="3452997" cy="20621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r>
              <a:rPr sz="1100" b="1">
                <a:solidFill>
                  <a:srgbClr val="FB4D0A"/>
                </a:solidFill>
                <a:latin typeface="Aptos"/>
              </a:rPr>
              <a:t>Why this should not create a major compliance issue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937760"/>
            <a:ext cx="5093547" cy="54476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100" b="0">
                <a:solidFill>
                  <a:srgbClr val="3B4652"/>
                </a:solidFill>
                <a:latin typeface="Aptos"/>
              </a:rPr>
              <a:t>The AI agent is not designed to expose complete operational datasets. It calls predefined tools and returns limited metrics, evidence and RCA summaries needed to explain KPI movement.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434840"/>
            <a:ext cx="5394960" cy="1335024"/>
          </a:xfrm>
          <a:prstGeom prst="roundRect">
            <a:avLst/>
          </a:prstGeom>
          <a:solidFill>
            <a:srgbClr val="00263E"/>
          </a:solidFill>
          <a:ln w="10160">
            <a:solidFill>
              <a:srgbClr val="00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8" name="TextBox 27"/>
          <p:cNvSpPr txBox="1"/>
          <p:nvPr/>
        </p:nvSpPr>
        <p:spPr>
          <a:xfrm>
            <a:off x="6416470" y="4614021"/>
            <a:ext cx="1457258" cy="20621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r>
              <a:rPr sz="1100" b="1">
                <a:solidFill>
                  <a:srgbClr val="FB4D0A"/>
                </a:solidFill>
                <a:latin typeface="Aptos"/>
              </a:rPr>
              <a:t>Governance message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3474" y="4910901"/>
            <a:ext cx="5199632" cy="54476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InsightForge works inside the client governance model: governed datasets, role-based access, secure credentials and investigation outputs rather than uncontrolled data exposure.</a:t>
            </a:r>
          </a:p>
        </p:txBody>
      </p:sp>
      <p:sp>
        <p:nvSpPr>
          <p:cNvPr id="31" name="Text 0">
            <a:extLst>
              <a:ext uri="{FF2B5EF4-FFF2-40B4-BE49-F238E27FC236}">
                <a16:creationId xmlns:a16="http://schemas.microsoft.com/office/drawing/2014/main" id="{B790CFC0-5F35-F9A9-9650-0DD9EF370411}"/>
              </a:ext>
            </a:extLst>
          </p:cNvPr>
          <p:cNvSpPr/>
          <p:nvPr/>
        </p:nvSpPr>
        <p:spPr>
          <a:xfrm>
            <a:off x="182880" y="128016"/>
            <a:ext cx="58521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endParaRPr lang="en-US" sz="2400" b="1">
              <a:solidFill>
                <a:srgbClr val="FB4D0A"/>
              </a:solidFill>
            </a:endParaRPr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503B235A-150B-F817-AB24-9D610849E435}"/>
              </a:ext>
            </a:extLst>
          </p:cNvPr>
          <p:cNvSpPr/>
          <p:nvPr/>
        </p:nvSpPr>
        <p:spPr>
          <a:xfrm>
            <a:off x="749808" y="118872"/>
            <a:ext cx="6035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IN" sz="2400" b="1">
                <a:solidFill>
                  <a:srgbClr val="005071"/>
                </a:solidFill>
                <a:latin typeface="Aptos Display"/>
              </a:rPr>
              <a:t>Compliance, Security &amp; Governance</a:t>
            </a:r>
          </a:p>
        </p:txBody>
      </p:sp>
      <p:sp>
        <p:nvSpPr>
          <p:cNvPr id="35" name="Text 2">
            <a:extLst>
              <a:ext uri="{FF2B5EF4-FFF2-40B4-BE49-F238E27FC236}">
                <a16:creationId xmlns:a16="http://schemas.microsoft.com/office/drawing/2014/main" id="{02C64E96-7579-D63E-D257-4FF211FD179E}"/>
              </a:ext>
            </a:extLst>
          </p:cNvPr>
          <p:cNvSpPr/>
          <p:nvPr/>
        </p:nvSpPr>
        <p:spPr>
          <a:xfrm>
            <a:off x="761746" y="438912"/>
            <a:ext cx="108813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00">
                <a:solidFill>
                  <a:srgbClr val="3B4652"/>
                </a:solidFill>
              </a:rPr>
              <a:t>Controlled access model: the agent retrieves only the metrics required for investigation, not unrestricted raw data.</a:t>
            </a:r>
          </a:p>
        </p:txBody>
      </p:sp>
      <p:sp>
        <p:nvSpPr>
          <p:cNvPr id="37" name="Shape 3">
            <a:extLst>
              <a:ext uri="{FF2B5EF4-FFF2-40B4-BE49-F238E27FC236}">
                <a16:creationId xmlns:a16="http://schemas.microsoft.com/office/drawing/2014/main" id="{20DE242F-FED4-9FFB-8099-802171BBE82E}"/>
              </a:ext>
            </a:extLst>
          </p:cNvPr>
          <p:cNvSpPr/>
          <p:nvPr/>
        </p:nvSpPr>
        <p:spPr>
          <a:xfrm>
            <a:off x="219456" y="737870"/>
            <a:ext cx="11777472" cy="1"/>
          </a:xfrm>
          <a:prstGeom prst="line">
            <a:avLst/>
          </a:prstGeom>
          <a:noFill/>
          <a:ln w="1016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4" name="Text 35">
            <a:extLst>
              <a:ext uri="{FF2B5EF4-FFF2-40B4-BE49-F238E27FC236}">
                <a16:creationId xmlns:a16="http://schemas.microsoft.com/office/drawing/2014/main" id="{8D29BCD6-361C-D75A-2D46-1EF8DFDD290B}"/>
              </a:ext>
            </a:extLst>
          </p:cNvPr>
          <p:cNvSpPr/>
          <p:nvPr/>
        </p:nvSpPr>
        <p:spPr>
          <a:xfrm>
            <a:off x="292608" y="6473952"/>
            <a:ext cx="324612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00">
                <a:solidFill>
                  <a:srgbClr val="6A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InsightForge-AI | AI Operations Intelligence Agent</a:t>
            </a:r>
            <a:endParaRPr lang="en-US" sz="700"/>
          </a:p>
        </p:txBody>
      </p:sp>
      <p:sp>
        <p:nvSpPr>
          <p:cNvPr id="6" name="Text 36">
            <a:extLst>
              <a:ext uri="{FF2B5EF4-FFF2-40B4-BE49-F238E27FC236}">
                <a16:creationId xmlns:a16="http://schemas.microsoft.com/office/drawing/2014/main" id="{7A1308CB-5F09-1701-A255-454ED45F58B4}"/>
              </a:ext>
            </a:extLst>
          </p:cNvPr>
          <p:cNvSpPr/>
          <p:nvPr/>
        </p:nvSpPr>
        <p:spPr>
          <a:xfrm>
            <a:off x="11411712" y="6473952"/>
            <a:ext cx="41148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EXL</a:t>
            </a:r>
            <a:endParaRPr lang="en-US" sz="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6000"/>
          </a:xfrm>
          <a:prstGeom prst="rect">
            <a:avLst/>
          </a:prstGeom>
          <a:solidFill>
            <a:srgbClr val="FB4D0A"/>
          </a:solidFill>
          <a:ln>
            <a:solidFill>
              <a:srgbClr val="FB4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Rounded Rectangle 6"/>
          <p:cNvSpPr/>
          <p:nvPr/>
        </p:nvSpPr>
        <p:spPr>
          <a:xfrm>
            <a:off x="320040" y="960120"/>
            <a:ext cx="11503152" cy="594360"/>
          </a:xfrm>
          <a:prstGeom prst="roundRect">
            <a:avLst/>
          </a:prstGeom>
          <a:solidFill>
            <a:srgbClr val="FFF2EA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645991" cy="283154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r>
              <a:rPr sz="1600" b="1">
                <a:solidFill>
                  <a:srgbClr val="00263E"/>
                </a:solidFill>
                <a:latin typeface="Aptos Display"/>
              </a:rPr>
              <a:t>Deployment flow: Streamlit portal on Cloud Run, AI agent services, governed BigQuery data and operational data platform.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1417320" cy="749808"/>
          </a:xfrm>
          <a:prstGeom prst="roundRect">
            <a:avLst/>
          </a:prstGeom>
          <a:solidFill>
            <a:srgbClr val="EAF3FB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678420" y="1946263"/>
            <a:ext cx="974113" cy="62170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00263E"/>
                </a:solidFill>
                <a:latin typeface="Aptos"/>
              </a:rPr>
              <a:t>Business</a:t>
            </a:r>
            <a:br>
              <a:rPr sz="2800"/>
            </a:br>
            <a:r>
              <a:rPr sz="2800"/>
              <a:t>Users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1874519"/>
            <a:ext cx="14173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>
            <a:off x="2148553" y="1977039"/>
            <a:ext cx="1594168" cy="560153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00263E"/>
                </a:solidFill>
                <a:latin typeface="Aptos"/>
              </a:rPr>
              <a:t>Streamlit Portal</a:t>
            </a:r>
            <a:br>
              <a:rPr sz="2400"/>
            </a:br>
            <a:r>
              <a:rPr sz="2400"/>
              <a:t>Cloud Run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9080" y="1874519"/>
            <a:ext cx="1417320" cy="749808"/>
          </a:xfrm>
          <a:prstGeom prst="roundRect">
            <a:avLst/>
          </a:prstGeom>
          <a:solidFill>
            <a:srgbClr val="FFF2EA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4062760" y="1946262"/>
            <a:ext cx="1417320" cy="62170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B4D0A"/>
                </a:solidFill>
                <a:latin typeface="Aptos"/>
              </a:rPr>
              <a:t>AI Investigation</a:t>
            </a:r>
            <a:br>
              <a:rPr sz="2800"/>
            </a:br>
            <a:r>
              <a:rPr sz="2800"/>
              <a:t>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80" y="1874519"/>
            <a:ext cx="14173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6149197" y="1938568"/>
            <a:ext cx="881908" cy="62170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00263E"/>
                </a:solidFill>
                <a:latin typeface="Aptos"/>
              </a:rPr>
              <a:t>Investigation</a:t>
            </a:r>
            <a:br>
              <a:rPr sz="2800"/>
            </a:br>
            <a:r>
              <a:rPr sz="2800"/>
              <a:t>Tools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79" y="1874519"/>
            <a:ext cx="1417320" cy="749808"/>
          </a:xfrm>
          <a:prstGeom prst="roundRect">
            <a:avLst/>
          </a:prstGeom>
          <a:solidFill>
            <a:srgbClr val="EAF3FB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/>
          <p:cNvSpPr txBox="1"/>
          <p:nvPr/>
        </p:nvSpPr>
        <p:spPr>
          <a:xfrm>
            <a:off x="7825229" y="1965960"/>
            <a:ext cx="1090170" cy="606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900" b="1">
                <a:solidFill>
                  <a:srgbClr val="00263E"/>
                </a:solidFill>
                <a:latin typeface="Aptos"/>
              </a:rPr>
              <a:t>BigQuery Reporting</a:t>
            </a:r>
            <a:br>
              <a:rPr sz="2800"/>
            </a:br>
            <a:r>
              <a:rPr sz="2800"/>
              <a:t>Layer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46920" y="1874519"/>
            <a:ext cx="1417320" cy="749808"/>
          </a:xfrm>
          <a:prstGeom prst="roundRect">
            <a:avLst/>
          </a:prstGeom>
          <a:solidFill>
            <a:srgbClr val="EAF3FB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TextBox 24"/>
          <p:cNvSpPr txBox="1"/>
          <p:nvPr/>
        </p:nvSpPr>
        <p:spPr>
          <a:xfrm>
            <a:off x="9646920" y="1911626"/>
            <a:ext cx="1404680" cy="606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900" b="1">
                <a:solidFill>
                  <a:srgbClr val="00263E"/>
                </a:solidFill>
                <a:latin typeface="Aptos"/>
              </a:rPr>
              <a:t>Operational Data</a:t>
            </a:r>
            <a:br>
              <a:rPr sz="2800"/>
            </a:br>
            <a:r>
              <a:rPr sz="2800"/>
              <a:t>Platform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246120"/>
            <a:ext cx="3429000" cy="201168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TextBox 26"/>
          <p:cNvSpPr txBox="1"/>
          <p:nvPr/>
        </p:nvSpPr>
        <p:spPr>
          <a:xfrm>
            <a:off x="731520" y="3456432"/>
            <a:ext cx="859338" cy="19851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r>
              <a:rPr sz="1050" b="1">
                <a:solidFill>
                  <a:srgbClr val="FB4D0A"/>
                </a:solidFill>
                <a:latin typeface="Aptos"/>
              </a:rPr>
              <a:t>Environment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730752"/>
            <a:ext cx="2590581" cy="985911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150"/>
              </a:spcAft>
              <a:defRPr sz="600">
                <a:solidFill>
                  <a:srgbClr val="3B4652"/>
                </a:solidFill>
                <a:latin typeface="Aptos"/>
              </a:defRPr>
            </a:pPr>
            <a:r>
              <a:rPr sz="1100"/>
              <a:t>• GCP cloud-native deployment.</a:t>
            </a:r>
          </a:p>
          <a:p>
            <a:pPr>
              <a:spcAft>
                <a:spcPts val="150"/>
              </a:spcAft>
              <a:defRPr sz="600">
                <a:solidFill>
                  <a:srgbClr val="3B4652"/>
                </a:solidFill>
                <a:latin typeface="Aptos"/>
              </a:defRPr>
            </a:pPr>
            <a:r>
              <a:rPr sz="1100"/>
              <a:t>• Cloud Run for Streamlit and AI Agent.</a:t>
            </a:r>
          </a:p>
          <a:p>
            <a:pPr>
              <a:spcAft>
                <a:spcPts val="150"/>
              </a:spcAft>
              <a:defRPr sz="600">
                <a:solidFill>
                  <a:srgbClr val="3B4652"/>
                </a:solidFill>
                <a:latin typeface="Aptos"/>
              </a:defRPr>
            </a:pPr>
            <a:r>
              <a:rPr sz="1100"/>
              <a:t>• BigQuery reporting layer.</a:t>
            </a:r>
          </a:p>
          <a:p>
            <a:pPr>
              <a:spcAft>
                <a:spcPts val="150"/>
              </a:spcAft>
              <a:defRPr sz="600">
                <a:solidFill>
                  <a:srgbClr val="3B4652"/>
                </a:solidFill>
                <a:latin typeface="Aptos"/>
              </a:defRPr>
            </a:pPr>
            <a:r>
              <a:rPr sz="1100"/>
              <a:t>• Dev, UAT and Production environments.</a:t>
            </a:r>
          </a:p>
          <a:p>
            <a:pPr>
              <a:spcAft>
                <a:spcPts val="150"/>
              </a:spcAft>
              <a:defRPr sz="600">
                <a:solidFill>
                  <a:srgbClr val="3B4652"/>
                </a:solidFill>
                <a:latin typeface="Aptos"/>
              </a:defRPr>
            </a:pPr>
            <a:r>
              <a:rPr sz="1100"/>
              <a:t>• Auto-scaling serverless architecture.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0832" y="3246120"/>
            <a:ext cx="342900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TextBox 29"/>
          <p:cNvSpPr txBox="1"/>
          <p:nvPr/>
        </p:nvSpPr>
        <p:spPr>
          <a:xfrm>
            <a:off x="4599432" y="3456432"/>
            <a:ext cx="1130246" cy="19851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r>
              <a:rPr sz="1050" b="1">
                <a:solidFill>
                  <a:srgbClr val="FB4D0A"/>
                </a:solidFill>
                <a:latin typeface="Aptos"/>
              </a:rPr>
              <a:t>Rollout approach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2" y="3730752"/>
            <a:ext cx="3035807" cy="11295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150"/>
              </a:spcAft>
              <a:defRPr sz="600">
                <a:solidFill>
                  <a:srgbClr val="3B4652"/>
                </a:solidFill>
                <a:latin typeface="Aptos"/>
              </a:defRPr>
            </a:pPr>
            <a:r>
              <a:rPr sz="1100"/>
              <a:t>• Phase 1: Complaint Rate PoC.</a:t>
            </a:r>
          </a:p>
          <a:p>
            <a:pPr>
              <a:spcAft>
                <a:spcPts val="150"/>
              </a:spcAft>
              <a:defRPr sz="600">
                <a:solidFill>
                  <a:srgbClr val="3B4652"/>
                </a:solidFill>
                <a:latin typeface="Aptos"/>
              </a:defRPr>
            </a:pPr>
            <a:r>
              <a:rPr sz="1100"/>
              <a:t>• Phase 2: Business pilot with Operations, Billing and Customer Service.</a:t>
            </a:r>
          </a:p>
          <a:p>
            <a:pPr>
              <a:spcAft>
                <a:spcPts val="150"/>
              </a:spcAft>
              <a:defRPr sz="600">
                <a:solidFill>
                  <a:srgbClr val="3B4652"/>
                </a:solidFill>
                <a:latin typeface="Aptos"/>
              </a:defRPr>
            </a:pPr>
            <a:r>
              <a:rPr sz="1100"/>
              <a:t>• Phase 3: Enterprise rollout with SSO and governance.</a:t>
            </a:r>
          </a:p>
          <a:p>
            <a:pPr>
              <a:spcAft>
                <a:spcPts val="150"/>
              </a:spcAft>
              <a:defRPr sz="600">
                <a:solidFill>
                  <a:srgbClr val="3B4652"/>
                </a:solidFill>
                <a:latin typeface="Aptos"/>
              </a:defRPr>
            </a:pPr>
            <a:r>
              <a:rPr sz="1100"/>
              <a:t>• Phase 4: Multi-KPI expansion.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3246120"/>
            <a:ext cx="3429000" cy="201168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3" name="TextBox 32"/>
          <p:cNvSpPr txBox="1"/>
          <p:nvPr/>
        </p:nvSpPr>
        <p:spPr>
          <a:xfrm>
            <a:off x="8458200" y="3456432"/>
            <a:ext cx="1367490" cy="19851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r>
              <a:rPr sz="1050" b="1">
                <a:solidFill>
                  <a:srgbClr val="FB4D0A"/>
                </a:solidFill>
                <a:latin typeface="Aptos"/>
              </a:rPr>
              <a:t>Ownership &amp; support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1" y="3730752"/>
            <a:ext cx="3118104" cy="960263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150"/>
              </a:spcAft>
              <a:defRPr sz="600">
                <a:solidFill>
                  <a:srgbClr val="3B4652"/>
                </a:solidFill>
                <a:latin typeface="Aptos"/>
              </a:defRPr>
            </a:pPr>
            <a:r>
              <a:rPr sz="1100"/>
              <a:t>• Analytics team owns KPI logic and validation.</a:t>
            </a:r>
          </a:p>
          <a:p>
            <a:pPr>
              <a:spcAft>
                <a:spcPts val="150"/>
              </a:spcAft>
              <a:defRPr sz="600">
                <a:solidFill>
                  <a:srgbClr val="3B4652"/>
                </a:solidFill>
                <a:latin typeface="Aptos"/>
              </a:defRPr>
            </a:pPr>
            <a:r>
              <a:rPr sz="1100"/>
              <a:t>• Data Engineering supports </a:t>
            </a:r>
            <a:r>
              <a:rPr sz="1100" err="1"/>
              <a:t>BigQuery</a:t>
            </a:r>
            <a:r>
              <a:rPr sz="1100"/>
              <a:t> and tool optimization.</a:t>
            </a:r>
          </a:p>
          <a:p>
            <a:pPr>
              <a:spcAft>
                <a:spcPts val="150"/>
              </a:spcAft>
              <a:defRPr sz="600">
                <a:solidFill>
                  <a:srgbClr val="3B4652"/>
                </a:solidFill>
                <a:latin typeface="Aptos"/>
              </a:defRPr>
            </a:pPr>
            <a:r>
              <a:rPr sz="1100"/>
              <a:t>• Cloud team supports infrastructure and IAM.</a:t>
            </a:r>
          </a:p>
          <a:p>
            <a:pPr>
              <a:spcAft>
                <a:spcPts val="150"/>
              </a:spcAft>
              <a:defRPr sz="600">
                <a:solidFill>
                  <a:srgbClr val="3B4652"/>
                </a:solidFill>
                <a:latin typeface="Aptos"/>
              </a:defRPr>
            </a:pPr>
            <a:r>
              <a:rPr sz="1100"/>
              <a:t>• Business owners validate RCA usefulness.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669280"/>
            <a:ext cx="11155680" cy="548640"/>
          </a:xfrm>
          <a:prstGeom prst="roundRect">
            <a:avLst/>
          </a:prstGeom>
          <a:solidFill>
            <a:srgbClr val="00263E"/>
          </a:solidFill>
          <a:ln w="10160">
            <a:solidFill>
              <a:srgbClr val="00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6" name="TextBox 35"/>
          <p:cNvSpPr txBox="1"/>
          <p:nvPr/>
        </p:nvSpPr>
        <p:spPr>
          <a:xfrm>
            <a:off x="678420" y="5779008"/>
            <a:ext cx="1547027" cy="20621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r>
              <a:rPr sz="1100" b="1">
                <a:solidFill>
                  <a:srgbClr val="FB4D0A"/>
                </a:solidFill>
                <a:latin typeface="Aptos"/>
              </a:rPr>
              <a:t>Deployment takeaway: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21409" y="5779008"/>
            <a:ext cx="9253728" cy="37548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</a:rPr>
              <a:t>Start with a focused complaints PoC integrated into the existing report/dashboard, prove value with business users, then scale across additional operational KPIs.</a:t>
            </a:r>
          </a:p>
        </p:txBody>
      </p:sp>
      <p:sp>
        <p:nvSpPr>
          <p:cNvPr id="41" name="Text 1">
            <a:extLst>
              <a:ext uri="{FF2B5EF4-FFF2-40B4-BE49-F238E27FC236}">
                <a16:creationId xmlns:a16="http://schemas.microsoft.com/office/drawing/2014/main" id="{0BE89467-5F27-4D94-1F89-15A279284985}"/>
              </a:ext>
            </a:extLst>
          </p:cNvPr>
          <p:cNvSpPr/>
          <p:nvPr/>
        </p:nvSpPr>
        <p:spPr>
          <a:xfrm>
            <a:off x="749808" y="118872"/>
            <a:ext cx="6035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IN" sz="2400" b="1">
                <a:solidFill>
                  <a:srgbClr val="005071"/>
                </a:solidFill>
                <a:latin typeface="Aptos Display"/>
              </a:rPr>
              <a:t>Deployment Pattern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42DFC1F6-AB88-D909-EBF8-F1BB33961722}"/>
              </a:ext>
            </a:extLst>
          </p:cNvPr>
          <p:cNvSpPr/>
          <p:nvPr/>
        </p:nvSpPr>
        <p:spPr>
          <a:xfrm>
            <a:off x="761746" y="438912"/>
            <a:ext cx="108813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00">
                <a:solidFill>
                  <a:srgbClr val="3B4652"/>
                </a:solidFill>
              </a:rPr>
              <a:t>Cloud-native deployment pattern for PoC, pilot and enterprise rollout.</a:t>
            </a:r>
          </a:p>
        </p:txBody>
      </p:sp>
      <p:sp>
        <p:nvSpPr>
          <p:cNvPr id="45" name="Shape 3">
            <a:extLst>
              <a:ext uri="{FF2B5EF4-FFF2-40B4-BE49-F238E27FC236}">
                <a16:creationId xmlns:a16="http://schemas.microsoft.com/office/drawing/2014/main" id="{6CDE0141-71D8-A6D8-A9D8-61AF0E69258F}"/>
              </a:ext>
            </a:extLst>
          </p:cNvPr>
          <p:cNvSpPr/>
          <p:nvPr/>
        </p:nvSpPr>
        <p:spPr>
          <a:xfrm>
            <a:off x="219456" y="737870"/>
            <a:ext cx="11777472" cy="1"/>
          </a:xfrm>
          <a:prstGeom prst="line">
            <a:avLst/>
          </a:prstGeom>
          <a:noFill/>
          <a:ln w="1016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49" name="Shape 12">
            <a:extLst>
              <a:ext uri="{FF2B5EF4-FFF2-40B4-BE49-F238E27FC236}">
                <a16:creationId xmlns:a16="http://schemas.microsoft.com/office/drawing/2014/main" id="{BB0FCCD3-6AE8-05D0-4728-85046A8AC8BA}"/>
              </a:ext>
            </a:extLst>
          </p:cNvPr>
          <p:cNvSpPr/>
          <p:nvPr/>
        </p:nvSpPr>
        <p:spPr>
          <a:xfrm>
            <a:off x="1913632" y="2245987"/>
            <a:ext cx="320040" cy="1"/>
          </a:xfrm>
          <a:prstGeom prst="line">
            <a:avLst/>
          </a:prstGeom>
          <a:noFill/>
          <a:ln w="13970">
            <a:solidFill>
              <a:srgbClr val="FB4D0A"/>
            </a:solidFill>
            <a:prstDash val="solid"/>
            <a:tailEnd type="triangle"/>
          </a:ln>
        </p:spPr>
        <p:txBody>
          <a:bodyPr/>
          <a:lstStyle/>
          <a:p>
            <a:endParaRPr lang="en-IN" sz="360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413A104E-D07B-3508-E215-3E59FDC2DB0C}"/>
              </a:ext>
            </a:extLst>
          </p:cNvPr>
          <p:cNvSpPr/>
          <p:nvPr/>
        </p:nvSpPr>
        <p:spPr>
          <a:xfrm>
            <a:off x="3651280" y="2245987"/>
            <a:ext cx="320040" cy="1"/>
          </a:xfrm>
          <a:prstGeom prst="line">
            <a:avLst/>
          </a:prstGeom>
          <a:noFill/>
          <a:ln w="13970">
            <a:solidFill>
              <a:srgbClr val="FB4D0A"/>
            </a:solidFill>
            <a:prstDash val="solid"/>
            <a:tailEnd type="triangle"/>
          </a:ln>
        </p:spPr>
        <p:txBody>
          <a:bodyPr/>
          <a:lstStyle/>
          <a:p>
            <a:endParaRPr lang="en-IN" sz="3600"/>
          </a:p>
        </p:txBody>
      </p:sp>
      <p:sp>
        <p:nvSpPr>
          <p:cNvPr id="55" name="Shape 12">
            <a:extLst>
              <a:ext uri="{FF2B5EF4-FFF2-40B4-BE49-F238E27FC236}">
                <a16:creationId xmlns:a16="http://schemas.microsoft.com/office/drawing/2014/main" id="{62533277-E7C0-7E24-DC0A-164C498DA660}"/>
              </a:ext>
            </a:extLst>
          </p:cNvPr>
          <p:cNvSpPr/>
          <p:nvPr/>
        </p:nvSpPr>
        <p:spPr>
          <a:xfrm>
            <a:off x="5486256" y="2245987"/>
            <a:ext cx="320040" cy="1"/>
          </a:xfrm>
          <a:prstGeom prst="line">
            <a:avLst/>
          </a:prstGeom>
          <a:noFill/>
          <a:ln w="13970">
            <a:solidFill>
              <a:srgbClr val="FB4D0A"/>
            </a:solidFill>
            <a:prstDash val="solid"/>
            <a:tailEnd type="triangle"/>
          </a:ln>
        </p:spPr>
        <p:txBody>
          <a:bodyPr/>
          <a:lstStyle/>
          <a:p>
            <a:endParaRPr lang="en-IN" sz="3600"/>
          </a:p>
        </p:txBody>
      </p:sp>
      <p:sp>
        <p:nvSpPr>
          <p:cNvPr id="57" name="Shape 12">
            <a:extLst>
              <a:ext uri="{FF2B5EF4-FFF2-40B4-BE49-F238E27FC236}">
                <a16:creationId xmlns:a16="http://schemas.microsoft.com/office/drawing/2014/main" id="{027F3ECC-BC4D-2F19-01D5-D054DDB14E91}"/>
              </a:ext>
            </a:extLst>
          </p:cNvPr>
          <p:cNvSpPr/>
          <p:nvPr/>
        </p:nvSpPr>
        <p:spPr>
          <a:xfrm>
            <a:off x="7315199" y="2245987"/>
            <a:ext cx="320040" cy="1"/>
          </a:xfrm>
          <a:prstGeom prst="line">
            <a:avLst/>
          </a:prstGeom>
          <a:noFill/>
          <a:ln w="13970">
            <a:solidFill>
              <a:srgbClr val="FB4D0A"/>
            </a:solidFill>
            <a:prstDash val="solid"/>
            <a:tailEnd type="triangle"/>
          </a:ln>
        </p:spPr>
        <p:txBody>
          <a:bodyPr/>
          <a:lstStyle/>
          <a:p>
            <a:endParaRPr lang="en-IN" sz="3600"/>
          </a:p>
        </p:txBody>
      </p:sp>
      <p:sp>
        <p:nvSpPr>
          <p:cNvPr id="59" name="Shape 12">
            <a:extLst>
              <a:ext uri="{FF2B5EF4-FFF2-40B4-BE49-F238E27FC236}">
                <a16:creationId xmlns:a16="http://schemas.microsoft.com/office/drawing/2014/main" id="{C288D8CE-44AB-865D-53AB-DD058E195FFE}"/>
              </a:ext>
            </a:extLst>
          </p:cNvPr>
          <p:cNvSpPr/>
          <p:nvPr/>
        </p:nvSpPr>
        <p:spPr>
          <a:xfrm>
            <a:off x="9141945" y="2245987"/>
            <a:ext cx="320040" cy="1"/>
          </a:xfrm>
          <a:prstGeom prst="line">
            <a:avLst/>
          </a:prstGeom>
          <a:noFill/>
          <a:ln w="13970">
            <a:solidFill>
              <a:srgbClr val="FB4D0A"/>
            </a:solidFill>
            <a:prstDash val="solid"/>
            <a:tailEnd type="triangle"/>
          </a:ln>
        </p:spPr>
        <p:txBody>
          <a:bodyPr/>
          <a:lstStyle/>
          <a:p>
            <a:endParaRPr lang="en-IN" sz="3600"/>
          </a:p>
        </p:txBody>
      </p:sp>
      <p:sp>
        <p:nvSpPr>
          <p:cNvPr id="4" name="Text 35">
            <a:extLst>
              <a:ext uri="{FF2B5EF4-FFF2-40B4-BE49-F238E27FC236}">
                <a16:creationId xmlns:a16="http://schemas.microsoft.com/office/drawing/2014/main" id="{32C395D0-CFD7-E2DA-4184-B653A989824F}"/>
              </a:ext>
            </a:extLst>
          </p:cNvPr>
          <p:cNvSpPr/>
          <p:nvPr/>
        </p:nvSpPr>
        <p:spPr>
          <a:xfrm>
            <a:off x="292608" y="6473952"/>
            <a:ext cx="324612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00">
                <a:solidFill>
                  <a:srgbClr val="6A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InsightForge-AI | AI Operations Intelligence Agent</a:t>
            </a:r>
            <a:endParaRPr lang="en-US" sz="700"/>
          </a:p>
        </p:txBody>
      </p:sp>
      <p:sp>
        <p:nvSpPr>
          <p:cNvPr id="6" name="Text 36">
            <a:extLst>
              <a:ext uri="{FF2B5EF4-FFF2-40B4-BE49-F238E27FC236}">
                <a16:creationId xmlns:a16="http://schemas.microsoft.com/office/drawing/2014/main" id="{97B416F2-14EE-3C90-15B8-6092132C1A30}"/>
              </a:ext>
            </a:extLst>
          </p:cNvPr>
          <p:cNvSpPr/>
          <p:nvPr/>
        </p:nvSpPr>
        <p:spPr>
          <a:xfrm>
            <a:off x="11411712" y="6473952"/>
            <a:ext cx="41148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EXL</a:t>
            </a:r>
            <a:endParaRPr lang="en-US" sz="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3" name="Text 1"/>
          <p:cNvSpPr/>
          <p:nvPr/>
        </p:nvSpPr>
        <p:spPr>
          <a:xfrm>
            <a:off x="749808" y="118872"/>
            <a:ext cx="6035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00507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Revenue &amp; Business Growth</a:t>
            </a:r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219456" y="731520"/>
            <a:ext cx="11777472" cy="1"/>
          </a:xfrm>
          <a:prstGeom prst="line">
            <a:avLst/>
          </a:prstGeom>
          <a:noFill/>
          <a:ln w="1016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475720" cy="658368"/>
          </a:xfrm>
          <a:prstGeom prst="roundRect">
            <a:avLst>
              <a:gd name="adj" fmla="val 11111"/>
            </a:avLst>
          </a:prstGeom>
          <a:solidFill>
            <a:srgbClr val="FFF2EA"/>
          </a:solidFill>
          <a:ln w="8890">
            <a:solidFill>
              <a:srgbClr val="D8E1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4000"/>
          </a:p>
        </p:txBody>
      </p:sp>
      <p:sp>
        <p:nvSpPr>
          <p:cNvPr id="7" name="Text 5"/>
          <p:cNvSpPr/>
          <p:nvPr/>
        </p:nvSpPr>
        <p:spPr>
          <a:xfrm>
            <a:off x="566928" y="1143000"/>
            <a:ext cx="878738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b="1">
                <a:solidFill>
                  <a:srgbClr val="0026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with Complaint Rate. Expand into KPI packs without retraining a new model.</a:t>
            </a:r>
            <a:endParaRPr lang="en-US" sz="200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FFF2EA"/>
          </a:solidFill>
          <a:ln w="8890">
            <a:solidFill>
              <a:srgbClr val="D8E1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4000"/>
          </a:p>
        </p:txBody>
      </p:sp>
      <p:sp>
        <p:nvSpPr>
          <p:cNvPr id="9" name="Shape 7"/>
          <p:cNvSpPr/>
          <p:nvPr/>
        </p:nvSpPr>
        <p:spPr>
          <a:xfrm>
            <a:off x="795528" y="2057400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FB4D0A"/>
          </a:solidFill>
          <a:ln w="127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 sz="4000"/>
          </a:p>
        </p:txBody>
      </p:sp>
      <p:sp>
        <p:nvSpPr>
          <p:cNvPr id="10" name="Text 8"/>
          <p:cNvSpPr/>
          <p:nvPr/>
        </p:nvSpPr>
        <p:spPr>
          <a:xfrm>
            <a:off x="841248" y="2121408"/>
            <a:ext cx="100584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685800" y="2487168"/>
            <a:ext cx="14630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00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Complaint Management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667512" y="2798063"/>
            <a:ext cx="1664208" cy="32918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Complaint Rate, repeat contacts, issue resolution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2331720" y="2542032"/>
            <a:ext cx="292608" cy="1"/>
          </a:xfrm>
          <a:prstGeom prst="line">
            <a:avLst/>
          </a:prstGeom>
          <a:noFill/>
          <a:ln w="13970">
            <a:solidFill>
              <a:srgbClr val="FB4D0A"/>
            </a:solidFill>
            <a:prstDash val="solid"/>
            <a:tailEnd type="triangle"/>
          </a:ln>
        </p:spPr>
        <p:txBody>
          <a:bodyPr/>
          <a:lstStyle/>
          <a:p>
            <a:endParaRPr lang="en-IN" sz="4000"/>
          </a:p>
        </p:txBody>
      </p:sp>
      <p:sp>
        <p:nvSpPr>
          <p:cNvPr id="14" name="Shape 12"/>
          <p:cNvSpPr/>
          <p:nvPr/>
        </p:nvSpPr>
        <p:spPr>
          <a:xfrm>
            <a:off x="2715768" y="1874520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4000"/>
          </a:p>
        </p:txBody>
      </p:sp>
      <p:sp>
        <p:nvSpPr>
          <p:cNvPr id="15" name="Shape 13"/>
          <p:cNvSpPr/>
          <p:nvPr/>
        </p:nvSpPr>
        <p:spPr>
          <a:xfrm>
            <a:off x="3008376" y="2057400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00263E"/>
          </a:solidFill>
          <a:ln w="12700">
            <a:solidFill>
              <a:srgbClr val="00263E"/>
            </a:solidFill>
            <a:prstDash val="solid"/>
          </a:ln>
        </p:spPr>
        <p:txBody>
          <a:bodyPr/>
          <a:lstStyle/>
          <a:p>
            <a:endParaRPr lang="en-IN" sz="4000"/>
          </a:p>
        </p:txBody>
      </p:sp>
      <p:sp>
        <p:nvSpPr>
          <p:cNvPr id="16" name="Text 14"/>
          <p:cNvSpPr/>
          <p:nvPr/>
        </p:nvSpPr>
        <p:spPr>
          <a:xfrm>
            <a:off x="3054096" y="2121408"/>
            <a:ext cx="100584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2898648" y="2487168"/>
            <a:ext cx="14630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00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Experience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2880360" y="2798064"/>
            <a:ext cx="148132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Complaint Rate and contact drivers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4544568" y="2542032"/>
            <a:ext cx="292608" cy="1"/>
          </a:xfrm>
          <a:prstGeom prst="line">
            <a:avLst/>
          </a:prstGeom>
          <a:noFill/>
          <a:ln w="13970">
            <a:solidFill>
              <a:srgbClr val="FB4D0A"/>
            </a:solidFill>
            <a:prstDash val="solid"/>
            <a:tailEnd type="triangle"/>
          </a:ln>
        </p:spPr>
        <p:txBody>
          <a:bodyPr/>
          <a:lstStyle/>
          <a:p>
            <a:endParaRPr lang="en-IN" sz="4000"/>
          </a:p>
        </p:txBody>
      </p:sp>
      <p:sp>
        <p:nvSpPr>
          <p:cNvPr id="20" name="Shape 18"/>
          <p:cNvSpPr/>
          <p:nvPr/>
        </p:nvSpPr>
        <p:spPr>
          <a:xfrm>
            <a:off x="4928616" y="1874520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4000"/>
          </a:p>
        </p:txBody>
      </p:sp>
      <p:sp>
        <p:nvSpPr>
          <p:cNvPr id="21" name="Shape 19"/>
          <p:cNvSpPr/>
          <p:nvPr/>
        </p:nvSpPr>
        <p:spPr>
          <a:xfrm>
            <a:off x="5221224" y="2057400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00263E"/>
          </a:solidFill>
          <a:ln w="12700">
            <a:solidFill>
              <a:srgbClr val="00263E"/>
            </a:solidFill>
            <a:prstDash val="solid"/>
          </a:ln>
        </p:spPr>
        <p:txBody>
          <a:bodyPr/>
          <a:lstStyle/>
          <a:p>
            <a:endParaRPr lang="en-IN" sz="4000"/>
          </a:p>
        </p:txBody>
      </p:sp>
      <p:sp>
        <p:nvSpPr>
          <p:cNvPr id="22" name="Text 20"/>
          <p:cNvSpPr/>
          <p:nvPr/>
        </p:nvSpPr>
        <p:spPr>
          <a:xfrm>
            <a:off x="5266944" y="2121408"/>
            <a:ext cx="100584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3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5111496" y="2487168"/>
            <a:ext cx="14630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00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Billing Performance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5093208" y="2798064"/>
            <a:ext cx="148132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bills, estimates, cycle issues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6757416" y="2542032"/>
            <a:ext cx="292608" cy="1"/>
          </a:xfrm>
          <a:prstGeom prst="line">
            <a:avLst/>
          </a:prstGeom>
          <a:noFill/>
          <a:ln w="13970">
            <a:solidFill>
              <a:srgbClr val="FB4D0A"/>
            </a:solidFill>
            <a:prstDash val="solid"/>
            <a:tailEnd type="triangle"/>
          </a:ln>
        </p:spPr>
        <p:txBody>
          <a:bodyPr/>
          <a:lstStyle/>
          <a:p>
            <a:endParaRPr lang="en-IN" sz="4000"/>
          </a:p>
        </p:txBody>
      </p:sp>
      <p:sp>
        <p:nvSpPr>
          <p:cNvPr id="26" name="Shape 24"/>
          <p:cNvSpPr/>
          <p:nvPr/>
        </p:nvSpPr>
        <p:spPr>
          <a:xfrm>
            <a:off x="7141464" y="1874520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4000"/>
          </a:p>
        </p:txBody>
      </p:sp>
      <p:sp>
        <p:nvSpPr>
          <p:cNvPr id="27" name="Shape 25"/>
          <p:cNvSpPr/>
          <p:nvPr/>
        </p:nvSpPr>
        <p:spPr>
          <a:xfrm>
            <a:off x="7434072" y="2057400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00263E"/>
          </a:solidFill>
          <a:ln w="12700">
            <a:solidFill>
              <a:srgbClr val="00263E"/>
            </a:solidFill>
            <a:prstDash val="solid"/>
          </a:ln>
        </p:spPr>
        <p:txBody>
          <a:bodyPr/>
          <a:lstStyle/>
          <a:p>
            <a:endParaRPr lang="en-IN" sz="4000"/>
          </a:p>
        </p:txBody>
      </p:sp>
      <p:sp>
        <p:nvSpPr>
          <p:cNvPr id="28" name="Text 26"/>
          <p:cNvSpPr/>
          <p:nvPr/>
        </p:nvSpPr>
        <p:spPr>
          <a:xfrm>
            <a:off x="7479792" y="2121408"/>
            <a:ext cx="100584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4</a:t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7324344" y="2487167"/>
            <a:ext cx="1554480" cy="1645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00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Complaint Resolution Effectiveness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7306056" y="2798064"/>
            <a:ext cx="148132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Resolution targeting and action prioritization</a:t>
            </a:r>
            <a:endParaRPr lang="en-US" sz="1100"/>
          </a:p>
        </p:txBody>
      </p:sp>
      <p:sp>
        <p:nvSpPr>
          <p:cNvPr id="31" name="Shape 29"/>
          <p:cNvSpPr/>
          <p:nvPr/>
        </p:nvSpPr>
        <p:spPr>
          <a:xfrm>
            <a:off x="8970264" y="2542032"/>
            <a:ext cx="292608" cy="1"/>
          </a:xfrm>
          <a:prstGeom prst="line">
            <a:avLst/>
          </a:prstGeom>
          <a:noFill/>
          <a:ln w="13970">
            <a:solidFill>
              <a:srgbClr val="FB4D0A"/>
            </a:solidFill>
            <a:prstDash val="solid"/>
            <a:tailEnd type="triangle"/>
          </a:ln>
        </p:spPr>
        <p:txBody>
          <a:bodyPr/>
          <a:lstStyle/>
          <a:p>
            <a:endParaRPr lang="en-IN" sz="4000"/>
          </a:p>
        </p:txBody>
      </p:sp>
      <p:sp>
        <p:nvSpPr>
          <p:cNvPr id="32" name="Shape 30"/>
          <p:cNvSpPr/>
          <p:nvPr/>
        </p:nvSpPr>
        <p:spPr>
          <a:xfrm>
            <a:off x="9354312" y="1874520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4000"/>
          </a:p>
        </p:txBody>
      </p:sp>
      <p:sp>
        <p:nvSpPr>
          <p:cNvPr id="33" name="Shape 31"/>
          <p:cNvSpPr/>
          <p:nvPr/>
        </p:nvSpPr>
        <p:spPr>
          <a:xfrm>
            <a:off x="9646920" y="2057400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00263E"/>
          </a:solidFill>
          <a:ln w="12700">
            <a:solidFill>
              <a:srgbClr val="00263E"/>
            </a:solidFill>
            <a:prstDash val="solid"/>
          </a:ln>
        </p:spPr>
        <p:txBody>
          <a:bodyPr/>
          <a:lstStyle/>
          <a:p>
            <a:endParaRPr lang="en-IN" sz="4000"/>
          </a:p>
        </p:txBody>
      </p:sp>
      <p:sp>
        <p:nvSpPr>
          <p:cNvPr id="34" name="Text 32"/>
          <p:cNvSpPr/>
          <p:nvPr/>
        </p:nvSpPr>
        <p:spPr>
          <a:xfrm>
            <a:off x="9692640" y="2121408"/>
            <a:ext cx="100584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5</a:t>
            </a:r>
            <a:endParaRPr lang="en-US" sz="1100"/>
          </a:p>
        </p:txBody>
      </p:sp>
      <p:sp>
        <p:nvSpPr>
          <p:cNvPr id="35" name="Text 33"/>
          <p:cNvSpPr/>
          <p:nvPr/>
        </p:nvSpPr>
        <p:spPr>
          <a:xfrm>
            <a:off x="9537192" y="2487168"/>
            <a:ext cx="14630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00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Reliability</a:t>
            </a:r>
            <a:endParaRPr lang="en-US" sz="1200"/>
          </a:p>
        </p:txBody>
      </p:sp>
      <p:sp>
        <p:nvSpPr>
          <p:cNvPr id="36" name="Text 34"/>
          <p:cNvSpPr/>
          <p:nvPr/>
        </p:nvSpPr>
        <p:spPr>
          <a:xfrm>
            <a:off x="9518904" y="2798064"/>
            <a:ext cx="148132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events and customer impact</a:t>
            </a:r>
            <a:endParaRPr lang="en-US" sz="1100"/>
          </a:p>
        </p:txBody>
      </p:sp>
      <p:sp>
        <p:nvSpPr>
          <p:cNvPr id="37" name="Shape 35"/>
          <p:cNvSpPr/>
          <p:nvPr/>
        </p:nvSpPr>
        <p:spPr>
          <a:xfrm>
            <a:off x="502920" y="388620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4F7FA"/>
          </a:solidFill>
          <a:ln w="8890">
            <a:solidFill>
              <a:srgbClr val="D8E1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4000"/>
          </a:p>
        </p:txBody>
      </p:sp>
      <p:sp>
        <p:nvSpPr>
          <p:cNvPr id="38" name="Text 36"/>
          <p:cNvSpPr/>
          <p:nvPr/>
        </p:nvSpPr>
        <p:spPr>
          <a:xfrm>
            <a:off x="713232" y="3886200"/>
            <a:ext cx="3931920" cy="25603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CREATES BUSINESS GROWTH</a:t>
            </a:r>
            <a:endParaRPr lang="en-US" sz="1200"/>
          </a:p>
        </p:txBody>
      </p:sp>
      <p:sp>
        <p:nvSpPr>
          <p:cNvPr id="39" name="Text 37"/>
          <p:cNvSpPr/>
          <p:nvPr/>
        </p:nvSpPr>
        <p:spPr>
          <a:xfrm>
            <a:off x="713232" y="4389120"/>
            <a:ext cx="489204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11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100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agentic investigation pattern can support multiple operational KPIs.
</a:t>
            </a:r>
            <a:r>
              <a:rPr lang="en-US" sz="11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100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KPI packs require new tools/prompts, not new ML model training.
</a:t>
            </a:r>
            <a:r>
              <a:rPr lang="en-US" sz="11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100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increases as more teams use the same evidence-backed decision framework.</a:t>
            </a:r>
            <a:endParaRPr lang="en-US" sz="1100"/>
          </a:p>
        </p:txBody>
      </p:sp>
      <p:sp>
        <p:nvSpPr>
          <p:cNvPr id="40" name="Shape 38"/>
          <p:cNvSpPr/>
          <p:nvPr/>
        </p:nvSpPr>
        <p:spPr>
          <a:xfrm>
            <a:off x="6263640" y="388620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8890">
            <a:solidFill>
              <a:srgbClr val="D8E1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4000"/>
          </a:p>
        </p:txBody>
      </p:sp>
      <p:sp>
        <p:nvSpPr>
          <p:cNvPr id="41" name="Text 39"/>
          <p:cNvSpPr/>
          <p:nvPr/>
        </p:nvSpPr>
        <p:spPr>
          <a:xfrm>
            <a:off x="6473952" y="4096512"/>
            <a:ext cx="18288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NARRATIVE</a:t>
            </a:r>
            <a:endParaRPr lang="en-US" sz="1200"/>
          </a:p>
        </p:txBody>
      </p:sp>
      <p:sp>
        <p:nvSpPr>
          <p:cNvPr id="42" name="Text 40"/>
          <p:cNvSpPr/>
          <p:nvPr/>
        </p:nvSpPr>
        <p:spPr>
          <a:xfrm>
            <a:off x="6473952" y="4224528"/>
            <a:ext cx="4892040" cy="896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11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100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small with one strong use case.
</a:t>
            </a:r>
            <a:r>
              <a:rPr lang="en-US" sz="11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100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time saved and decision impact.
</a:t>
            </a:r>
            <a:r>
              <a:rPr lang="en-US" sz="11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100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across domain-specific KPI packs.
</a:t>
            </a:r>
            <a:r>
              <a:rPr lang="en-US" sz="11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100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 as an integrated operations intelligence layer inside existing dashboards/reports.</a:t>
            </a:r>
            <a:endParaRPr lang="en-US" sz="1100"/>
          </a:p>
        </p:txBody>
      </p:sp>
      <p:sp>
        <p:nvSpPr>
          <p:cNvPr id="43" name="Shape 41"/>
          <p:cNvSpPr/>
          <p:nvPr/>
        </p:nvSpPr>
        <p:spPr>
          <a:xfrm>
            <a:off x="713232" y="5431536"/>
            <a:ext cx="960120" cy="640080"/>
          </a:xfrm>
          <a:prstGeom prst="roundRect">
            <a:avLst>
              <a:gd name="adj" fmla="val 12698"/>
            </a:avLst>
          </a:prstGeom>
          <a:solidFill>
            <a:srgbClr val="EAF3FB"/>
          </a:solidFill>
          <a:ln w="889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 sz="4000"/>
          </a:p>
        </p:txBody>
      </p:sp>
      <p:sp>
        <p:nvSpPr>
          <p:cNvPr id="44" name="Text 42"/>
          <p:cNvSpPr/>
          <p:nvPr/>
        </p:nvSpPr>
        <p:spPr>
          <a:xfrm>
            <a:off x="758952" y="5550408"/>
            <a:ext cx="86868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packs</a:t>
            </a:r>
            <a:endParaRPr lang="en-US" sz="1050"/>
          </a:p>
        </p:txBody>
      </p:sp>
      <p:sp>
        <p:nvSpPr>
          <p:cNvPr id="45" name="Text 43"/>
          <p:cNvSpPr/>
          <p:nvPr/>
        </p:nvSpPr>
        <p:spPr>
          <a:xfrm>
            <a:off x="758952" y="5751576"/>
            <a:ext cx="868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00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1 -&gt; 5</a:t>
            </a:r>
            <a:endParaRPr lang="en-US" sz="1600"/>
          </a:p>
        </p:txBody>
      </p:sp>
      <p:sp>
        <p:nvSpPr>
          <p:cNvPr id="46" name="Shape 44"/>
          <p:cNvSpPr/>
          <p:nvPr/>
        </p:nvSpPr>
        <p:spPr>
          <a:xfrm>
            <a:off x="1874520" y="5431536"/>
            <a:ext cx="777240" cy="640080"/>
          </a:xfrm>
          <a:prstGeom prst="roundRect">
            <a:avLst>
              <a:gd name="adj" fmla="val 12698"/>
            </a:avLst>
          </a:prstGeom>
          <a:solidFill>
            <a:srgbClr val="EAF3FB"/>
          </a:solidFill>
          <a:ln w="889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 sz="4000"/>
          </a:p>
        </p:txBody>
      </p:sp>
      <p:sp>
        <p:nvSpPr>
          <p:cNvPr id="47" name="Text 45"/>
          <p:cNvSpPr/>
          <p:nvPr/>
        </p:nvSpPr>
        <p:spPr>
          <a:xfrm>
            <a:off x="1874520" y="5550408"/>
            <a:ext cx="77724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Connected tables</a:t>
            </a:r>
            <a:endParaRPr lang="en-US" sz="1050"/>
          </a:p>
        </p:txBody>
      </p:sp>
      <p:sp>
        <p:nvSpPr>
          <p:cNvPr id="48" name="Text 46"/>
          <p:cNvSpPr/>
          <p:nvPr/>
        </p:nvSpPr>
        <p:spPr>
          <a:xfrm>
            <a:off x="1920240" y="5751576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00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600"/>
          </a:p>
        </p:txBody>
      </p:sp>
      <p:sp>
        <p:nvSpPr>
          <p:cNvPr id="49" name="Shape 47"/>
          <p:cNvSpPr/>
          <p:nvPr/>
        </p:nvSpPr>
        <p:spPr>
          <a:xfrm>
            <a:off x="2852928" y="5431536"/>
            <a:ext cx="960120" cy="640080"/>
          </a:xfrm>
          <a:prstGeom prst="roundRect">
            <a:avLst>
              <a:gd name="adj" fmla="val 12698"/>
            </a:avLst>
          </a:prstGeom>
          <a:solidFill>
            <a:srgbClr val="EAF3FB"/>
          </a:solidFill>
          <a:ln w="889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 sz="4000"/>
          </a:p>
        </p:txBody>
      </p:sp>
      <p:sp>
        <p:nvSpPr>
          <p:cNvPr id="50" name="Text 48"/>
          <p:cNvSpPr/>
          <p:nvPr/>
        </p:nvSpPr>
        <p:spPr>
          <a:xfrm>
            <a:off x="2898648" y="5550408"/>
            <a:ext cx="86868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</a:t>
            </a:r>
            <a:endParaRPr lang="en-US" sz="1050"/>
          </a:p>
        </p:txBody>
      </p:sp>
      <p:sp>
        <p:nvSpPr>
          <p:cNvPr id="51" name="Text 49"/>
          <p:cNvSpPr/>
          <p:nvPr/>
        </p:nvSpPr>
        <p:spPr>
          <a:xfrm>
            <a:off x="2898648" y="5751576"/>
            <a:ext cx="868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00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 months</a:t>
            </a:r>
            <a:endParaRPr lang="en-US" sz="1600"/>
          </a:p>
        </p:txBody>
      </p:sp>
      <p:sp>
        <p:nvSpPr>
          <p:cNvPr id="52" name="Shape 50"/>
          <p:cNvSpPr/>
          <p:nvPr/>
        </p:nvSpPr>
        <p:spPr>
          <a:xfrm>
            <a:off x="4023360" y="5431536"/>
            <a:ext cx="960120" cy="640080"/>
          </a:xfrm>
          <a:prstGeom prst="roundRect">
            <a:avLst>
              <a:gd name="adj" fmla="val 12698"/>
            </a:avLst>
          </a:prstGeom>
          <a:solidFill>
            <a:srgbClr val="EAF3FB"/>
          </a:solidFill>
          <a:ln w="889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 sz="4000"/>
          </a:p>
        </p:txBody>
      </p:sp>
      <p:sp>
        <p:nvSpPr>
          <p:cNvPr id="53" name="Text 51"/>
          <p:cNvSpPr/>
          <p:nvPr/>
        </p:nvSpPr>
        <p:spPr>
          <a:xfrm>
            <a:off x="4069080" y="5550408"/>
            <a:ext cx="86868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Transactions</a:t>
            </a:r>
            <a:endParaRPr lang="en-US" sz="1050"/>
          </a:p>
        </p:txBody>
      </p:sp>
      <p:sp>
        <p:nvSpPr>
          <p:cNvPr id="54" name="Text 52"/>
          <p:cNvSpPr/>
          <p:nvPr/>
        </p:nvSpPr>
        <p:spPr>
          <a:xfrm>
            <a:off x="4069080" y="5751576"/>
            <a:ext cx="868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00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250K+</a:t>
            </a:r>
            <a:endParaRPr lang="en-US" sz="1200"/>
          </a:p>
        </p:txBody>
      </p:sp>
      <p:sp>
        <p:nvSpPr>
          <p:cNvPr id="4" name="Text 36">
            <a:extLst>
              <a:ext uri="{FF2B5EF4-FFF2-40B4-BE49-F238E27FC236}">
                <a16:creationId xmlns:a16="http://schemas.microsoft.com/office/drawing/2014/main" id="{4C90E722-186C-DC32-2C7D-D834DABFE293}"/>
              </a:ext>
            </a:extLst>
          </p:cNvPr>
          <p:cNvSpPr/>
          <p:nvPr/>
        </p:nvSpPr>
        <p:spPr>
          <a:xfrm>
            <a:off x="11411712" y="6473952"/>
            <a:ext cx="41148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EXL</a:t>
            </a:r>
            <a:endParaRPr lang="en-US" sz="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917F5-8FD3-4D64-DE59-58E3B7A9002C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47DC5A13-0882-21BD-AECA-00D2101283D6}"/>
              </a:ext>
            </a:extLst>
          </p:cNvPr>
          <p:cNvSpPr/>
          <p:nvPr/>
        </p:nvSpPr>
        <p:spPr>
          <a:xfrm>
            <a:off x="768096" y="118872"/>
            <a:ext cx="822985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sz="2400" b="1">
                <a:solidFill>
                  <a:srgbClr val="00507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Real-World Evidence: Cost of Delayed Complaint Resolution</a:t>
            </a:r>
            <a:endParaRPr lang="en-US" sz="24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963367F-6270-CACB-AA05-1C5A3A212B35}"/>
              </a:ext>
            </a:extLst>
          </p:cNvPr>
          <p:cNvSpPr/>
          <p:nvPr/>
        </p:nvSpPr>
        <p:spPr>
          <a:xfrm>
            <a:off x="219456" y="731520"/>
            <a:ext cx="11777472" cy="1"/>
          </a:xfrm>
          <a:prstGeom prst="line">
            <a:avLst/>
          </a:prstGeom>
          <a:noFill/>
          <a:ln w="1016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60C1043C-B994-9D14-0943-B27011917893}"/>
              </a:ext>
            </a:extLst>
          </p:cNvPr>
          <p:cNvSpPr/>
          <p:nvPr/>
        </p:nvSpPr>
        <p:spPr>
          <a:xfrm>
            <a:off x="298704" y="5638804"/>
            <a:ext cx="11475720" cy="825006"/>
          </a:xfrm>
          <a:prstGeom prst="roundRect">
            <a:avLst>
              <a:gd name="adj" fmla="val 5926"/>
            </a:avLst>
          </a:prstGeom>
          <a:solidFill>
            <a:srgbClr val="00263E"/>
          </a:solidFill>
          <a:ln w="8890">
            <a:solidFill>
              <a:srgbClr val="D8E1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8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4155499F-54DA-4EC0-4C43-485747915AFA}"/>
              </a:ext>
            </a:extLst>
          </p:cNvPr>
          <p:cNvSpPr/>
          <p:nvPr/>
        </p:nvSpPr>
        <p:spPr>
          <a:xfrm>
            <a:off x="402209" y="5689600"/>
            <a:ext cx="11268710" cy="77420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lang="en-US" sz="16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matters?</a:t>
            </a:r>
            <a:endParaRPr lang="en-US" sz="280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100" b="1">
                <a:solidFill>
                  <a:srgbClr val="FFFFFF"/>
                </a:solidFill>
                <a:latin typeface="Aptos" pitchFamily="34" charset="0"/>
              </a:rPr>
              <a:t>Delayed complaint resolution creates customer dissatisfaction, regulatory exposure, reputational damage, and financial loss. Integrated Operation Intelligence AI helps identify root causes earlier and provides role-based action items before customer and business impacts escalate.</a:t>
            </a:r>
          </a:p>
          <a:p>
            <a:endParaRPr lang="en-US" sz="1100"/>
          </a:p>
        </p:txBody>
      </p:sp>
      <p:graphicFrame>
        <p:nvGraphicFramePr>
          <p:cNvPr id="50" name="TextBox 2">
            <a:extLst>
              <a:ext uri="{FF2B5EF4-FFF2-40B4-BE49-F238E27FC236}">
                <a16:creationId xmlns:a16="http://schemas.microsoft.com/office/drawing/2014/main" id="{B0BA0364-5C2A-8CCC-6314-2FC102D67F65}"/>
              </a:ext>
            </a:extLst>
          </p:cNvPr>
          <p:cNvGraphicFramePr/>
          <p:nvPr/>
        </p:nvGraphicFramePr>
        <p:xfrm>
          <a:off x="323850" y="740664"/>
          <a:ext cx="5181600" cy="45282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4" name="TextBox 2">
            <a:extLst>
              <a:ext uri="{FF2B5EF4-FFF2-40B4-BE49-F238E27FC236}">
                <a16:creationId xmlns:a16="http://schemas.microsoft.com/office/drawing/2014/main" id="{855BBB8F-78C2-9549-ECEE-B6871B7AC1B9}"/>
              </a:ext>
            </a:extLst>
          </p:cNvPr>
          <p:cNvGraphicFramePr/>
          <p:nvPr/>
        </p:nvGraphicFramePr>
        <p:xfrm>
          <a:off x="5969000" y="731520"/>
          <a:ext cx="5181600" cy="45373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4" name="Text 36">
            <a:extLst>
              <a:ext uri="{FF2B5EF4-FFF2-40B4-BE49-F238E27FC236}">
                <a16:creationId xmlns:a16="http://schemas.microsoft.com/office/drawing/2014/main" id="{80BFDFCC-1BEC-820E-4EF9-BDBAC58F5D05}"/>
              </a:ext>
            </a:extLst>
          </p:cNvPr>
          <p:cNvSpPr/>
          <p:nvPr/>
        </p:nvSpPr>
        <p:spPr>
          <a:xfrm>
            <a:off x="11411712" y="6473952"/>
            <a:ext cx="41148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>
                <a:solidFill>
                  <a:srgbClr val="FB4D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EXL</a:t>
            </a:r>
            <a:endParaRPr lang="en-US" sz="700"/>
          </a:p>
        </p:txBody>
      </p:sp>
    </p:spTree>
    <p:extLst>
      <p:ext uri="{BB962C8B-B14F-4D97-AF65-F5344CB8AC3E}">
        <p14:creationId xmlns:p14="http://schemas.microsoft.com/office/powerpoint/2010/main" val="41113060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8C7E2-26E4-E6D9-D125-02B1DBF68F8E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bad2969133.png">
            <a:extLst>
              <a:ext uri="{FF2B5EF4-FFF2-40B4-BE49-F238E27FC236}">
                <a16:creationId xmlns:a16="http://schemas.microsoft.com/office/drawing/2014/main" id="{AEC2EE71-B32E-3F32-002E-1195868EB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6FC35965-307B-920D-DE89-82A49C9D1A70}"/>
              </a:ext>
            </a:extLst>
          </p:cNvPr>
          <p:cNvSpPr/>
          <p:nvPr/>
        </p:nvSpPr>
        <p:spPr>
          <a:xfrm>
            <a:off x="0" y="128016"/>
            <a:ext cx="12191999" cy="6729984"/>
          </a:xfrm>
          <a:prstGeom prst="rect">
            <a:avLst/>
          </a:prstGeom>
          <a:solidFill>
            <a:srgbClr val="001A2B">
              <a:alpha val="87000"/>
            </a:srgbClr>
          </a:solidFill>
          <a:ln w="12700">
            <a:solidFill>
              <a:srgbClr val="001A2B">
                <a:alpha val="0"/>
              </a:srgbClr>
            </a:solidFill>
            <a:prstDash val="solid"/>
          </a:ln>
        </p:spPr>
        <p:txBody>
          <a:bodyPr lIns="91440" tIns="45720" rIns="91440" bIns="45720" anchor="t"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AD3C0F86-5257-27E4-A313-D1D43568D8EE}"/>
              </a:ext>
            </a:extLst>
          </p:cNvPr>
          <p:cNvSpPr/>
          <p:nvPr/>
        </p:nvSpPr>
        <p:spPr>
          <a:xfrm>
            <a:off x="0" y="0"/>
            <a:ext cx="12191695" cy="36000"/>
          </a:xfrm>
          <a:prstGeom prst="rect">
            <a:avLst/>
          </a:prstGeom>
          <a:solidFill>
            <a:srgbClr val="FB4D0A"/>
          </a:solidFill>
          <a:ln w="127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8AC50BE-503A-8792-5855-044ABB28E61C}"/>
              </a:ext>
            </a:extLst>
          </p:cNvPr>
          <p:cNvSpPr/>
          <p:nvPr/>
        </p:nvSpPr>
        <p:spPr>
          <a:xfrm>
            <a:off x="502920" y="2011680"/>
            <a:ext cx="822960" cy="1"/>
          </a:xfrm>
          <a:prstGeom prst="line">
            <a:avLst/>
          </a:prstGeom>
          <a:noFill/>
          <a:ln w="2794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596425-00C7-FFB4-1935-3017169BC9EA}"/>
              </a:ext>
            </a:extLst>
          </p:cNvPr>
          <p:cNvSpPr txBox="1"/>
          <p:nvPr/>
        </p:nvSpPr>
        <p:spPr>
          <a:xfrm>
            <a:off x="4369969" y="2660588"/>
            <a:ext cx="4612256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chemeClr val="accent2"/>
                </a:solidFill>
              </a:rPr>
              <a:t>Thank you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2F2E75E-905C-B03D-7794-E1024FE14892}"/>
              </a:ext>
            </a:extLst>
          </p:cNvPr>
          <p:cNvSpPr txBox="1"/>
          <p:nvPr/>
        </p:nvSpPr>
        <p:spPr>
          <a:xfrm>
            <a:off x="9981294" y="612657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solidFill>
                  <a:schemeClr val="accent2"/>
                </a:solidFill>
              </a:rPr>
              <a:t>InsightForge</a:t>
            </a:r>
            <a:r>
              <a:rPr lang="en-US">
                <a:solidFill>
                  <a:schemeClr val="accent2"/>
                </a:solidFill>
              </a:rPr>
              <a:t> Team</a:t>
            </a:r>
          </a:p>
        </p:txBody>
      </p:sp>
    </p:spTree>
    <p:extLst>
      <p:ext uri="{BB962C8B-B14F-4D97-AF65-F5344CB8AC3E}">
        <p14:creationId xmlns:p14="http://schemas.microsoft.com/office/powerpoint/2010/main" val="2382378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15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EXL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Operations Intelligence Agent 2 - Updated</dc:title>
  <dc:subject>Dragon Den deck updated from reviewer feedback</dc:subject>
  <dc:creator>Rahul Gupta</dc:creator>
  <cp:revision>27</cp:revision>
  <dcterms:created xsi:type="dcterms:W3CDTF">2026-08-13T06:54:30Z</dcterms:created>
  <dcterms:modified xsi:type="dcterms:W3CDTF">2026-08-21T17:01:26Z</dcterms:modified>
</cp:coreProperties>
</file>